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1" r:id="rId2"/>
    <p:sldId id="257" r:id="rId3"/>
    <p:sldId id="310" r:id="rId4"/>
    <p:sldId id="258" r:id="rId5"/>
    <p:sldId id="259" r:id="rId6"/>
    <p:sldId id="260" r:id="rId7"/>
    <p:sldId id="294" r:id="rId8"/>
    <p:sldId id="295" r:id="rId9"/>
    <p:sldId id="296" r:id="rId10"/>
    <p:sldId id="297" r:id="rId11"/>
    <p:sldId id="309" r:id="rId12"/>
    <p:sldId id="261" r:id="rId13"/>
    <p:sldId id="307" r:id="rId14"/>
    <p:sldId id="262" r:id="rId15"/>
    <p:sldId id="298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Junbin" initials="WJ" lastIdx="1" clrIdx="0">
    <p:extLst>
      <p:ext uri="{19B8F6BF-5375-455C-9EA6-DF929625EA0E}">
        <p15:presenceInfo xmlns:p15="http://schemas.microsoft.com/office/powerpoint/2012/main" userId="ef82b9aae5fd5f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713E"/>
    <a:srgbClr val="E4CEA6"/>
    <a:srgbClr val="25364B"/>
    <a:srgbClr val="4D3767"/>
    <a:srgbClr val="1E2F13"/>
    <a:srgbClr val="2D4355"/>
    <a:srgbClr val="4F4B35"/>
    <a:srgbClr val="44453F"/>
    <a:srgbClr val="675319"/>
    <a:srgbClr val="30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34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840" y="10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3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C10B-3565-506C-4E32-3D917DAA3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2763F-580C-6C7E-5C7D-11BE6C26A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75C44-C882-3340-6BD1-C9EB23A1B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539D7-D3B4-DD31-DCB3-DE2C0B6DC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52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B6D0-5FBF-A722-E975-4501F8E1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DEF25-201E-1D98-4A18-ED3D3B16C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468AA-2DD4-C3C2-ABD3-D2EEDE36D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82128-0671-FD82-8E57-7BE4064C5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51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B1256-B73E-0EDC-ABEB-8CB5060E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5D523-5C1D-F023-6EFA-0D39BED88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800BF-69FA-4FE1-7962-B2A74A962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14BE2-F913-6AB7-4AF0-FD5C3D730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61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7BB6C-2D6D-EE54-08A8-EC8BFCCFC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1E237-9C44-8135-3E7B-8F1A06B3C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1B41D-D8B5-247E-D76E-2D231A358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98EA6-300E-0E5B-8D55-29813F3F3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22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05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25364B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4BCDE-0E88-4F2E-4645-9701169E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E02EE9C-038C-B771-67CA-F8051F85BDB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02147" y="268147"/>
            <a:ext cx="6589853" cy="6589853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1B58831-E11C-158B-F757-41460AF052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72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D8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A230E9-5C49-784C-402A-8A57313EBCFC}"/>
              </a:ext>
            </a:extLst>
          </p:cNvPr>
          <p:cNvSpPr/>
          <p:nvPr/>
        </p:nvSpPr>
        <p:spPr>
          <a:xfrm>
            <a:off x="381000" y="2566445"/>
            <a:ext cx="102489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MiSans" pitchFamily="34" charset="-120"/>
              </a:rPr>
              <a:t>下一代电池全生命周期管理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MiSans" pitchFamily="34" charset="-120"/>
              </a:rPr>
              <a:t>智能体</a:t>
            </a:r>
            <a:endParaRPr lang="en-US" altLang="zh-CN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3959621-7BD2-6199-CA17-34BE59F6CD8D}"/>
              </a:ext>
            </a:extLst>
          </p:cNvPr>
          <p:cNvSpPr/>
          <p:nvPr/>
        </p:nvSpPr>
        <p:spPr>
          <a:xfrm>
            <a:off x="381000" y="3453539"/>
            <a:ext cx="2053590" cy="45719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D3F186E-B75A-EF22-0B45-95414985A60B}"/>
              </a:ext>
            </a:extLst>
          </p:cNvPr>
          <p:cNvSpPr/>
          <p:nvPr/>
        </p:nvSpPr>
        <p:spPr>
          <a:xfrm>
            <a:off x="384810" y="4043819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250" b="1" dirty="0">
                <a:solidFill>
                  <a:srgbClr val="6B7D8A"/>
                </a:solidFill>
                <a:latin typeface="+mn-ea"/>
                <a:cs typeface="MiSans" pitchFamily="34" charset="-120"/>
              </a:rPr>
              <a:t>赋予电池以智慧生命</a:t>
            </a:r>
            <a:endParaRPr lang="en-US" sz="1600" dirty="0">
              <a:latin typeface="+mn-ea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42B7190-6C63-C73A-B5DE-E857B8D28EBE}"/>
              </a:ext>
            </a:extLst>
          </p:cNvPr>
          <p:cNvSpPr/>
          <p:nvPr/>
        </p:nvSpPr>
        <p:spPr>
          <a:xfrm>
            <a:off x="400050" y="3634277"/>
            <a:ext cx="74104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AED">
                    <a:alpha val="80000"/>
                  </a:srgbClr>
                </a:solidFill>
                <a:latin typeface="+mn-ea"/>
                <a:cs typeface="MiSans" pitchFamily="34" charset="-120"/>
              </a:rPr>
              <a:t>从被动监控到数字免疫</a:t>
            </a:r>
            <a:endParaRPr lang="en-US" sz="1600" dirty="0">
              <a:latin typeface="+mn-ea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0B7CB0F-ED3A-1E14-B773-D63728071D72}"/>
              </a:ext>
            </a:extLst>
          </p:cNvPr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C938EE9-5CB7-2A33-157E-0193693FAD2B}"/>
              </a:ext>
            </a:extLst>
          </p:cNvPr>
          <p:cNvSpPr/>
          <p:nvPr/>
        </p:nvSpPr>
        <p:spPr>
          <a:xfrm>
            <a:off x="623888" y="628650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D8A"/>
                </a:solidFill>
                <a:latin typeface="+mn-ea"/>
                <a:cs typeface="MiSans" pitchFamily="34" charset="-120"/>
              </a:rPr>
              <a:t>AI-Driven</a:t>
            </a:r>
            <a:endParaRPr lang="en-US" sz="1600" dirty="0">
              <a:latin typeface="+mn-ea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E18F6F5-7FE1-BF3C-D081-7D4231D21A9D}"/>
              </a:ext>
            </a:extLst>
          </p:cNvPr>
          <p:cNvSpPr/>
          <p:nvPr/>
        </p:nvSpPr>
        <p:spPr>
          <a:xfrm>
            <a:off x="1449943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682E929-776A-DF2F-139A-D6B99284E23A}"/>
              </a:ext>
            </a:extLst>
          </p:cNvPr>
          <p:cNvSpPr/>
          <p:nvPr/>
        </p:nvSpPr>
        <p:spPr>
          <a:xfrm>
            <a:off x="1673781" y="62865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D8A"/>
                </a:solidFill>
                <a:latin typeface="+mn-ea"/>
                <a:cs typeface="MiSans" pitchFamily="34" charset="-120"/>
              </a:rPr>
              <a:t>Digital Immunity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58011B2-BC46-2FDC-972D-861C805F0FFA}"/>
              </a:ext>
            </a:extLst>
          </p:cNvPr>
          <p:cNvSpPr/>
          <p:nvPr/>
        </p:nvSpPr>
        <p:spPr>
          <a:xfrm>
            <a:off x="2903934" y="63150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0" y="66675"/>
                </a:moveTo>
                <a:cubicBezTo>
                  <a:pt x="0" y="43651"/>
                  <a:pt x="18648" y="25003"/>
                  <a:pt x="41672" y="25003"/>
                </a:cubicBezTo>
                <a:cubicBezTo>
                  <a:pt x="54799" y="25003"/>
                  <a:pt x="67144" y="31176"/>
                  <a:pt x="75009" y="41672"/>
                </a:cubicBezTo>
                <a:lnTo>
                  <a:pt x="83344" y="52793"/>
                </a:lnTo>
                <a:lnTo>
                  <a:pt x="91678" y="41672"/>
                </a:lnTo>
                <a:cubicBezTo>
                  <a:pt x="99544" y="31176"/>
                  <a:pt x="111889" y="25003"/>
                  <a:pt x="125016" y="25003"/>
                </a:cubicBezTo>
                <a:cubicBezTo>
                  <a:pt x="148039" y="25003"/>
                  <a:pt x="166688" y="43651"/>
                  <a:pt x="166688" y="66675"/>
                </a:cubicBezTo>
                <a:cubicBezTo>
                  <a:pt x="166688" y="89699"/>
                  <a:pt x="148039" y="108347"/>
                  <a:pt x="125016" y="108347"/>
                </a:cubicBezTo>
                <a:cubicBezTo>
                  <a:pt x="111889" y="108347"/>
                  <a:pt x="99544" y="102174"/>
                  <a:pt x="91678" y="91678"/>
                </a:cubicBezTo>
                <a:lnTo>
                  <a:pt x="83344" y="80557"/>
                </a:lnTo>
                <a:lnTo>
                  <a:pt x="75009" y="91678"/>
                </a:lnTo>
                <a:cubicBezTo>
                  <a:pt x="67144" y="102174"/>
                  <a:pt x="54799" y="108347"/>
                  <a:pt x="41672" y="108347"/>
                </a:cubicBezTo>
                <a:cubicBezTo>
                  <a:pt x="18648" y="108347"/>
                  <a:pt x="0" y="89699"/>
                  <a:pt x="0" y="66675"/>
                </a:cubicBezTo>
                <a:close/>
                <a:moveTo>
                  <a:pt x="72926" y="66675"/>
                </a:moveTo>
                <a:lnTo>
                  <a:pt x="61674" y="51673"/>
                </a:lnTo>
                <a:cubicBezTo>
                  <a:pt x="56960" y="45370"/>
                  <a:pt x="49537" y="41672"/>
                  <a:pt x="41672" y="41672"/>
                </a:cubicBezTo>
                <a:cubicBezTo>
                  <a:pt x="27868" y="41672"/>
                  <a:pt x="16669" y="52871"/>
                  <a:pt x="16669" y="66675"/>
                </a:cubicBezTo>
                <a:cubicBezTo>
                  <a:pt x="16669" y="80479"/>
                  <a:pt x="27868" y="91678"/>
                  <a:pt x="41672" y="91678"/>
                </a:cubicBezTo>
                <a:cubicBezTo>
                  <a:pt x="49537" y="91678"/>
                  <a:pt x="56960" y="87980"/>
                  <a:pt x="61674" y="81677"/>
                </a:cubicBezTo>
                <a:lnTo>
                  <a:pt x="72926" y="66675"/>
                </a:lnTo>
                <a:close/>
                <a:moveTo>
                  <a:pt x="93762" y="66675"/>
                </a:moveTo>
                <a:lnTo>
                  <a:pt x="105013" y="81677"/>
                </a:lnTo>
                <a:cubicBezTo>
                  <a:pt x="109727" y="87980"/>
                  <a:pt x="117150" y="91678"/>
                  <a:pt x="125016" y="91678"/>
                </a:cubicBezTo>
                <a:cubicBezTo>
                  <a:pt x="138819" y="91678"/>
                  <a:pt x="150019" y="80479"/>
                  <a:pt x="150019" y="66675"/>
                </a:cubicBezTo>
                <a:cubicBezTo>
                  <a:pt x="150019" y="52871"/>
                  <a:pt x="138819" y="41672"/>
                  <a:pt x="125016" y="41672"/>
                </a:cubicBezTo>
                <a:cubicBezTo>
                  <a:pt x="117150" y="41672"/>
                  <a:pt x="109727" y="45370"/>
                  <a:pt x="105013" y="51673"/>
                </a:cubicBezTo>
                <a:lnTo>
                  <a:pt x="93762" y="66675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947EF8A-215C-3B0F-5160-5D257481EA68}"/>
              </a:ext>
            </a:extLst>
          </p:cNvPr>
          <p:cNvSpPr/>
          <p:nvPr/>
        </p:nvSpPr>
        <p:spPr>
          <a:xfrm>
            <a:off x="3144441" y="62865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D8A"/>
                </a:solidFill>
                <a:latin typeface="+mn-ea"/>
                <a:cs typeface="MiSans" pitchFamily="34" charset="-120"/>
              </a:rPr>
              <a:t>Lifecycle Management</a:t>
            </a:r>
            <a:endParaRPr lang="en-US" sz="1600" dirty="0">
              <a:latin typeface="+mn-ea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B585E0A-EE83-B861-EB1B-F2E256B91A98}"/>
              </a:ext>
            </a:extLst>
          </p:cNvPr>
          <p:cNvSpPr/>
          <p:nvPr/>
        </p:nvSpPr>
        <p:spPr>
          <a:xfrm>
            <a:off x="10436276" y="6374320"/>
            <a:ext cx="1120261" cy="27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dist">
              <a:lnSpc>
                <a:spcPct val="120000"/>
              </a:lnSpc>
            </a:pPr>
            <a:r>
              <a:rPr lang="en-US" altLang="zh-CN" sz="1400" dirty="0">
                <a:solidFill>
                  <a:srgbClr val="6C7781"/>
                </a:solidFill>
                <a:latin typeface="+mn-ea"/>
                <a:cs typeface="Liter" pitchFamily="34" charset="-120"/>
              </a:rPr>
              <a:t>V</a:t>
            </a:r>
            <a:r>
              <a:rPr lang="en-US" sz="1400" dirty="0">
                <a:solidFill>
                  <a:srgbClr val="6C7781"/>
                </a:solidFill>
                <a:latin typeface="+mn-ea"/>
                <a:cs typeface="Liter" pitchFamily="34" charset="-120"/>
              </a:rPr>
              <a:t>2026.02</a:t>
            </a:r>
            <a:endParaRPr lang="en-US" sz="2400" dirty="0">
              <a:solidFill>
                <a:srgbClr val="6C7781"/>
              </a:solidFill>
              <a:latin typeface="+mn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6A65BC2-0E31-620A-35F7-29DCBF8FB0DE}"/>
              </a:ext>
            </a:extLst>
          </p:cNvPr>
          <p:cNvSpPr/>
          <p:nvPr/>
        </p:nvSpPr>
        <p:spPr>
          <a:xfrm>
            <a:off x="381000" y="1876283"/>
            <a:ext cx="2031837" cy="528876"/>
          </a:xfrm>
          <a:prstGeom prst="roundRect">
            <a:avLst>
              <a:gd name="adj" fmla="val 7423"/>
            </a:avLst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solidFill>
              <a:srgbClr val="6753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US" altLang="zh-CN" sz="2800" b="1" kern="0" spc="105" dirty="0">
                <a:gradFill flip="none" rotWithShape="1">
                  <a:gsLst>
                    <a:gs pos="0">
                      <a:srgbClr val="D2BC94"/>
                    </a:gs>
                    <a:gs pos="13000">
                      <a:srgbClr val="A58F65"/>
                    </a:gs>
                    <a:gs pos="35000">
                      <a:srgbClr val="C9A86A">
                        <a:shade val="30000"/>
                        <a:satMod val="115000"/>
                      </a:srgbClr>
                    </a:gs>
                    <a:gs pos="100000">
                      <a:srgbClr val="E4CEA6"/>
                    </a:gs>
                  </a:gsLst>
                  <a:lin ang="156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  <a:ea typeface="Cambria Math" panose="02040503050406030204" pitchFamily="18" charset="0"/>
              </a:rPr>
              <a:t>ASGARD</a:t>
            </a:r>
            <a:endParaRPr lang="zh-CN" altLang="en-US" sz="2800" b="1" kern="0" spc="105" dirty="0">
              <a:gradFill flip="none" rotWithShape="1">
                <a:gsLst>
                  <a:gs pos="0">
                    <a:srgbClr val="D2BC94"/>
                  </a:gs>
                  <a:gs pos="13000">
                    <a:srgbClr val="A58F65"/>
                  </a:gs>
                  <a:gs pos="35000">
                    <a:srgbClr val="C9A86A">
                      <a:shade val="30000"/>
                      <a:satMod val="115000"/>
                    </a:srgbClr>
                  </a:gs>
                  <a:gs pos="100000">
                    <a:srgbClr val="E4CEA6"/>
                  </a:gs>
                </a:gsLst>
                <a:lin ang="156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7F05B6-5822-B05E-C3F7-273916CC6B45}"/>
              </a:ext>
            </a:extLst>
          </p:cNvPr>
          <p:cNvSpPr txBox="1"/>
          <p:nvPr/>
        </p:nvSpPr>
        <p:spPr>
          <a:xfrm>
            <a:off x="2480222" y="1808511"/>
            <a:ext cx="4438738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kern="0" spc="105" dirty="0">
                <a:gradFill flip="none" rotWithShape="1">
                  <a:gsLst>
                    <a:gs pos="0">
                      <a:srgbClr val="D2BC94"/>
                    </a:gs>
                    <a:gs pos="18000">
                      <a:srgbClr val="8A713E"/>
                    </a:gs>
                    <a:gs pos="100000">
                      <a:srgbClr val="E4CEA6"/>
                    </a:gs>
                  </a:gsLst>
                  <a:lin ang="2700000" scaled="1"/>
                  <a:tileRect/>
                </a:gradFill>
                <a:latin typeface="Cambria Math" panose="02040503050406030204" pitchFamily="18" charset="0"/>
                <a:ea typeface="Cambria Math" panose="02040503050406030204" pitchFamily="18" charset="0"/>
                <a:cs typeface="Liter" pitchFamily="34" charset="-120"/>
              </a:rPr>
              <a:t>An Agentic Safety Guardian for Advanced Battery Reliability and Diagnostics</a:t>
            </a:r>
            <a:endParaRPr lang="en-US" altLang="zh-CN" sz="1600" kern="0" spc="105" dirty="0">
              <a:gradFill flip="none" rotWithShape="1">
                <a:gsLst>
                  <a:gs pos="0">
                    <a:srgbClr val="D2BC94"/>
                  </a:gs>
                  <a:gs pos="18000">
                    <a:srgbClr val="8A713E"/>
                  </a:gs>
                  <a:gs pos="100000">
                    <a:srgbClr val="E4CEA6"/>
                  </a:gs>
                </a:gsLst>
                <a:lin ang="2700000" scaled="1"/>
                <a:tileRect/>
              </a:gra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31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38100" y="0"/>
                </a:moveTo>
                <a:lnTo>
                  <a:pt x="838200" y="0"/>
                </a:lnTo>
                <a:cubicBezTo>
                  <a:pt x="859228" y="0"/>
                  <a:pt x="876300" y="17072"/>
                  <a:pt x="876300" y="38100"/>
                </a:cubicBezTo>
                <a:lnTo>
                  <a:pt x="876300" y="266700"/>
                </a:lnTo>
                <a:cubicBezTo>
                  <a:pt x="876300" y="287728"/>
                  <a:pt x="859228" y="304800"/>
                  <a:pt x="8382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95300" y="472440"/>
            <a:ext cx="70830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097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4810" y="1756410"/>
            <a:ext cx="5589270" cy="1417320"/>
          </a:xfrm>
          <a:custGeom>
            <a:avLst/>
            <a:gdLst/>
            <a:ahLst/>
            <a:cxnLst/>
            <a:rect l="l" t="t" r="r" b="b"/>
            <a:pathLst>
              <a:path w="5589270" h="1417320">
                <a:moveTo>
                  <a:pt x="152404" y="0"/>
                </a:moveTo>
                <a:lnTo>
                  <a:pt x="5436866" y="0"/>
                </a:lnTo>
                <a:cubicBezTo>
                  <a:pt x="5521036" y="0"/>
                  <a:pt x="5589270" y="68234"/>
                  <a:pt x="5589270" y="152404"/>
                </a:cubicBezTo>
                <a:lnTo>
                  <a:pt x="5589270" y="1264916"/>
                </a:lnTo>
                <a:cubicBezTo>
                  <a:pt x="5589270" y="1349086"/>
                  <a:pt x="5521036" y="1417320"/>
                  <a:pt x="54368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17220" y="19888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0070" y="198882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3020" y="198882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技术愿景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3020" y="2331720"/>
            <a:ext cx="450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 err="1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从「被动监控」到「数字免疫</a:t>
            </a:r>
            <a:r>
              <a:rPr lang="en-US" altLang="zh-CN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」</a:t>
            </a:r>
            <a:r>
              <a:rPr lang="en-US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4110" y="1756410"/>
            <a:ext cx="5589270" cy="1417320"/>
          </a:xfrm>
          <a:custGeom>
            <a:avLst/>
            <a:gdLst/>
            <a:ahLst/>
            <a:cxnLst/>
            <a:rect l="l" t="t" r="r" b="b"/>
            <a:pathLst>
              <a:path w="5589270" h="1417320">
                <a:moveTo>
                  <a:pt x="152404" y="0"/>
                </a:moveTo>
                <a:lnTo>
                  <a:pt x="5436866" y="0"/>
                </a:lnTo>
                <a:cubicBezTo>
                  <a:pt x="5521036" y="0"/>
                  <a:pt x="5589270" y="68234"/>
                  <a:pt x="5589270" y="152404"/>
                </a:cubicBezTo>
                <a:lnTo>
                  <a:pt x="5589270" y="1264916"/>
                </a:lnTo>
                <a:cubicBezTo>
                  <a:pt x="5589270" y="1349086"/>
                  <a:pt x="5521036" y="1417320"/>
                  <a:pt x="54368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46520" y="19888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89370" y="198882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198882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核心算法体系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331720"/>
            <a:ext cx="450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状态感知与故障诊断：精准的「数字脉搏」与见微知著的「名医」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3407331"/>
            <a:ext cx="5589270" cy="1417320"/>
          </a:xfrm>
          <a:custGeom>
            <a:avLst/>
            <a:gdLst/>
            <a:ahLst/>
            <a:cxnLst/>
            <a:rect l="l" t="t" r="r" b="b"/>
            <a:pathLst>
              <a:path w="5589270" h="1417320">
                <a:moveTo>
                  <a:pt x="152404" y="0"/>
                </a:moveTo>
                <a:lnTo>
                  <a:pt x="5436866" y="0"/>
                </a:lnTo>
                <a:cubicBezTo>
                  <a:pt x="5521036" y="0"/>
                  <a:pt x="5589270" y="68234"/>
                  <a:pt x="5589270" y="152404"/>
                </a:cubicBezTo>
                <a:lnTo>
                  <a:pt x="5589270" y="1264916"/>
                </a:lnTo>
                <a:cubicBezTo>
                  <a:pt x="5589270" y="1349086"/>
                  <a:pt x="5521036" y="1417320"/>
                  <a:pt x="54368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17220" y="3639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60070" y="363974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3020" y="363974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寿命预测与智能控制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03020" y="3982641"/>
            <a:ext cx="450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05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电池</a:t>
            </a:r>
            <a:r>
              <a:rPr lang="en-US" sz="105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</a:t>
            </a:r>
            <a:r>
              <a:rPr lang="en-US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养生术」——半物理ODE模型、MCC策略与主动均衡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4110" y="3407331"/>
            <a:ext cx="5589270" cy="1417320"/>
          </a:xfrm>
          <a:custGeom>
            <a:avLst/>
            <a:gdLst/>
            <a:ahLst/>
            <a:cxnLst/>
            <a:rect l="l" t="t" r="r" b="b"/>
            <a:pathLst>
              <a:path w="5589270" h="1417320">
                <a:moveTo>
                  <a:pt x="152404" y="0"/>
                </a:moveTo>
                <a:lnTo>
                  <a:pt x="5436866" y="0"/>
                </a:lnTo>
                <a:cubicBezTo>
                  <a:pt x="5521036" y="0"/>
                  <a:pt x="5589270" y="68234"/>
                  <a:pt x="5589270" y="152404"/>
                </a:cubicBezTo>
                <a:lnTo>
                  <a:pt x="5589270" y="1264916"/>
                </a:lnTo>
                <a:cubicBezTo>
                  <a:pt x="5589270" y="1349086"/>
                  <a:pt x="5521036" y="1417320"/>
                  <a:pt x="54368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46520" y="3639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89370" y="363974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63974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云边协同架构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82641"/>
            <a:ext cx="450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算力的艺术分配——轻量化边缘模型与大模型云端的完美协同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5058370"/>
            <a:ext cx="5589270" cy="1417320"/>
          </a:xfrm>
          <a:custGeom>
            <a:avLst/>
            <a:gdLst/>
            <a:ahLst/>
            <a:cxnLst/>
            <a:rect l="l" t="t" r="r" b="b"/>
            <a:pathLst>
              <a:path w="5589270" h="1417320">
                <a:moveTo>
                  <a:pt x="152404" y="0"/>
                </a:moveTo>
                <a:lnTo>
                  <a:pt x="5436866" y="0"/>
                </a:lnTo>
                <a:cubicBezTo>
                  <a:pt x="5521036" y="0"/>
                  <a:pt x="5589270" y="68234"/>
                  <a:pt x="5589270" y="152404"/>
                </a:cubicBezTo>
                <a:lnTo>
                  <a:pt x="5589270" y="1264916"/>
                </a:lnTo>
                <a:cubicBezTo>
                  <a:pt x="5589270" y="1349086"/>
                  <a:pt x="5521036" y="1417320"/>
                  <a:pt x="54368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17220" y="52907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60070" y="529078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3020" y="529078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新型电池前沿算法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03020" y="5633681"/>
            <a:ext cx="450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钠离子、固态电池、超大储能电芯的前瞻性算法储备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4110" y="5058370"/>
            <a:ext cx="5589270" cy="1417320"/>
          </a:xfrm>
          <a:custGeom>
            <a:avLst/>
            <a:gdLst/>
            <a:ahLst/>
            <a:cxnLst/>
            <a:rect l="l" t="t" r="r" b="b"/>
            <a:pathLst>
              <a:path w="5589270" h="1417320">
                <a:moveTo>
                  <a:pt x="152404" y="0"/>
                </a:moveTo>
                <a:lnTo>
                  <a:pt x="5436866" y="0"/>
                </a:lnTo>
                <a:cubicBezTo>
                  <a:pt x="5521036" y="0"/>
                  <a:pt x="5589270" y="68234"/>
                  <a:pt x="5589270" y="152404"/>
                </a:cubicBezTo>
                <a:lnTo>
                  <a:pt x="5589270" y="1264916"/>
                </a:lnTo>
                <a:cubicBezTo>
                  <a:pt x="5589270" y="1349086"/>
                  <a:pt x="5521036" y="1417320"/>
                  <a:pt x="54368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46520" y="52907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89370" y="529078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5290781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实战案例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0" y="5633681"/>
            <a:ext cx="45053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技术的温度——内短路预警、析锂延寿与热失控精准拦截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EC67-0DA6-B057-397E-735E8B1A6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44C778-0E77-2569-FE45-CC3792A6C930}"/>
              </a:ext>
            </a:extLst>
          </p:cNvPr>
          <p:cNvSpPr/>
          <p:nvPr/>
        </p:nvSpPr>
        <p:spPr>
          <a:xfrm>
            <a:off x="381000" y="381000"/>
            <a:ext cx="1199147" cy="304800"/>
          </a:xfrm>
          <a:custGeom>
            <a:avLst/>
            <a:gdLst/>
            <a:ahLst/>
            <a:cxnLst/>
            <a:rect l="l" t="t" r="r" b="b"/>
            <a:pathLst>
              <a:path w="866775" h="304800">
                <a:moveTo>
                  <a:pt x="38100" y="0"/>
                </a:moveTo>
                <a:lnTo>
                  <a:pt x="828675" y="0"/>
                </a:lnTo>
                <a:cubicBezTo>
                  <a:pt x="849703" y="0"/>
                  <a:pt x="866775" y="17072"/>
                  <a:pt x="866775" y="38100"/>
                </a:cubicBezTo>
                <a:lnTo>
                  <a:pt x="866775" y="266700"/>
                </a:lnTo>
                <a:cubicBezTo>
                  <a:pt x="866775" y="287728"/>
                  <a:pt x="849703" y="304800"/>
                  <a:pt x="8286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DDE6ED-291A-212D-D3A1-26479BE193B4}"/>
              </a:ext>
            </a:extLst>
          </p:cNvPr>
          <p:cNvSpPr/>
          <p:nvPr/>
        </p:nvSpPr>
        <p:spPr>
          <a:xfrm>
            <a:off x="495300" y="457200"/>
            <a:ext cx="11404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VISION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E7471A-39C8-4DAF-690D-D3374275BA08}"/>
              </a:ext>
            </a:extLst>
          </p:cNvPr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电池智能体演进</a:t>
            </a:r>
            <a:r>
              <a:rPr 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——</a:t>
            </a:r>
            <a:r>
              <a:rPr lang="zh-CN" alt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从被动容器到主动生命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520E3F-F887-D245-1FE9-0E74065B037A}"/>
              </a:ext>
            </a:extLst>
          </p:cNvPr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45A8F7C4-DA9C-77C5-CB85-5AAC7B3A05E4}"/>
              </a:ext>
            </a:extLst>
          </p:cNvPr>
          <p:cNvSpPr/>
          <p:nvPr/>
        </p:nvSpPr>
        <p:spPr>
          <a:xfrm>
            <a:off x="339610" y="6579944"/>
            <a:ext cx="11512780" cy="8490"/>
          </a:xfrm>
          <a:custGeom>
            <a:avLst/>
            <a:gdLst/>
            <a:ahLst/>
            <a:cxnLst/>
            <a:rect l="l" t="t" r="r" b="b"/>
            <a:pathLst>
              <a:path w="11512780" h="8490">
                <a:moveTo>
                  <a:pt x="0" y="0"/>
                </a:moveTo>
                <a:lnTo>
                  <a:pt x="11512780" y="0"/>
                </a:lnTo>
                <a:lnTo>
                  <a:pt x="11512780" y="8490"/>
                </a:lnTo>
                <a:lnTo>
                  <a:pt x="0" y="849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0"/>
                </a:srgbClr>
              </a:gs>
              <a:gs pos="50000">
                <a:srgbClr val="64FFD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60F7D883-CC39-32AD-F85E-1969672B6C32}"/>
              </a:ext>
            </a:extLst>
          </p:cNvPr>
          <p:cNvSpPr/>
          <p:nvPr/>
        </p:nvSpPr>
        <p:spPr>
          <a:xfrm>
            <a:off x="343006" y="1646260"/>
            <a:ext cx="3717032" cy="2435004"/>
          </a:xfrm>
          <a:custGeom>
            <a:avLst/>
            <a:gdLst/>
            <a:ahLst/>
            <a:cxnLst/>
            <a:rect l="l" t="t" r="r" b="b"/>
            <a:pathLst>
              <a:path w="3717032" h="2435004">
                <a:moveTo>
                  <a:pt x="135849" y="0"/>
                </a:moveTo>
                <a:lnTo>
                  <a:pt x="3581183" y="0"/>
                </a:lnTo>
                <a:cubicBezTo>
                  <a:pt x="3656210" y="0"/>
                  <a:pt x="3717032" y="60822"/>
                  <a:pt x="3717032" y="135849"/>
                </a:cubicBezTo>
                <a:lnTo>
                  <a:pt x="3717032" y="2299155"/>
                </a:lnTo>
                <a:cubicBezTo>
                  <a:pt x="3717032" y="2374182"/>
                  <a:pt x="3656210" y="2435004"/>
                  <a:pt x="3581183" y="2435004"/>
                </a:cubicBezTo>
                <a:lnTo>
                  <a:pt x="135849" y="2435004"/>
                </a:lnTo>
                <a:cubicBezTo>
                  <a:pt x="60822" y="2435004"/>
                  <a:pt x="0" y="2374182"/>
                  <a:pt x="0" y="2299155"/>
                </a:cubicBezTo>
                <a:lnTo>
                  <a:pt x="0" y="135849"/>
                </a:lnTo>
                <a:cubicBezTo>
                  <a:pt x="0" y="60822"/>
                  <a:pt x="60822" y="0"/>
                  <a:pt x="13584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9525"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46DAE8C0-DC83-200B-76E7-28C9D042C2F3}"/>
              </a:ext>
            </a:extLst>
          </p:cNvPr>
          <p:cNvSpPr/>
          <p:nvPr/>
        </p:nvSpPr>
        <p:spPr>
          <a:xfrm>
            <a:off x="519603" y="1822857"/>
            <a:ext cx="465266" cy="465266"/>
          </a:xfrm>
          <a:custGeom>
            <a:avLst/>
            <a:gdLst/>
            <a:ahLst/>
            <a:cxnLst/>
            <a:rect l="l" t="t" r="r" b="b"/>
            <a:pathLst>
              <a:path w="465266" h="465266">
                <a:moveTo>
                  <a:pt x="101884" y="0"/>
                </a:moveTo>
                <a:lnTo>
                  <a:pt x="363382" y="0"/>
                </a:lnTo>
                <a:cubicBezTo>
                  <a:pt x="419651" y="0"/>
                  <a:pt x="465266" y="45615"/>
                  <a:pt x="465266" y="101884"/>
                </a:cubicBezTo>
                <a:lnTo>
                  <a:pt x="465266" y="363382"/>
                </a:lnTo>
                <a:cubicBezTo>
                  <a:pt x="465266" y="419651"/>
                  <a:pt x="419651" y="465266"/>
                  <a:pt x="363382" y="465266"/>
                </a:cubicBezTo>
                <a:lnTo>
                  <a:pt x="101884" y="465266"/>
                </a:lnTo>
                <a:cubicBezTo>
                  <a:pt x="45615" y="465266"/>
                  <a:pt x="0" y="419651"/>
                  <a:pt x="0" y="363382"/>
                </a:cubicBezTo>
                <a:lnTo>
                  <a:pt x="0" y="101884"/>
                </a:lnTo>
                <a:cubicBezTo>
                  <a:pt x="0" y="45653"/>
                  <a:pt x="45653" y="0"/>
                  <a:pt x="101884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016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221AE387-090F-1FDA-99B1-DDE28320D7D1}"/>
              </a:ext>
            </a:extLst>
          </p:cNvPr>
          <p:cNvSpPr/>
          <p:nvPr/>
        </p:nvSpPr>
        <p:spPr>
          <a:xfrm>
            <a:off x="626581" y="1955305"/>
            <a:ext cx="254708" cy="203766"/>
          </a:xfrm>
          <a:custGeom>
            <a:avLst/>
            <a:gdLst/>
            <a:ahLst/>
            <a:cxnLst/>
            <a:rect l="l" t="t" r="r" b="b"/>
            <a:pathLst>
              <a:path w="254708" h="203766">
                <a:moveTo>
                  <a:pt x="210134" y="50942"/>
                </a:moveTo>
                <a:cubicBezTo>
                  <a:pt x="213636" y="50942"/>
                  <a:pt x="216501" y="53807"/>
                  <a:pt x="216501" y="57309"/>
                </a:cubicBezTo>
                <a:lnTo>
                  <a:pt x="216501" y="146457"/>
                </a:lnTo>
                <a:cubicBezTo>
                  <a:pt x="216501" y="149959"/>
                  <a:pt x="213636" y="152825"/>
                  <a:pt x="210134" y="152825"/>
                </a:cubicBezTo>
                <a:lnTo>
                  <a:pt x="44574" y="152825"/>
                </a:lnTo>
                <a:cubicBezTo>
                  <a:pt x="41072" y="152825"/>
                  <a:pt x="38206" y="149959"/>
                  <a:pt x="38206" y="146457"/>
                </a:cubicBezTo>
                <a:lnTo>
                  <a:pt x="38206" y="57309"/>
                </a:lnTo>
                <a:cubicBezTo>
                  <a:pt x="38206" y="53807"/>
                  <a:pt x="41072" y="50942"/>
                  <a:pt x="44574" y="50942"/>
                </a:cubicBezTo>
                <a:lnTo>
                  <a:pt x="210134" y="50942"/>
                </a:lnTo>
                <a:close/>
                <a:moveTo>
                  <a:pt x="44574" y="25471"/>
                </a:moveTo>
                <a:cubicBezTo>
                  <a:pt x="26983" y="25471"/>
                  <a:pt x="12735" y="39718"/>
                  <a:pt x="12735" y="57309"/>
                </a:cubicBezTo>
                <a:lnTo>
                  <a:pt x="12735" y="146457"/>
                </a:lnTo>
                <a:cubicBezTo>
                  <a:pt x="12735" y="164048"/>
                  <a:pt x="26983" y="178295"/>
                  <a:pt x="44574" y="178295"/>
                </a:cubicBezTo>
                <a:lnTo>
                  <a:pt x="210134" y="178295"/>
                </a:lnTo>
                <a:cubicBezTo>
                  <a:pt x="227724" y="178295"/>
                  <a:pt x="241972" y="164048"/>
                  <a:pt x="241972" y="146457"/>
                </a:cubicBezTo>
                <a:lnTo>
                  <a:pt x="241972" y="127354"/>
                </a:lnTo>
                <a:cubicBezTo>
                  <a:pt x="249016" y="127354"/>
                  <a:pt x="254708" y="121663"/>
                  <a:pt x="254708" y="114618"/>
                </a:cubicBezTo>
                <a:lnTo>
                  <a:pt x="254708" y="89148"/>
                </a:lnTo>
                <a:cubicBezTo>
                  <a:pt x="254708" y="82103"/>
                  <a:pt x="249016" y="76412"/>
                  <a:pt x="241972" y="76412"/>
                </a:cubicBezTo>
                <a:lnTo>
                  <a:pt x="241972" y="57309"/>
                </a:lnTo>
                <a:cubicBezTo>
                  <a:pt x="241972" y="39718"/>
                  <a:pt x="227724" y="25471"/>
                  <a:pt x="210134" y="25471"/>
                </a:cubicBezTo>
                <a:lnTo>
                  <a:pt x="44574" y="25471"/>
                </a:lnTo>
                <a:close/>
                <a:moveTo>
                  <a:pt x="66861" y="70045"/>
                </a:moveTo>
                <a:cubicBezTo>
                  <a:pt x="61568" y="70045"/>
                  <a:pt x="57309" y="74303"/>
                  <a:pt x="57309" y="79596"/>
                </a:cubicBezTo>
                <a:lnTo>
                  <a:pt x="57309" y="124170"/>
                </a:lnTo>
                <a:cubicBezTo>
                  <a:pt x="57309" y="129463"/>
                  <a:pt x="61568" y="133721"/>
                  <a:pt x="66861" y="133721"/>
                </a:cubicBezTo>
                <a:lnTo>
                  <a:pt x="92331" y="133721"/>
                </a:lnTo>
                <a:cubicBezTo>
                  <a:pt x="97625" y="133721"/>
                  <a:pt x="101883" y="129463"/>
                  <a:pt x="101883" y="124170"/>
                </a:cubicBezTo>
                <a:lnTo>
                  <a:pt x="101883" y="79596"/>
                </a:lnTo>
                <a:cubicBezTo>
                  <a:pt x="101883" y="74303"/>
                  <a:pt x="97625" y="70045"/>
                  <a:pt x="92331" y="70045"/>
                </a:cubicBezTo>
                <a:lnTo>
                  <a:pt x="66861" y="70045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11CFB8B7-9A18-60E5-E803-8D0604AA4E91}"/>
              </a:ext>
            </a:extLst>
          </p:cNvPr>
          <p:cNvSpPr/>
          <p:nvPr/>
        </p:nvSpPr>
        <p:spPr>
          <a:xfrm>
            <a:off x="1093544" y="1844932"/>
            <a:ext cx="110373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kern="0" spc="47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第一代</a:t>
            </a:r>
            <a:endParaRPr lang="en-US" sz="16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59A7D3B3-544F-A8AB-ED40-DADD6E479119}"/>
              </a:ext>
            </a:extLst>
          </p:cNvPr>
          <p:cNvSpPr/>
          <p:nvPr/>
        </p:nvSpPr>
        <p:spPr>
          <a:xfrm>
            <a:off x="1093544" y="2031717"/>
            <a:ext cx="112920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CCD6F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传统BMS时代</a:t>
            </a:r>
            <a:endParaRPr lang="en-US" sz="1600" dirty="0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B5E9B05A-6029-7BED-923E-9EF56B80B4FE}"/>
              </a:ext>
            </a:extLst>
          </p:cNvPr>
          <p:cNvSpPr/>
          <p:nvPr/>
        </p:nvSpPr>
        <p:spPr>
          <a:xfrm>
            <a:off x="516207" y="2498681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A07A8866-9DB7-719E-8E3A-E62B6F3F3587}"/>
              </a:ext>
            </a:extLst>
          </p:cNvPr>
          <p:cNvSpPr/>
          <p:nvPr/>
        </p:nvSpPr>
        <p:spPr>
          <a:xfrm>
            <a:off x="652051" y="2430759"/>
            <a:ext cx="2377270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单一监测：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仅监控电压、电流基础参数</a:t>
            </a:r>
            <a:endParaRPr lang="en-US" sz="16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93808790-E3D8-B995-48EB-906BC0620BB2}"/>
              </a:ext>
            </a:extLst>
          </p:cNvPr>
          <p:cNvSpPr/>
          <p:nvPr/>
        </p:nvSpPr>
        <p:spPr>
          <a:xfrm>
            <a:off x="516207" y="2787349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17919038-C832-6E64-D944-CF920A7B7A5C}"/>
              </a:ext>
            </a:extLst>
          </p:cNvPr>
          <p:cNvSpPr/>
          <p:nvPr/>
        </p:nvSpPr>
        <p:spPr>
          <a:xfrm>
            <a:off x="652051" y="2719427"/>
            <a:ext cx="2105582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事后报警：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故障发生后才触发告警</a:t>
            </a:r>
            <a:endParaRPr lang="en-US" sz="160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0F9707D1-276B-DD0A-1A31-2F068BA7E90F}"/>
              </a:ext>
            </a:extLst>
          </p:cNvPr>
          <p:cNvSpPr/>
          <p:nvPr/>
        </p:nvSpPr>
        <p:spPr>
          <a:xfrm>
            <a:off x="516207" y="3076018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D1B838C3-6FB2-956F-6E61-3EA5197C3780}"/>
              </a:ext>
            </a:extLst>
          </p:cNvPr>
          <p:cNvSpPr/>
          <p:nvPr/>
        </p:nvSpPr>
        <p:spPr>
          <a:xfrm>
            <a:off x="652051" y="3008096"/>
            <a:ext cx="2105582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被动响应：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等待外部指令执行保护</a:t>
            </a:r>
            <a:endParaRPr lang="en-US" sz="1600" dirty="0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A7D42F40-8C6F-AB02-45EF-B92490FBBC68}"/>
              </a:ext>
            </a:extLst>
          </p:cNvPr>
          <p:cNvSpPr/>
          <p:nvPr/>
        </p:nvSpPr>
        <p:spPr>
          <a:xfrm>
            <a:off x="516207" y="3364687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AFE06650-D833-0525-D0E5-FEFFDEE22840}"/>
              </a:ext>
            </a:extLst>
          </p:cNvPr>
          <p:cNvSpPr/>
          <p:nvPr/>
        </p:nvSpPr>
        <p:spPr>
          <a:xfrm>
            <a:off x="652051" y="3296765"/>
            <a:ext cx="2241426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信息孤岛：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数据孤立，缺乏系统协同</a:t>
            </a:r>
            <a:endParaRPr lang="en-US" sz="160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A05DDD27-3579-9AA5-193E-6FBC9046B8DF}"/>
              </a:ext>
            </a:extLst>
          </p:cNvPr>
          <p:cNvSpPr/>
          <p:nvPr/>
        </p:nvSpPr>
        <p:spPr>
          <a:xfrm>
            <a:off x="516207" y="3622790"/>
            <a:ext cx="3370630" cy="6792"/>
          </a:xfrm>
          <a:custGeom>
            <a:avLst/>
            <a:gdLst/>
            <a:ahLst/>
            <a:cxnLst/>
            <a:rect l="l" t="t" r="r" b="b"/>
            <a:pathLst>
              <a:path w="3370630" h="6792">
                <a:moveTo>
                  <a:pt x="0" y="0"/>
                </a:moveTo>
                <a:lnTo>
                  <a:pt x="3370630" y="0"/>
                </a:lnTo>
                <a:lnTo>
                  <a:pt x="3370630" y="6792"/>
                </a:lnTo>
                <a:lnTo>
                  <a:pt x="0" y="6792"/>
                </a:lnTo>
                <a:lnTo>
                  <a:pt x="0" y="0"/>
                </a:lnTo>
                <a:close/>
              </a:path>
            </a:pathLst>
          </a:custGeom>
          <a:solidFill>
            <a:srgbClr val="233554"/>
          </a:solidFill>
          <a:ln/>
        </p:spPr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65F353C7-31A0-C62B-D565-70EC0BCD92D3}"/>
              </a:ext>
            </a:extLst>
          </p:cNvPr>
          <p:cNvSpPr/>
          <p:nvPr/>
        </p:nvSpPr>
        <p:spPr>
          <a:xfrm>
            <a:off x="533188" y="3753540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0"/>
                </a:moveTo>
                <a:cubicBezTo>
                  <a:pt x="62844" y="0"/>
                  <a:pt x="65979" y="1880"/>
                  <a:pt x="67604" y="4875"/>
                </a:cubicBezTo>
                <a:lnTo>
                  <a:pt x="117749" y="97737"/>
                </a:lnTo>
                <a:cubicBezTo>
                  <a:pt x="119305" y="100616"/>
                  <a:pt x="119235" y="104098"/>
                  <a:pt x="117563" y="106908"/>
                </a:cubicBezTo>
                <a:cubicBezTo>
                  <a:pt x="115892" y="109717"/>
                  <a:pt x="112851" y="111435"/>
                  <a:pt x="109577" y="111435"/>
                </a:cubicBezTo>
                <a:lnTo>
                  <a:pt x="9286" y="111435"/>
                </a:lnTo>
                <a:cubicBezTo>
                  <a:pt x="6013" y="111435"/>
                  <a:pt x="2995" y="109717"/>
                  <a:pt x="1300" y="106908"/>
                </a:cubicBezTo>
                <a:cubicBezTo>
                  <a:pt x="-395" y="104098"/>
                  <a:pt x="-441" y="100616"/>
                  <a:pt x="1114" y="97737"/>
                </a:cubicBezTo>
                <a:lnTo>
                  <a:pt x="51260" y="4875"/>
                </a:lnTo>
                <a:cubicBezTo>
                  <a:pt x="52885" y="1880"/>
                  <a:pt x="56019" y="0"/>
                  <a:pt x="59432" y="0"/>
                </a:cubicBezTo>
                <a:close/>
                <a:moveTo>
                  <a:pt x="59432" y="39002"/>
                </a:moveTo>
                <a:cubicBezTo>
                  <a:pt x="56344" y="39002"/>
                  <a:pt x="53860" y="41486"/>
                  <a:pt x="53860" y="44574"/>
                </a:cubicBezTo>
                <a:lnTo>
                  <a:pt x="53860" y="70575"/>
                </a:lnTo>
                <a:cubicBezTo>
                  <a:pt x="53860" y="73663"/>
                  <a:pt x="56344" y="76147"/>
                  <a:pt x="59432" y="76147"/>
                </a:cubicBezTo>
                <a:cubicBezTo>
                  <a:pt x="62519" y="76147"/>
                  <a:pt x="65003" y="73663"/>
                  <a:pt x="65003" y="70575"/>
                </a:cubicBezTo>
                <a:lnTo>
                  <a:pt x="65003" y="44574"/>
                </a:lnTo>
                <a:cubicBezTo>
                  <a:pt x="65003" y="41486"/>
                  <a:pt x="62519" y="39002"/>
                  <a:pt x="59432" y="39002"/>
                </a:cubicBezTo>
                <a:close/>
                <a:moveTo>
                  <a:pt x="65630" y="89148"/>
                </a:moveTo>
                <a:cubicBezTo>
                  <a:pt x="65771" y="86847"/>
                  <a:pt x="64624" y="84658"/>
                  <a:pt x="62652" y="83465"/>
                </a:cubicBezTo>
                <a:cubicBezTo>
                  <a:pt x="60679" y="82272"/>
                  <a:pt x="58208" y="82272"/>
                  <a:pt x="56235" y="83465"/>
                </a:cubicBezTo>
                <a:cubicBezTo>
                  <a:pt x="54263" y="84658"/>
                  <a:pt x="53115" y="86847"/>
                  <a:pt x="53256" y="89148"/>
                </a:cubicBezTo>
                <a:cubicBezTo>
                  <a:pt x="53115" y="91448"/>
                  <a:pt x="54263" y="93637"/>
                  <a:pt x="56235" y="94831"/>
                </a:cubicBezTo>
                <a:cubicBezTo>
                  <a:pt x="58208" y="96024"/>
                  <a:pt x="60679" y="96024"/>
                  <a:pt x="62652" y="94831"/>
                </a:cubicBezTo>
                <a:cubicBezTo>
                  <a:pt x="64624" y="93637"/>
                  <a:pt x="65771" y="91448"/>
                  <a:pt x="65630" y="8914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26B76F1B-80B0-9B01-1023-397BCF243497}"/>
              </a:ext>
            </a:extLst>
          </p:cNvPr>
          <p:cNvSpPr/>
          <p:nvPr/>
        </p:nvSpPr>
        <p:spPr>
          <a:xfrm>
            <a:off x="732709" y="3728069"/>
            <a:ext cx="89147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6B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冰冷的化学容器</a:t>
            </a:r>
            <a:endParaRPr lang="en-US" sz="1600" dirty="0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274B1FD8-DC13-82B9-30A0-F916F9FBE028}"/>
              </a:ext>
            </a:extLst>
          </p:cNvPr>
          <p:cNvSpPr/>
          <p:nvPr/>
        </p:nvSpPr>
        <p:spPr>
          <a:xfrm>
            <a:off x="4238439" y="1646260"/>
            <a:ext cx="3717032" cy="2435004"/>
          </a:xfrm>
          <a:custGeom>
            <a:avLst/>
            <a:gdLst/>
            <a:ahLst/>
            <a:cxnLst/>
            <a:rect l="l" t="t" r="r" b="b"/>
            <a:pathLst>
              <a:path w="3717032" h="2435004">
                <a:moveTo>
                  <a:pt x="135849" y="0"/>
                </a:moveTo>
                <a:lnTo>
                  <a:pt x="3581183" y="0"/>
                </a:lnTo>
                <a:cubicBezTo>
                  <a:pt x="3656210" y="0"/>
                  <a:pt x="3717032" y="60822"/>
                  <a:pt x="3717032" y="135849"/>
                </a:cubicBezTo>
                <a:lnTo>
                  <a:pt x="3717032" y="2299155"/>
                </a:lnTo>
                <a:cubicBezTo>
                  <a:pt x="3717032" y="2374182"/>
                  <a:pt x="3656210" y="2435004"/>
                  <a:pt x="3581183" y="2435004"/>
                </a:cubicBezTo>
                <a:lnTo>
                  <a:pt x="135849" y="2435004"/>
                </a:lnTo>
                <a:cubicBezTo>
                  <a:pt x="60822" y="2435004"/>
                  <a:pt x="0" y="2374182"/>
                  <a:pt x="0" y="2299155"/>
                </a:cubicBezTo>
                <a:lnTo>
                  <a:pt x="0" y="135849"/>
                </a:lnTo>
                <a:cubicBezTo>
                  <a:pt x="0" y="60822"/>
                  <a:pt x="60822" y="0"/>
                  <a:pt x="13584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9525"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E07B7B75-8FA2-B53B-6700-C4B04581BB29}"/>
              </a:ext>
            </a:extLst>
          </p:cNvPr>
          <p:cNvSpPr/>
          <p:nvPr/>
        </p:nvSpPr>
        <p:spPr>
          <a:xfrm>
            <a:off x="4415036" y="1822857"/>
            <a:ext cx="465266" cy="465266"/>
          </a:xfrm>
          <a:custGeom>
            <a:avLst/>
            <a:gdLst/>
            <a:ahLst/>
            <a:cxnLst/>
            <a:rect l="l" t="t" r="r" b="b"/>
            <a:pathLst>
              <a:path w="465266" h="465266">
                <a:moveTo>
                  <a:pt x="101884" y="0"/>
                </a:moveTo>
                <a:lnTo>
                  <a:pt x="363382" y="0"/>
                </a:lnTo>
                <a:cubicBezTo>
                  <a:pt x="419651" y="0"/>
                  <a:pt x="465266" y="45615"/>
                  <a:pt x="465266" y="101884"/>
                </a:cubicBezTo>
                <a:lnTo>
                  <a:pt x="465266" y="363382"/>
                </a:lnTo>
                <a:cubicBezTo>
                  <a:pt x="465266" y="419651"/>
                  <a:pt x="419651" y="465266"/>
                  <a:pt x="363382" y="465266"/>
                </a:cubicBezTo>
                <a:lnTo>
                  <a:pt x="101884" y="465266"/>
                </a:lnTo>
                <a:cubicBezTo>
                  <a:pt x="45615" y="465266"/>
                  <a:pt x="0" y="419651"/>
                  <a:pt x="0" y="363382"/>
                </a:cubicBezTo>
                <a:lnTo>
                  <a:pt x="0" y="101884"/>
                </a:lnTo>
                <a:cubicBezTo>
                  <a:pt x="0" y="45653"/>
                  <a:pt x="45653" y="0"/>
                  <a:pt x="101884" y="0"/>
                </a:cubicBezTo>
                <a:close/>
              </a:path>
            </a:pathLst>
          </a:custGeom>
          <a:solidFill>
            <a:srgbClr val="64B5F6">
              <a:alpha val="10196"/>
            </a:srgbClr>
          </a:solidFill>
          <a:ln w="10160">
            <a:solidFill>
              <a:srgbClr val="64B5F6">
                <a:alpha val="30196"/>
              </a:srgbClr>
            </a:solidFill>
            <a:prstDash val="solid"/>
          </a:ln>
        </p:spPr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B63FA6D1-9B8F-F6FD-6AC6-6E9BE2EC21CE}"/>
              </a:ext>
            </a:extLst>
          </p:cNvPr>
          <p:cNvSpPr/>
          <p:nvPr/>
        </p:nvSpPr>
        <p:spPr>
          <a:xfrm>
            <a:off x="4534749" y="1955305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57309" y="191031"/>
                </a:moveTo>
                <a:cubicBezTo>
                  <a:pt x="25670" y="191031"/>
                  <a:pt x="0" y="165361"/>
                  <a:pt x="0" y="133721"/>
                </a:cubicBezTo>
                <a:cubicBezTo>
                  <a:pt x="0" y="108489"/>
                  <a:pt x="16317" y="87078"/>
                  <a:pt x="38962" y="79397"/>
                </a:cubicBezTo>
                <a:cubicBezTo>
                  <a:pt x="38445" y="76333"/>
                  <a:pt x="38206" y="73228"/>
                  <a:pt x="38206" y="70045"/>
                </a:cubicBezTo>
                <a:cubicBezTo>
                  <a:pt x="38206" y="38405"/>
                  <a:pt x="63876" y="12735"/>
                  <a:pt x="95515" y="12735"/>
                </a:cubicBezTo>
                <a:cubicBezTo>
                  <a:pt x="117563" y="12735"/>
                  <a:pt x="136706" y="25192"/>
                  <a:pt x="146298" y="43420"/>
                </a:cubicBezTo>
                <a:cubicBezTo>
                  <a:pt x="151949" y="40116"/>
                  <a:pt x="158555" y="38206"/>
                  <a:pt x="165560" y="38206"/>
                </a:cubicBezTo>
                <a:cubicBezTo>
                  <a:pt x="186653" y="38206"/>
                  <a:pt x="203766" y="55319"/>
                  <a:pt x="203766" y="76412"/>
                </a:cubicBezTo>
                <a:cubicBezTo>
                  <a:pt x="203766" y="82661"/>
                  <a:pt x="202254" y="88590"/>
                  <a:pt x="199587" y="93804"/>
                </a:cubicBezTo>
                <a:cubicBezTo>
                  <a:pt x="217098" y="101883"/>
                  <a:pt x="229237" y="119553"/>
                  <a:pt x="229237" y="140089"/>
                </a:cubicBezTo>
                <a:cubicBezTo>
                  <a:pt x="229237" y="168226"/>
                  <a:pt x="206432" y="191031"/>
                  <a:pt x="178295" y="191031"/>
                </a:cubicBezTo>
                <a:lnTo>
                  <a:pt x="57309" y="191031"/>
                </a:lnTo>
                <a:close/>
                <a:moveTo>
                  <a:pt x="121384" y="76014"/>
                </a:moveTo>
                <a:cubicBezTo>
                  <a:pt x="117643" y="72273"/>
                  <a:pt x="111594" y="72273"/>
                  <a:pt x="107893" y="76014"/>
                </a:cubicBezTo>
                <a:lnTo>
                  <a:pt x="79238" y="104669"/>
                </a:lnTo>
                <a:cubicBezTo>
                  <a:pt x="75497" y="108410"/>
                  <a:pt x="75497" y="114459"/>
                  <a:pt x="79238" y="118160"/>
                </a:cubicBezTo>
                <a:cubicBezTo>
                  <a:pt x="82979" y="121862"/>
                  <a:pt x="89028" y="121901"/>
                  <a:pt x="92729" y="118160"/>
                </a:cubicBezTo>
                <a:lnTo>
                  <a:pt x="105067" y="105823"/>
                </a:lnTo>
                <a:lnTo>
                  <a:pt x="105067" y="146457"/>
                </a:lnTo>
                <a:cubicBezTo>
                  <a:pt x="105067" y="151750"/>
                  <a:pt x="109325" y="156008"/>
                  <a:pt x="114618" y="156008"/>
                </a:cubicBezTo>
                <a:cubicBezTo>
                  <a:pt x="119912" y="156008"/>
                  <a:pt x="124170" y="151750"/>
                  <a:pt x="124170" y="146457"/>
                </a:cubicBezTo>
                <a:lnTo>
                  <a:pt x="124170" y="105823"/>
                </a:lnTo>
                <a:lnTo>
                  <a:pt x="136507" y="118160"/>
                </a:lnTo>
                <a:cubicBezTo>
                  <a:pt x="140248" y="121901"/>
                  <a:pt x="146298" y="121901"/>
                  <a:pt x="149999" y="118160"/>
                </a:cubicBezTo>
                <a:cubicBezTo>
                  <a:pt x="153700" y="114419"/>
                  <a:pt x="153740" y="108370"/>
                  <a:pt x="149999" y="104669"/>
                </a:cubicBezTo>
                <a:lnTo>
                  <a:pt x="121344" y="76014"/>
                </a:lnTo>
                <a:close/>
              </a:path>
            </a:pathLst>
          </a:custGeom>
          <a:solidFill>
            <a:srgbClr val="64B5F6"/>
          </a:solidFill>
          <a:ln/>
        </p:spPr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A8C5DDF2-2086-5071-5F82-5B8A2E414478}"/>
              </a:ext>
            </a:extLst>
          </p:cNvPr>
          <p:cNvSpPr/>
          <p:nvPr/>
        </p:nvSpPr>
        <p:spPr>
          <a:xfrm>
            <a:off x="4988977" y="1844932"/>
            <a:ext cx="107826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kern="0" spc="47" dirty="0">
                <a:solidFill>
                  <a:srgbClr val="64B5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第二代</a:t>
            </a:r>
            <a:endParaRPr lang="en-US" sz="1600" dirty="0"/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FAC1787A-05CB-C96D-CF05-60C154EB1BFE}"/>
              </a:ext>
            </a:extLst>
          </p:cNvPr>
          <p:cNvSpPr/>
          <p:nvPr/>
        </p:nvSpPr>
        <p:spPr>
          <a:xfrm>
            <a:off x="4988977" y="2031717"/>
            <a:ext cx="110373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CCD6F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云端智能时代</a:t>
            </a:r>
            <a:endParaRPr lang="en-US" sz="1600" dirty="0"/>
          </a:p>
        </p:txBody>
      </p:sp>
      <p:sp>
        <p:nvSpPr>
          <p:cNvPr id="61" name="Shape 31">
            <a:extLst>
              <a:ext uri="{FF2B5EF4-FFF2-40B4-BE49-F238E27FC236}">
                <a16:creationId xmlns:a16="http://schemas.microsoft.com/office/drawing/2014/main" id="{6F19F3E8-DD6E-0FB3-86FD-0B655F40F9CC}"/>
              </a:ext>
            </a:extLst>
          </p:cNvPr>
          <p:cNvSpPr/>
          <p:nvPr/>
        </p:nvSpPr>
        <p:spPr>
          <a:xfrm>
            <a:off x="4411640" y="2498681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B5F6"/>
          </a:solidFill>
          <a:ln/>
        </p:spPr>
      </p:sp>
      <p:sp>
        <p:nvSpPr>
          <p:cNvPr id="62" name="Text 32">
            <a:extLst>
              <a:ext uri="{FF2B5EF4-FFF2-40B4-BE49-F238E27FC236}">
                <a16:creationId xmlns:a16="http://schemas.microsoft.com/office/drawing/2014/main" id="{BCD7C570-1D9F-7AD4-32CA-DFE9F18B95D1}"/>
              </a:ext>
            </a:extLst>
          </p:cNvPr>
          <p:cNvSpPr/>
          <p:nvPr/>
        </p:nvSpPr>
        <p:spPr>
          <a:xfrm>
            <a:off x="4547484" y="2430759"/>
            <a:ext cx="2377270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数据上云：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电池数据实时上传云端分析</a:t>
            </a:r>
            <a:endParaRPr lang="en-US" sz="1600" dirty="0"/>
          </a:p>
        </p:txBody>
      </p:sp>
      <p:sp>
        <p:nvSpPr>
          <p:cNvPr id="63" name="Shape 33">
            <a:extLst>
              <a:ext uri="{FF2B5EF4-FFF2-40B4-BE49-F238E27FC236}">
                <a16:creationId xmlns:a16="http://schemas.microsoft.com/office/drawing/2014/main" id="{2ABA8772-6AAA-84F8-0442-EC23CFFC2E44}"/>
              </a:ext>
            </a:extLst>
          </p:cNvPr>
          <p:cNvSpPr/>
          <p:nvPr/>
        </p:nvSpPr>
        <p:spPr>
          <a:xfrm>
            <a:off x="4411640" y="2787349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B5F6"/>
          </a:solidFill>
          <a:ln/>
        </p:spPr>
      </p:sp>
      <p:sp>
        <p:nvSpPr>
          <p:cNvPr id="160" name="Text 34">
            <a:extLst>
              <a:ext uri="{FF2B5EF4-FFF2-40B4-BE49-F238E27FC236}">
                <a16:creationId xmlns:a16="http://schemas.microsoft.com/office/drawing/2014/main" id="{DC3AA98E-EF63-0D81-B9D0-C873A0F023B7}"/>
              </a:ext>
            </a:extLst>
          </p:cNvPr>
          <p:cNvSpPr/>
          <p:nvPr/>
        </p:nvSpPr>
        <p:spPr>
          <a:xfrm>
            <a:off x="4547484" y="2719427"/>
            <a:ext cx="1969738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远程监控：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支持跨地域状态追踪</a:t>
            </a:r>
            <a:endParaRPr lang="en-US" sz="1600" dirty="0"/>
          </a:p>
        </p:txBody>
      </p:sp>
      <p:sp>
        <p:nvSpPr>
          <p:cNvPr id="161" name="Shape 35">
            <a:extLst>
              <a:ext uri="{FF2B5EF4-FFF2-40B4-BE49-F238E27FC236}">
                <a16:creationId xmlns:a16="http://schemas.microsoft.com/office/drawing/2014/main" id="{071EC0FB-9A61-961F-0C79-1BC8662CB659}"/>
              </a:ext>
            </a:extLst>
          </p:cNvPr>
          <p:cNvSpPr/>
          <p:nvPr/>
        </p:nvSpPr>
        <p:spPr>
          <a:xfrm>
            <a:off x="4411640" y="3076018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B5F6"/>
          </a:solidFill>
          <a:ln/>
        </p:spPr>
      </p:sp>
      <p:sp>
        <p:nvSpPr>
          <p:cNvPr id="162" name="Text 36">
            <a:extLst>
              <a:ext uri="{FF2B5EF4-FFF2-40B4-BE49-F238E27FC236}">
                <a16:creationId xmlns:a16="http://schemas.microsoft.com/office/drawing/2014/main" id="{1476D79A-9FC9-56B0-91E9-8840427F86C8}"/>
              </a:ext>
            </a:extLst>
          </p:cNvPr>
          <p:cNvSpPr/>
          <p:nvPr/>
        </p:nvSpPr>
        <p:spPr>
          <a:xfrm>
            <a:off x="4547484" y="3008096"/>
            <a:ext cx="2513114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初步预测：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基于历史数据的简单趋势分析</a:t>
            </a:r>
            <a:endParaRPr lang="en-US" sz="1600" dirty="0"/>
          </a:p>
        </p:txBody>
      </p:sp>
      <p:sp>
        <p:nvSpPr>
          <p:cNvPr id="163" name="Shape 37">
            <a:extLst>
              <a:ext uri="{FF2B5EF4-FFF2-40B4-BE49-F238E27FC236}">
                <a16:creationId xmlns:a16="http://schemas.microsoft.com/office/drawing/2014/main" id="{FF6FAAF1-7530-B15D-7D2A-C4B0EA511C11}"/>
              </a:ext>
            </a:extLst>
          </p:cNvPr>
          <p:cNvSpPr/>
          <p:nvPr/>
        </p:nvSpPr>
        <p:spPr>
          <a:xfrm>
            <a:off x="4411640" y="3364687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B5F6"/>
          </a:solidFill>
          <a:ln/>
        </p:spPr>
      </p:sp>
      <p:sp>
        <p:nvSpPr>
          <p:cNvPr id="164" name="Text 38">
            <a:extLst>
              <a:ext uri="{FF2B5EF4-FFF2-40B4-BE49-F238E27FC236}">
                <a16:creationId xmlns:a16="http://schemas.microsoft.com/office/drawing/2014/main" id="{7B3C9D13-A872-4317-12EE-7DE2FA7C5525}"/>
              </a:ext>
            </a:extLst>
          </p:cNvPr>
          <p:cNvSpPr/>
          <p:nvPr/>
        </p:nvSpPr>
        <p:spPr>
          <a:xfrm>
            <a:off x="4547484" y="3296765"/>
            <a:ext cx="1969738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依赖网络：</a:t>
            </a:r>
            <a:r>
              <a:rPr lang="en-US" sz="1070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离线状态下能力受限</a:t>
            </a:r>
            <a:endParaRPr lang="en-US" sz="1600" dirty="0"/>
          </a:p>
        </p:txBody>
      </p:sp>
      <p:sp>
        <p:nvSpPr>
          <p:cNvPr id="165" name="Shape 39">
            <a:extLst>
              <a:ext uri="{FF2B5EF4-FFF2-40B4-BE49-F238E27FC236}">
                <a16:creationId xmlns:a16="http://schemas.microsoft.com/office/drawing/2014/main" id="{41B10180-82E0-0CB2-D89B-5C325CD03538}"/>
              </a:ext>
            </a:extLst>
          </p:cNvPr>
          <p:cNvSpPr/>
          <p:nvPr/>
        </p:nvSpPr>
        <p:spPr>
          <a:xfrm>
            <a:off x="4411640" y="3622790"/>
            <a:ext cx="3370630" cy="6792"/>
          </a:xfrm>
          <a:custGeom>
            <a:avLst/>
            <a:gdLst/>
            <a:ahLst/>
            <a:cxnLst/>
            <a:rect l="l" t="t" r="r" b="b"/>
            <a:pathLst>
              <a:path w="3370630" h="6792">
                <a:moveTo>
                  <a:pt x="0" y="0"/>
                </a:moveTo>
                <a:lnTo>
                  <a:pt x="3370630" y="0"/>
                </a:lnTo>
                <a:lnTo>
                  <a:pt x="3370630" y="6792"/>
                </a:lnTo>
                <a:lnTo>
                  <a:pt x="0" y="6792"/>
                </a:lnTo>
                <a:lnTo>
                  <a:pt x="0" y="0"/>
                </a:lnTo>
                <a:close/>
              </a:path>
            </a:pathLst>
          </a:custGeom>
          <a:solidFill>
            <a:srgbClr val="233554"/>
          </a:solidFill>
          <a:ln/>
        </p:spPr>
      </p:sp>
      <p:sp>
        <p:nvSpPr>
          <p:cNvPr id="166" name="Shape 40">
            <a:extLst>
              <a:ext uri="{FF2B5EF4-FFF2-40B4-BE49-F238E27FC236}">
                <a16:creationId xmlns:a16="http://schemas.microsoft.com/office/drawing/2014/main" id="{91B36396-043D-6078-A56B-C326E3B46942}"/>
              </a:ext>
            </a:extLst>
          </p:cNvPr>
          <p:cNvSpPr/>
          <p:nvPr/>
        </p:nvSpPr>
        <p:spPr>
          <a:xfrm>
            <a:off x="4421192" y="3753540"/>
            <a:ext cx="133721" cy="118864"/>
          </a:xfrm>
          <a:custGeom>
            <a:avLst/>
            <a:gdLst/>
            <a:ahLst/>
            <a:cxnLst/>
            <a:rect l="l" t="t" r="r" b="b"/>
            <a:pathLst>
              <a:path w="133721" h="118864">
                <a:moveTo>
                  <a:pt x="66861" y="22287"/>
                </a:moveTo>
                <a:cubicBezTo>
                  <a:pt x="45758" y="22287"/>
                  <a:pt x="26651" y="30644"/>
                  <a:pt x="12606" y="44249"/>
                </a:cubicBezTo>
                <a:cubicBezTo>
                  <a:pt x="9658" y="47104"/>
                  <a:pt x="4945" y="47035"/>
                  <a:pt x="2113" y="44086"/>
                </a:cubicBezTo>
                <a:cubicBezTo>
                  <a:pt x="-720" y="41138"/>
                  <a:pt x="-673" y="36425"/>
                  <a:pt x="2275" y="33593"/>
                </a:cubicBezTo>
                <a:cubicBezTo>
                  <a:pt x="18967" y="17388"/>
                  <a:pt x="41765" y="7429"/>
                  <a:pt x="66861" y="7429"/>
                </a:cubicBezTo>
                <a:cubicBezTo>
                  <a:pt x="91957" y="7429"/>
                  <a:pt x="114754" y="17388"/>
                  <a:pt x="131470" y="33593"/>
                </a:cubicBezTo>
                <a:cubicBezTo>
                  <a:pt x="134418" y="36448"/>
                  <a:pt x="134488" y="41161"/>
                  <a:pt x="131632" y="44086"/>
                </a:cubicBezTo>
                <a:cubicBezTo>
                  <a:pt x="128777" y="47011"/>
                  <a:pt x="124064" y="47104"/>
                  <a:pt x="121139" y="44249"/>
                </a:cubicBezTo>
                <a:cubicBezTo>
                  <a:pt x="107070" y="30644"/>
                  <a:pt x="87964" y="22287"/>
                  <a:pt x="66861" y="22287"/>
                </a:cubicBezTo>
                <a:close/>
                <a:moveTo>
                  <a:pt x="55717" y="100291"/>
                </a:moveTo>
                <a:cubicBezTo>
                  <a:pt x="55717" y="94141"/>
                  <a:pt x="60710" y="89148"/>
                  <a:pt x="66861" y="89148"/>
                </a:cubicBezTo>
                <a:cubicBezTo>
                  <a:pt x="73011" y="89148"/>
                  <a:pt x="78004" y="94141"/>
                  <a:pt x="78004" y="100291"/>
                </a:cubicBezTo>
                <a:cubicBezTo>
                  <a:pt x="78004" y="106441"/>
                  <a:pt x="73011" y="111435"/>
                  <a:pt x="66861" y="111435"/>
                </a:cubicBezTo>
                <a:cubicBezTo>
                  <a:pt x="60710" y="111435"/>
                  <a:pt x="55717" y="106441"/>
                  <a:pt x="55717" y="100291"/>
                </a:cubicBezTo>
                <a:close/>
                <a:moveTo>
                  <a:pt x="39002" y="75729"/>
                </a:moveTo>
                <a:cubicBezTo>
                  <a:pt x="36286" y="78817"/>
                  <a:pt x="31596" y="79095"/>
                  <a:pt x="28509" y="76379"/>
                </a:cubicBezTo>
                <a:cubicBezTo>
                  <a:pt x="25421" y="73663"/>
                  <a:pt x="25142" y="68973"/>
                  <a:pt x="27859" y="65886"/>
                </a:cubicBezTo>
                <a:cubicBezTo>
                  <a:pt x="37377" y="55114"/>
                  <a:pt x="51330" y="48288"/>
                  <a:pt x="66861" y="48288"/>
                </a:cubicBezTo>
                <a:cubicBezTo>
                  <a:pt x="82392" y="48288"/>
                  <a:pt x="96344" y="55114"/>
                  <a:pt x="105863" y="65886"/>
                </a:cubicBezTo>
                <a:cubicBezTo>
                  <a:pt x="108579" y="68973"/>
                  <a:pt x="108277" y="73663"/>
                  <a:pt x="105213" y="76379"/>
                </a:cubicBezTo>
                <a:cubicBezTo>
                  <a:pt x="102148" y="79095"/>
                  <a:pt x="97436" y="78794"/>
                  <a:pt x="94719" y="75729"/>
                </a:cubicBezTo>
                <a:cubicBezTo>
                  <a:pt x="87894" y="67998"/>
                  <a:pt x="77958" y="63146"/>
                  <a:pt x="66861" y="63146"/>
                </a:cubicBezTo>
                <a:cubicBezTo>
                  <a:pt x="55764" y="63146"/>
                  <a:pt x="45827" y="67998"/>
                  <a:pt x="39002" y="75729"/>
                </a:cubicBezTo>
                <a:close/>
              </a:path>
            </a:pathLst>
          </a:custGeom>
          <a:solidFill>
            <a:srgbClr val="64B5F6"/>
          </a:solidFill>
          <a:ln/>
        </p:spPr>
      </p:sp>
      <p:sp>
        <p:nvSpPr>
          <p:cNvPr id="167" name="Text 41">
            <a:extLst>
              <a:ext uri="{FF2B5EF4-FFF2-40B4-BE49-F238E27FC236}">
                <a16:creationId xmlns:a16="http://schemas.microsoft.com/office/drawing/2014/main" id="{6740493B-CE38-4D94-344B-65232B3FAC71}"/>
              </a:ext>
            </a:extLst>
          </p:cNvPr>
          <p:cNvSpPr/>
          <p:nvPr/>
        </p:nvSpPr>
        <p:spPr>
          <a:xfrm>
            <a:off x="4628142" y="3728069"/>
            <a:ext cx="89147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4B5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联网的智能设备</a:t>
            </a:r>
            <a:endParaRPr lang="en-US" sz="1600" dirty="0"/>
          </a:p>
        </p:txBody>
      </p:sp>
      <p:sp>
        <p:nvSpPr>
          <p:cNvPr id="168" name="Shape 42">
            <a:extLst>
              <a:ext uri="{FF2B5EF4-FFF2-40B4-BE49-F238E27FC236}">
                <a16:creationId xmlns:a16="http://schemas.microsoft.com/office/drawing/2014/main" id="{D898A159-86CE-3915-36A7-6A01FA603174}"/>
              </a:ext>
            </a:extLst>
          </p:cNvPr>
          <p:cNvSpPr/>
          <p:nvPr/>
        </p:nvSpPr>
        <p:spPr>
          <a:xfrm>
            <a:off x="8137269" y="1649656"/>
            <a:ext cx="3715334" cy="2433306"/>
          </a:xfrm>
          <a:custGeom>
            <a:avLst/>
            <a:gdLst/>
            <a:ahLst/>
            <a:cxnLst/>
            <a:rect l="l" t="t" r="r" b="b"/>
            <a:pathLst>
              <a:path w="3715334" h="2433306">
                <a:moveTo>
                  <a:pt x="135851" y="0"/>
                </a:moveTo>
                <a:lnTo>
                  <a:pt x="3579482" y="0"/>
                </a:lnTo>
                <a:cubicBezTo>
                  <a:pt x="3654511" y="0"/>
                  <a:pt x="3715334" y="60823"/>
                  <a:pt x="3715334" y="135851"/>
                </a:cubicBezTo>
                <a:lnTo>
                  <a:pt x="3715334" y="2297454"/>
                </a:lnTo>
                <a:cubicBezTo>
                  <a:pt x="3715334" y="2372483"/>
                  <a:pt x="3654511" y="2433306"/>
                  <a:pt x="3579482" y="2433306"/>
                </a:cubicBezTo>
                <a:lnTo>
                  <a:pt x="135851" y="2433306"/>
                </a:lnTo>
                <a:cubicBezTo>
                  <a:pt x="60823" y="2433306"/>
                  <a:pt x="0" y="2372483"/>
                  <a:pt x="0" y="2297454"/>
                </a:cubicBezTo>
                <a:lnTo>
                  <a:pt x="0" y="135851"/>
                </a:lnTo>
                <a:cubicBezTo>
                  <a:pt x="0" y="60873"/>
                  <a:pt x="60873" y="0"/>
                  <a:pt x="13585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9525"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171" name="Shape 45">
            <a:extLst>
              <a:ext uri="{FF2B5EF4-FFF2-40B4-BE49-F238E27FC236}">
                <a16:creationId xmlns:a16="http://schemas.microsoft.com/office/drawing/2014/main" id="{BB8BCF68-F979-8FD2-E419-B4BE250AC5EC}"/>
              </a:ext>
            </a:extLst>
          </p:cNvPr>
          <p:cNvSpPr/>
          <p:nvPr/>
        </p:nvSpPr>
        <p:spPr>
          <a:xfrm>
            <a:off x="8317262" y="1829649"/>
            <a:ext cx="465266" cy="465266"/>
          </a:xfrm>
          <a:custGeom>
            <a:avLst/>
            <a:gdLst/>
            <a:ahLst/>
            <a:cxnLst/>
            <a:rect l="l" t="t" r="r" b="b"/>
            <a:pathLst>
              <a:path w="465266" h="465266">
                <a:moveTo>
                  <a:pt x="101884" y="0"/>
                </a:moveTo>
                <a:lnTo>
                  <a:pt x="363382" y="0"/>
                </a:lnTo>
                <a:cubicBezTo>
                  <a:pt x="419651" y="0"/>
                  <a:pt x="465266" y="45615"/>
                  <a:pt x="465266" y="101884"/>
                </a:cubicBezTo>
                <a:lnTo>
                  <a:pt x="465266" y="363382"/>
                </a:lnTo>
                <a:cubicBezTo>
                  <a:pt x="465266" y="419651"/>
                  <a:pt x="419651" y="465266"/>
                  <a:pt x="363382" y="465266"/>
                </a:cubicBezTo>
                <a:lnTo>
                  <a:pt x="101884" y="465266"/>
                </a:lnTo>
                <a:cubicBezTo>
                  <a:pt x="45615" y="465266"/>
                  <a:pt x="0" y="419651"/>
                  <a:pt x="0" y="363382"/>
                </a:cubicBezTo>
                <a:lnTo>
                  <a:pt x="0" y="101884"/>
                </a:lnTo>
                <a:cubicBezTo>
                  <a:pt x="0" y="45653"/>
                  <a:pt x="45653" y="0"/>
                  <a:pt x="101884" y="0"/>
                </a:cubicBezTo>
                <a:close/>
              </a:path>
            </a:pathLst>
          </a:custGeom>
          <a:gradFill flip="none" rotWithShape="1">
            <a:gsLst>
              <a:gs pos="0">
                <a:srgbClr val="64FFDA">
                  <a:alpha val="20000"/>
                </a:srgbClr>
              </a:gs>
              <a:gs pos="100000">
                <a:srgbClr val="4ECDC4">
                  <a:alpha val="20000"/>
                </a:srgbClr>
              </a:gs>
            </a:gsLst>
            <a:lin ang="2700000" scaled="1"/>
          </a:gradFill>
          <a:ln w="10160">
            <a:solidFill>
              <a:srgbClr val="64FFDA">
                <a:alpha val="50196"/>
              </a:srgbClr>
            </a:solidFill>
            <a:prstDash val="solid"/>
          </a:ln>
        </p:spPr>
      </p:sp>
      <p:sp>
        <p:nvSpPr>
          <p:cNvPr id="172" name="Shape 46">
            <a:extLst>
              <a:ext uri="{FF2B5EF4-FFF2-40B4-BE49-F238E27FC236}">
                <a16:creationId xmlns:a16="http://schemas.microsoft.com/office/drawing/2014/main" id="{54408089-55C4-67BF-ADC9-D48D6B7D3601}"/>
              </a:ext>
            </a:extLst>
          </p:cNvPr>
          <p:cNvSpPr/>
          <p:nvPr/>
        </p:nvSpPr>
        <p:spPr>
          <a:xfrm>
            <a:off x="8449710" y="1962097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47758" y="22287"/>
                </a:moveTo>
                <a:cubicBezTo>
                  <a:pt x="47758" y="9989"/>
                  <a:pt x="57747" y="0"/>
                  <a:pt x="70045" y="0"/>
                </a:cubicBezTo>
                <a:lnTo>
                  <a:pt x="79596" y="0"/>
                </a:lnTo>
                <a:cubicBezTo>
                  <a:pt x="86640" y="0"/>
                  <a:pt x="92331" y="5691"/>
                  <a:pt x="92331" y="12735"/>
                </a:cubicBezTo>
                <a:lnTo>
                  <a:pt x="92331" y="191031"/>
                </a:lnTo>
                <a:cubicBezTo>
                  <a:pt x="92331" y="198075"/>
                  <a:pt x="86640" y="203766"/>
                  <a:pt x="79596" y="203766"/>
                </a:cubicBezTo>
                <a:lnTo>
                  <a:pt x="66861" y="203766"/>
                </a:lnTo>
                <a:cubicBezTo>
                  <a:pt x="55001" y="203766"/>
                  <a:pt x="45012" y="195647"/>
                  <a:pt x="42186" y="184663"/>
                </a:cubicBezTo>
                <a:cubicBezTo>
                  <a:pt x="41907" y="184663"/>
                  <a:pt x="41669" y="184663"/>
                  <a:pt x="41390" y="184663"/>
                </a:cubicBezTo>
                <a:cubicBezTo>
                  <a:pt x="23799" y="184663"/>
                  <a:pt x="9552" y="170415"/>
                  <a:pt x="9552" y="152825"/>
                </a:cubicBezTo>
                <a:cubicBezTo>
                  <a:pt x="9552" y="145661"/>
                  <a:pt x="11939" y="139054"/>
                  <a:pt x="15919" y="133721"/>
                </a:cubicBezTo>
                <a:cubicBezTo>
                  <a:pt x="8198" y="127911"/>
                  <a:pt x="3184" y="118678"/>
                  <a:pt x="3184" y="108251"/>
                </a:cubicBezTo>
                <a:cubicBezTo>
                  <a:pt x="3184" y="95953"/>
                  <a:pt x="10188" y="85247"/>
                  <a:pt x="20377" y="79954"/>
                </a:cubicBezTo>
                <a:cubicBezTo>
                  <a:pt x="17551" y="75179"/>
                  <a:pt x="15919" y="69607"/>
                  <a:pt x="15919" y="63677"/>
                </a:cubicBezTo>
                <a:cubicBezTo>
                  <a:pt x="15919" y="46086"/>
                  <a:pt x="30167" y="31838"/>
                  <a:pt x="47758" y="31838"/>
                </a:cubicBezTo>
                <a:lnTo>
                  <a:pt x="47758" y="22287"/>
                </a:lnTo>
                <a:close/>
                <a:moveTo>
                  <a:pt x="156008" y="22287"/>
                </a:moveTo>
                <a:lnTo>
                  <a:pt x="156008" y="31838"/>
                </a:lnTo>
                <a:cubicBezTo>
                  <a:pt x="173599" y="31838"/>
                  <a:pt x="187847" y="46086"/>
                  <a:pt x="187847" y="63677"/>
                </a:cubicBezTo>
                <a:cubicBezTo>
                  <a:pt x="187847" y="69647"/>
                  <a:pt x="186215" y="75218"/>
                  <a:pt x="183389" y="79954"/>
                </a:cubicBezTo>
                <a:cubicBezTo>
                  <a:pt x="193618" y="85247"/>
                  <a:pt x="200582" y="95913"/>
                  <a:pt x="200582" y="108251"/>
                </a:cubicBezTo>
                <a:cubicBezTo>
                  <a:pt x="200582" y="118678"/>
                  <a:pt x="195568" y="127911"/>
                  <a:pt x="187847" y="133721"/>
                </a:cubicBezTo>
                <a:cubicBezTo>
                  <a:pt x="191827" y="139054"/>
                  <a:pt x="194214" y="145661"/>
                  <a:pt x="194214" y="152825"/>
                </a:cubicBezTo>
                <a:cubicBezTo>
                  <a:pt x="194214" y="170415"/>
                  <a:pt x="179967" y="184663"/>
                  <a:pt x="162376" y="184663"/>
                </a:cubicBezTo>
                <a:cubicBezTo>
                  <a:pt x="162097" y="184663"/>
                  <a:pt x="161859" y="184663"/>
                  <a:pt x="161580" y="184663"/>
                </a:cubicBezTo>
                <a:cubicBezTo>
                  <a:pt x="158754" y="195647"/>
                  <a:pt x="148765" y="203766"/>
                  <a:pt x="136905" y="203766"/>
                </a:cubicBezTo>
                <a:lnTo>
                  <a:pt x="124170" y="203766"/>
                </a:lnTo>
                <a:cubicBezTo>
                  <a:pt x="117126" y="203766"/>
                  <a:pt x="111435" y="198075"/>
                  <a:pt x="111435" y="191031"/>
                </a:cubicBezTo>
                <a:lnTo>
                  <a:pt x="111435" y="12735"/>
                </a:lnTo>
                <a:cubicBezTo>
                  <a:pt x="111435" y="5691"/>
                  <a:pt x="117126" y="0"/>
                  <a:pt x="124170" y="0"/>
                </a:cubicBezTo>
                <a:lnTo>
                  <a:pt x="133721" y="0"/>
                </a:lnTo>
                <a:cubicBezTo>
                  <a:pt x="146019" y="0"/>
                  <a:pt x="156008" y="9989"/>
                  <a:pt x="156008" y="22287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73" name="Text 47">
            <a:extLst>
              <a:ext uri="{FF2B5EF4-FFF2-40B4-BE49-F238E27FC236}">
                <a16:creationId xmlns:a16="http://schemas.microsoft.com/office/drawing/2014/main" id="{57AF0FC1-BEEA-92E5-9261-61A55BD5F800}"/>
              </a:ext>
            </a:extLst>
          </p:cNvPr>
          <p:cNvSpPr/>
          <p:nvPr/>
        </p:nvSpPr>
        <p:spPr>
          <a:xfrm>
            <a:off x="8891203" y="1851724"/>
            <a:ext cx="141787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kern="0" spc="47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第三代</a:t>
            </a:r>
            <a:endParaRPr lang="en-US" sz="1600" dirty="0"/>
          </a:p>
        </p:txBody>
      </p:sp>
      <p:sp>
        <p:nvSpPr>
          <p:cNvPr id="174" name="Text 48">
            <a:extLst>
              <a:ext uri="{FF2B5EF4-FFF2-40B4-BE49-F238E27FC236}">
                <a16:creationId xmlns:a16="http://schemas.microsoft.com/office/drawing/2014/main" id="{13C9457F-DFEC-39FA-DD75-F9114BB6B01D}"/>
              </a:ext>
            </a:extLst>
          </p:cNvPr>
          <p:cNvSpPr/>
          <p:nvPr/>
        </p:nvSpPr>
        <p:spPr>
          <a:xfrm>
            <a:off x="8891203" y="2038509"/>
            <a:ext cx="144334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CCD6F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全生命周期智能体</a:t>
            </a:r>
            <a:endParaRPr lang="en-US" sz="1600" dirty="0"/>
          </a:p>
        </p:txBody>
      </p:sp>
      <p:sp>
        <p:nvSpPr>
          <p:cNvPr id="175" name="Shape 49">
            <a:extLst>
              <a:ext uri="{FF2B5EF4-FFF2-40B4-BE49-F238E27FC236}">
                <a16:creationId xmlns:a16="http://schemas.microsoft.com/office/drawing/2014/main" id="{41A69538-EAC8-AFF9-9D77-B568E6610B81}"/>
              </a:ext>
            </a:extLst>
          </p:cNvPr>
          <p:cNvSpPr/>
          <p:nvPr/>
        </p:nvSpPr>
        <p:spPr>
          <a:xfrm>
            <a:off x="8313866" y="2505473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FFDA"/>
          </a:solidFill>
          <a:ln/>
          <a:effectLst>
            <a:outerShdw blurRad="67922" dist="50800" dir="2700000" algn="bl" rotWithShape="0">
              <a:srgbClr val="64FFDA">
                <a:alpha val="100000"/>
              </a:srgbClr>
            </a:outerShdw>
          </a:effectLst>
        </p:spPr>
      </p:sp>
      <p:sp>
        <p:nvSpPr>
          <p:cNvPr id="176" name="Text 50">
            <a:extLst>
              <a:ext uri="{FF2B5EF4-FFF2-40B4-BE49-F238E27FC236}">
                <a16:creationId xmlns:a16="http://schemas.microsoft.com/office/drawing/2014/main" id="{61936526-ACE7-E67F-E94A-64286E749166}"/>
              </a:ext>
            </a:extLst>
          </p:cNvPr>
          <p:cNvSpPr/>
          <p:nvPr/>
        </p:nvSpPr>
        <p:spPr>
          <a:xfrm>
            <a:off x="8449710" y="2437551"/>
            <a:ext cx="2428212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四项耦合：</a:t>
            </a:r>
            <a:r>
              <a:rPr lang="en-US" sz="1070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电-热-力-老化多维算法融合</a:t>
            </a:r>
            <a:endParaRPr lang="en-US" sz="1600" dirty="0"/>
          </a:p>
        </p:txBody>
      </p:sp>
      <p:sp>
        <p:nvSpPr>
          <p:cNvPr id="177" name="Shape 51">
            <a:extLst>
              <a:ext uri="{FF2B5EF4-FFF2-40B4-BE49-F238E27FC236}">
                <a16:creationId xmlns:a16="http://schemas.microsoft.com/office/drawing/2014/main" id="{17DA5026-A1B3-FEF3-B754-EECDEB7D1721}"/>
              </a:ext>
            </a:extLst>
          </p:cNvPr>
          <p:cNvSpPr/>
          <p:nvPr/>
        </p:nvSpPr>
        <p:spPr>
          <a:xfrm>
            <a:off x="8313866" y="2794142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FFDA"/>
          </a:solidFill>
          <a:ln/>
          <a:effectLst>
            <a:outerShdw blurRad="67922" dist="50800" dir="2700000" algn="bl" rotWithShape="0">
              <a:srgbClr val="64FFDA">
                <a:alpha val="100000"/>
              </a:srgbClr>
            </a:outerShdw>
          </a:effectLst>
        </p:spPr>
      </p:sp>
      <p:sp>
        <p:nvSpPr>
          <p:cNvPr id="178" name="Text 52">
            <a:extLst>
              <a:ext uri="{FF2B5EF4-FFF2-40B4-BE49-F238E27FC236}">
                <a16:creationId xmlns:a16="http://schemas.microsoft.com/office/drawing/2014/main" id="{1316F013-7569-A857-A8FB-62439F0E5CAB}"/>
              </a:ext>
            </a:extLst>
          </p:cNvPr>
          <p:cNvSpPr/>
          <p:nvPr/>
        </p:nvSpPr>
        <p:spPr>
          <a:xfrm>
            <a:off x="8449710" y="2726220"/>
            <a:ext cx="2360290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事前预防：</a:t>
            </a:r>
            <a:r>
              <a:rPr lang="en-US" sz="1070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AI预测潜在风险，主动干预</a:t>
            </a:r>
            <a:endParaRPr lang="en-US" sz="1600" dirty="0"/>
          </a:p>
        </p:txBody>
      </p:sp>
      <p:sp>
        <p:nvSpPr>
          <p:cNvPr id="179" name="Shape 53">
            <a:extLst>
              <a:ext uri="{FF2B5EF4-FFF2-40B4-BE49-F238E27FC236}">
                <a16:creationId xmlns:a16="http://schemas.microsoft.com/office/drawing/2014/main" id="{B4D33E48-D5EA-6397-B740-60915CFA8D5E}"/>
              </a:ext>
            </a:extLst>
          </p:cNvPr>
          <p:cNvSpPr/>
          <p:nvPr/>
        </p:nvSpPr>
        <p:spPr>
          <a:xfrm>
            <a:off x="8313866" y="3082810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FFDA"/>
          </a:solidFill>
          <a:ln/>
          <a:effectLst>
            <a:outerShdw blurRad="67922" dist="50800" dir="2700000" algn="bl" rotWithShape="0">
              <a:srgbClr val="64FFDA">
                <a:alpha val="100000"/>
              </a:srgbClr>
            </a:outerShdw>
          </a:effectLst>
        </p:spPr>
      </p:sp>
      <p:sp>
        <p:nvSpPr>
          <p:cNvPr id="180" name="Text 54">
            <a:extLst>
              <a:ext uri="{FF2B5EF4-FFF2-40B4-BE49-F238E27FC236}">
                <a16:creationId xmlns:a16="http://schemas.microsoft.com/office/drawing/2014/main" id="{91FE13FA-6C12-8224-40D2-0F82EDB70B94}"/>
              </a:ext>
            </a:extLst>
          </p:cNvPr>
          <p:cNvSpPr/>
          <p:nvPr/>
        </p:nvSpPr>
        <p:spPr>
          <a:xfrm>
            <a:off x="8449710" y="3014888"/>
            <a:ext cx="2513114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主动免疫：</a:t>
            </a:r>
            <a:r>
              <a:rPr lang="en-US" sz="1070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自主识别威胁并执行安全策略</a:t>
            </a:r>
            <a:endParaRPr lang="en-US" sz="1600" dirty="0"/>
          </a:p>
        </p:txBody>
      </p:sp>
      <p:sp>
        <p:nvSpPr>
          <p:cNvPr id="181" name="Shape 55">
            <a:extLst>
              <a:ext uri="{FF2B5EF4-FFF2-40B4-BE49-F238E27FC236}">
                <a16:creationId xmlns:a16="http://schemas.microsoft.com/office/drawing/2014/main" id="{DF3BF3E0-A88F-469D-EB19-FF0F11109FE8}"/>
              </a:ext>
            </a:extLst>
          </p:cNvPr>
          <p:cNvSpPr/>
          <p:nvPr/>
        </p:nvSpPr>
        <p:spPr>
          <a:xfrm>
            <a:off x="8313866" y="3371479"/>
            <a:ext cx="50942" cy="50942"/>
          </a:xfrm>
          <a:custGeom>
            <a:avLst/>
            <a:gdLst/>
            <a:ahLst/>
            <a:cxnLst/>
            <a:rect l="l" t="t" r="r" b="b"/>
            <a:pathLst>
              <a:path w="50942" h="50942">
                <a:moveTo>
                  <a:pt x="25471" y="0"/>
                </a:moveTo>
                <a:lnTo>
                  <a:pt x="25471" y="0"/>
                </a:lnTo>
                <a:cubicBezTo>
                  <a:pt x="39538" y="0"/>
                  <a:pt x="50942" y="11404"/>
                  <a:pt x="50942" y="25471"/>
                </a:cubicBezTo>
                <a:lnTo>
                  <a:pt x="50942" y="25471"/>
                </a:lnTo>
                <a:cubicBezTo>
                  <a:pt x="50942" y="39538"/>
                  <a:pt x="39538" y="50942"/>
                  <a:pt x="25471" y="50942"/>
                </a:cubicBezTo>
                <a:lnTo>
                  <a:pt x="25471" y="50942"/>
                </a:lnTo>
                <a:cubicBezTo>
                  <a:pt x="11404" y="50942"/>
                  <a:pt x="0" y="39538"/>
                  <a:pt x="0" y="25471"/>
                </a:cubicBezTo>
                <a:lnTo>
                  <a:pt x="0" y="25471"/>
                </a:lnTo>
                <a:cubicBezTo>
                  <a:pt x="0" y="11404"/>
                  <a:pt x="11404" y="0"/>
                  <a:pt x="25471" y="0"/>
                </a:cubicBezTo>
                <a:close/>
              </a:path>
            </a:pathLst>
          </a:custGeom>
          <a:solidFill>
            <a:srgbClr val="64FFDA"/>
          </a:solidFill>
          <a:ln/>
          <a:effectLst>
            <a:outerShdw blurRad="67922" dist="50800" dir="2700000" algn="bl" rotWithShape="0">
              <a:srgbClr val="64FFDA">
                <a:alpha val="100000"/>
              </a:srgbClr>
            </a:outerShdw>
          </a:effectLst>
        </p:spPr>
      </p:sp>
      <p:sp>
        <p:nvSpPr>
          <p:cNvPr id="182" name="Text 56">
            <a:extLst>
              <a:ext uri="{FF2B5EF4-FFF2-40B4-BE49-F238E27FC236}">
                <a16:creationId xmlns:a16="http://schemas.microsoft.com/office/drawing/2014/main" id="{B529766C-9A61-2C34-615A-29E7D145ED55}"/>
              </a:ext>
            </a:extLst>
          </p:cNvPr>
          <p:cNvSpPr/>
          <p:nvPr/>
        </p:nvSpPr>
        <p:spPr>
          <a:xfrm>
            <a:off x="8449710" y="3303557"/>
            <a:ext cx="2241426" cy="18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赋予五感：</a:t>
            </a:r>
            <a:r>
              <a:rPr lang="en-US" sz="1070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全方位感知电池健康状态</a:t>
            </a:r>
            <a:endParaRPr lang="en-US" sz="1600" dirty="0"/>
          </a:p>
        </p:txBody>
      </p:sp>
      <p:sp>
        <p:nvSpPr>
          <p:cNvPr id="183" name="Shape 57">
            <a:extLst>
              <a:ext uri="{FF2B5EF4-FFF2-40B4-BE49-F238E27FC236}">
                <a16:creationId xmlns:a16="http://schemas.microsoft.com/office/drawing/2014/main" id="{46F88D1E-BD2C-8402-5318-A69B59CE7BC0}"/>
              </a:ext>
            </a:extLst>
          </p:cNvPr>
          <p:cNvSpPr/>
          <p:nvPr/>
        </p:nvSpPr>
        <p:spPr>
          <a:xfrm>
            <a:off x="8313866" y="3629582"/>
            <a:ext cx="3362139" cy="6792"/>
          </a:xfrm>
          <a:custGeom>
            <a:avLst/>
            <a:gdLst/>
            <a:ahLst/>
            <a:cxnLst/>
            <a:rect l="l" t="t" r="r" b="b"/>
            <a:pathLst>
              <a:path w="3362139" h="6792">
                <a:moveTo>
                  <a:pt x="0" y="0"/>
                </a:moveTo>
                <a:lnTo>
                  <a:pt x="3362139" y="0"/>
                </a:lnTo>
                <a:lnTo>
                  <a:pt x="3362139" y="6792"/>
                </a:lnTo>
                <a:lnTo>
                  <a:pt x="0" y="6792"/>
                </a:lnTo>
                <a:lnTo>
                  <a:pt x="0" y="0"/>
                </a:lnTo>
                <a:close/>
              </a:path>
            </a:pathLst>
          </a:custGeom>
          <a:solidFill>
            <a:srgbClr val="64FFDA">
              <a:alpha val="30196"/>
            </a:srgbClr>
          </a:solidFill>
          <a:ln/>
        </p:spPr>
      </p:sp>
      <p:sp>
        <p:nvSpPr>
          <p:cNvPr id="184" name="Shape 58">
            <a:extLst>
              <a:ext uri="{FF2B5EF4-FFF2-40B4-BE49-F238E27FC236}">
                <a16:creationId xmlns:a16="http://schemas.microsoft.com/office/drawing/2014/main" id="{F46AAE13-8171-9E09-507C-CB04746DBC78}"/>
              </a:ext>
            </a:extLst>
          </p:cNvPr>
          <p:cNvSpPr/>
          <p:nvPr/>
        </p:nvSpPr>
        <p:spPr>
          <a:xfrm>
            <a:off x="8345704" y="3760332"/>
            <a:ext cx="89148" cy="118864"/>
          </a:xfrm>
          <a:custGeom>
            <a:avLst/>
            <a:gdLst/>
            <a:ahLst/>
            <a:cxnLst/>
            <a:rect l="l" t="t" r="r" b="b"/>
            <a:pathLst>
              <a:path w="89148" h="118864">
                <a:moveTo>
                  <a:pt x="81719" y="0"/>
                </a:moveTo>
                <a:cubicBezTo>
                  <a:pt x="85828" y="0"/>
                  <a:pt x="89148" y="3320"/>
                  <a:pt x="89148" y="7429"/>
                </a:cubicBezTo>
                <a:cubicBezTo>
                  <a:pt x="89148" y="20848"/>
                  <a:pt x="83483" y="31759"/>
                  <a:pt x="75822" y="40975"/>
                </a:cubicBezTo>
                <a:cubicBezTo>
                  <a:pt x="70227" y="47685"/>
                  <a:pt x="63332" y="53767"/>
                  <a:pt x="56414" y="59432"/>
                </a:cubicBezTo>
                <a:cubicBezTo>
                  <a:pt x="63332" y="65120"/>
                  <a:pt x="70227" y="71179"/>
                  <a:pt x="75822" y="77888"/>
                </a:cubicBezTo>
                <a:cubicBezTo>
                  <a:pt x="83483" y="87081"/>
                  <a:pt x="89148" y="98016"/>
                  <a:pt x="89148" y="111435"/>
                </a:cubicBezTo>
                <a:cubicBezTo>
                  <a:pt x="89148" y="115544"/>
                  <a:pt x="85828" y="118864"/>
                  <a:pt x="81719" y="118864"/>
                </a:cubicBezTo>
                <a:cubicBezTo>
                  <a:pt x="77610" y="118864"/>
                  <a:pt x="74290" y="115544"/>
                  <a:pt x="74290" y="111435"/>
                </a:cubicBezTo>
                <a:lnTo>
                  <a:pt x="14858" y="111435"/>
                </a:lnTo>
                <a:cubicBezTo>
                  <a:pt x="14858" y="115544"/>
                  <a:pt x="11538" y="118864"/>
                  <a:pt x="7429" y="118864"/>
                </a:cubicBezTo>
                <a:cubicBezTo>
                  <a:pt x="3320" y="118864"/>
                  <a:pt x="0" y="115544"/>
                  <a:pt x="0" y="111435"/>
                </a:cubicBezTo>
                <a:cubicBezTo>
                  <a:pt x="0" y="98016"/>
                  <a:pt x="5665" y="87105"/>
                  <a:pt x="13326" y="77888"/>
                </a:cubicBezTo>
                <a:cubicBezTo>
                  <a:pt x="18921" y="71179"/>
                  <a:pt x="25816" y="65120"/>
                  <a:pt x="32734" y="59432"/>
                </a:cubicBezTo>
                <a:cubicBezTo>
                  <a:pt x="25816" y="53744"/>
                  <a:pt x="18921" y="47685"/>
                  <a:pt x="13326" y="40975"/>
                </a:cubicBezTo>
                <a:cubicBezTo>
                  <a:pt x="5665" y="31759"/>
                  <a:pt x="0" y="20848"/>
                  <a:pt x="0" y="7429"/>
                </a:cubicBezTo>
                <a:cubicBezTo>
                  <a:pt x="0" y="3320"/>
                  <a:pt x="3320" y="0"/>
                  <a:pt x="7429" y="0"/>
                </a:cubicBezTo>
                <a:cubicBezTo>
                  <a:pt x="11538" y="0"/>
                  <a:pt x="14858" y="3320"/>
                  <a:pt x="14858" y="7429"/>
                </a:cubicBezTo>
                <a:lnTo>
                  <a:pt x="74290" y="7429"/>
                </a:lnTo>
                <a:cubicBezTo>
                  <a:pt x="74290" y="3320"/>
                  <a:pt x="77610" y="0"/>
                  <a:pt x="81719" y="0"/>
                </a:cubicBezTo>
                <a:close/>
                <a:moveTo>
                  <a:pt x="65816" y="89148"/>
                </a:moveTo>
                <a:lnTo>
                  <a:pt x="23355" y="89148"/>
                </a:lnTo>
                <a:cubicBezTo>
                  <a:pt x="21451" y="91585"/>
                  <a:pt x="19849" y="94046"/>
                  <a:pt x="18572" y="96577"/>
                </a:cubicBezTo>
                <a:lnTo>
                  <a:pt x="70622" y="96577"/>
                </a:lnTo>
                <a:cubicBezTo>
                  <a:pt x="69322" y="94046"/>
                  <a:pt x="67720" y="91585"/>
                  <a:pt x="65839" y="89148"/>
                </a:cubicBezTo>
                <a:close/>
                <a:moveTo>
                  <a:pt x="55253" y="78004"/>
                </a:moveTo>
                <a:cubicBezTo>
                  <a:pt x="51933" y="74986"/>
                  <a:pt x="48335" y="72015"/>
                  <a:pt x="44574" y="68950"/>
                </a:cubicBezTo>
                <a:cubicBezTo>
                  <a:pt x="40813" y="71991"/>
                  <a:pt x="37214" y="74986"/>
                  <a:pt x="33895" y="78004"/>
                </a:cubicBezTo>
                <a:lnTo>
                  <a:pt x="55253" y="78004"/>
                </a:lnTo>
                <a:close/>
                <a:moveTo>
                  <a:pt x="23332" y="29716"/>
                </a:moveTo>
                <a:lnTo>
                  <a:pt x="65793" y="29716"/>
                </a:lnTo>
                <a:cubicBezTo>
                  <a:pt x="67696" y="27278"/>
                  <a:pt x="69298" y="24817"/>
                  <a:pt x="70575" y="22287"/>
                </a:cubicBezTo>
                <a:lnTo>
                  <a:pt x="18549" y="22287"/>
                </a:lnTo>
                <a:cubicBezTo>
                  <a:pt x="19849" y="24817"/>
                  <a:pt x="21451" y="27278"/>
                  <a:pt x="23332" y="29716"/>
                </a:cubicBezTo>
                <a:close/>
                <a:moveTo>
                  <a:pt x="33895" y="40859"/>
                </a:moveTo>
                <a:cubicBezTo>
                  <a:pt x="37214" y="43877"/>
                  <a:pt x="40813" y="46849"/>
                  <a:pt x="44574" y="49913"/>
                </a:cubicBezTo>
                <a:cubicBezTo>
                  <a:pt x="48335" y="46872"/>
                  <a:pt x="51933" y="43877"/>
                  <a:pt x="55253" y="40859"/>
                </a:cubicBezTo>
                <a:lnTo>
                  <a:pt x="33895" y="40859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85" name="Text 59">
            <a:extLst>
              <a:ext uri="{FF2B5EF4-FFF2-40B4-BE49-F238E27FC236}">
                <a16:creationId xmlns:a16="http://schemas.microsoft.com/office/drawing/2014/main" id="{6AC99325-1A44-4927-4EFC-E082EB530488}"/>
              </a:ext>
            </a:extLst>
          </p:cNvPr>
          <p:cNvSpPr/>
          <p:nvPr/>
        </p:nvSpPr>
        <p:spPr>
          <a:xfrm>
            <a:off x="8530367" y="3734861"/>
            <a:ext cx="77261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数字化生命体</a:t>
            </a:r>
            <a:endParaRPr lang="en-US" sz="1600" dirty="0"/>
          </a:p>
        </p:txBody>
      </p:sp>
      <p:sp>
        <p:nvSpPr>
          <p:cNvPr id="186" name="Shape 60">
            <a:extLst>
              <a:ext uri="{FF2B5EF4-FFF2-40B4-BE49-F238E27FC236}">
                <a16:creationId xmlns:a16="http://schemas.microsoft.com/office/drawing/2014/main" id="{9F2448B1-E911-2AED-FE46-23BF1ACB2589}"/>
              </a:ext>
            </a:extLst>
          </p:cNvPr>
          <p:cNvSpPr/>
          <p:nvPr/>
        </p:nvSpPr>
        <p:spPr>
          <a:xfrm>
            <a:off x="343006" y="4261257"/>
            <a:ext cx="11511082" cy="2256709"/>
          </a:xfrm>
          <a:custGeom>
            <a:avLst/>
            <a:gdLst/>
            <a:ahLst/>
            <a:cxnLst/>
            <a:rect l="l" t="t" r="r" b="b"/>
            <a:pathLst>
              <a:path w="11511082" h="2256709">
                <a:moveTo>
                  <a:pt x="135854" y="0"/>
                </a:moveTo>
                <a:lnTo>
                  <a:pt x="11375228" y="0"/>
                </a:lnTo>
                <a:cubicBezTo>
                  <a:pt x="11450258" y="0"/>
                  <a:pt x="11511082" y="60824"/>
                  <a:pt x="11511082" y="135854"/>
                </a:cubicBezTo>
                <a:lnTo>
                  <a:pt x="11511082" y="2120855"/>
                </a:lnTo>
                <a:cubicBezTo>
                  <a:pt x="11511082" y="2195885"/>
                  <a:pt x="11450258" y="2256709"/>
                  <a:pt x="11375228" y="2256709"/>
                </a:cubicBezTo>
                <a:lnTo>
                  <a:pt x="135854" y="2256709"/>
                </a:lnTo>
                <a:cubicBezTo>
                  <a:pt x="60824" y="2256709"/>
                  <a:pt x="0" y="2195885"/>
                  <a:pt x="0" y="2120855"/>
                </a:cubicBezTo>
                <a:lnTo>
                  <a:pt x="0" y="135854"/>
                </a:lnTo>
                <a:cubicBezTo>
                  <a:pt x="0" y="60874"/>
                  <a:pt x="60874" y="0"/>
                  <a:pt x="13585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9525"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prstDash val="solid"/>
          </a:ln>
        </p:spPr>
      </p:sp>
      <p:sp>
        <p:nvSpPr>
          <p:cNvPr id="187" name="Shape 61">
            <a:extLst>
              <a:ext uri="{FF2B5EF4-FFF2-40B4-BE49-F238E27FC236}">
                <a16:creationId xmlns:a16="http://schemas.microsoft.com/office/drawing/2014/main" id="{28E019D8-4417-4056-C120-12BCA2364F75}"/>
              </a:ext>
            </a:extLst>
          </p:cNvPr>
          <p:cNvSpPr/>
          <p:nvPr/>
        </p:nvSpPr>
        <p:spPr>
          <a:xfrm>
            <a:off x="537433" y="4811213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42451" y="106128"/>
                </a:moveTo>
                <a:lnTo>
                  <a:pt x="8125" y="106128"/>
                </a:lnTo>
                <a:cubicBezTo>
                  <a:pt x="-133" y="106128"/>
                  <a:pt x="-5207" y="97140"/>
                  <a:pt x="-962" y="90043"/>
                </a:cubicBezTo>
                <a:lnTo>
                  <a:pt x="16583" y="60792"/>
                </a:lnTo>
                <a:cubicBezTo>
                  <a:pt x="19468" y="55983"/>
                  <a:pt x="24642" y="53064"/>
                  <a:pt x="30247" y="53064"/>
                </a:cubicBezTo>
                <a:lnTo>
                  <a:pt x="61753" y="53064"/>
                </a:lnTo>
                <a:cubicBezTo>
                  <a:pt x="86992" y="10314"/>
                  <a:pt x="124634" y="8159"/>
                  <a:pt x="149806" y="11840"/>
                </a:cubicBezTo>
                <a:cubicBezTo>
                  <a:pt x="154052" y="12470"/>
                  <a:pt x="157368" y="15787"/>
                  <a:pt x="157965" y="19999"/>
                </a:cubicBezTo>
                <a:cubicBezTo>
                  <a:pt x="161646" y="45171"/>
                  <a:pt x="159491" y="82813"/>
                  <a:pt x="116741" y="108052"/>
                </a:cubicBezTo>
                <a:lnTo>
                  <a:pt x="116741" y="139558"/>
                </a:lnTo>
                <a:cubicBezTo>
                  <a:pt x="116741" y="145163"/>
                  <a:pt x="113822" y="150337"/>
                  <a:pt x="109013" y="153222"/>
                </a:cubicBezTo>
                <a:lnTo>
                  <a:pt x="79762" y="170767"/>
                </a:lnTo>
                <a:cubicBezTo>
                  <a:pt x="72698" y="175012"/>
                  <a:pt x="63677" y="169905"/>
                  <a:pt x="63677" y="161680"/>
                </a:cubicBezTo>
                <a:lnTo>
                  <a:pt x="63677" y="127354"/>
                </a:lnTo>
                <a:cubicBezTo>
                  <a:pt x="63677" y="115647"/>
                  <a:pt x="54159" y="106128"/>
                  <a:pt x="42451" y="106128"/>
                </a:cubicBezTo>
                <a:lnTo>
                  <a:pt x="42418" y="106128"/>
                </a:lnTo>
                <a:close/>
                <a:moveTo>
                  <a:pt x="132660" y="53064"/>
                </a:moveTo>
                <a:cubicBezTo>
                  <a:pt x="132660" y="44278"/>
                  <a:pt x="125527" y="37145"/>
                  <a:pt x="116741" y="37145"/>
                </a:cubicBezTo>
                <a:cubicBezTo>
                  <a:pt x="107955" y="37145"/>
                  <a:pt x="100822" y="44278"/>
                  <a:pt x="100822" y="53064"/>
                </a:cubicBezTo>
                <a:cubicBezTo>
                  <a:pt x="100822" y="61850"/>
                  <a:pt x="107955" y="68983"/>
                  <a:pt x="116741" y="68983"/>
                </a:cubicBezTo>
                <a:cubicBezTo>
                  <a:pt x="125527" y="68983"/>
                  <a:pt x="132660" y="61850"/>
                  <a:pt x="132660" y="53064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/>
        </p:spPr>
      </p:sp>
      <p:sp>
        <p:nvSpPr>
          <p:cNvPr id="188" name="Text 62">
            <a:extLst>
              <a:ext uri="{FF2B5EF4-FFF2-40B4-BE49-F238E27FC236}">
                <a16:creationId xmlns:a16="http://schemas.microsoft.com/office/drawing/2014/main" id="{4B840C8A-DE43-BE60-042F-0A0D89B7C1ED}"/>
              </a:ext>
            </a:extLst>
          </p:cNvPr>
          <p:cNvSpPr/>
          <p:nvPr/>
        </p:nvSpPr>
        <p:spPr>
          <a:xfrm>
            <a:off x="755087" y="4777252"/>
            <a:ext cx="719973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CCD6F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范式跃迁：从信息孤岛到智慧闭环</a:t>
            </a:r>
            <a:endParaRPr lang="en-US" sz="1600" dirty="0"/>
          </a:p>
        </p:txBody>
      </p:sp>
      <p:sp>
        <p:nvSpPr>
          <p:cNvPr id="189" name="Shape 63">
            <a:extLst>
              <a:ext uri="{FF2B5EF4-FFF2-40B4-BE49-F238E27FC236}">
                <a16:creationId xmlns:a16="http://schemas.microsoft.com/office/drawing/2014/main" id="{25B9D2CA-AF87-DEEE-AE2E-8E9B712A5D3E}"/>
              </a:ext>
            </a:extLst>
          </p:cNvPr>
          <p:cNvSpPr/>
          <p:nvPr/>
        </p:nvSpPr>
        <p:spPr>
          <a:xfrm>
            <a:off x="519603" y="5171199"/>
            <a:ext cx="329422" cy="329422"/>
          </a:xfrm>
          <a:custGeom>
            <a:avLst/>
            <a:gdLst/>
            <a:ahLst/>
            <a:cxnLst/>
            <a:rect l="l" t="t" r="r" b="b"/>
            <a:pathLst>
              <a:path w="329422" h="329422">
                <a:moveTo>
                  <a:pt x="67923" y="0"/>
                </a:moveTo>
                <a:lnTo>
                  <a:pt x="261498" y="0"/>
                </a:lnTo>
                <a:cubicBezTo>
                  <a:pt x="298986" y="0"/>
                  <a:pt x="329422" y="30435"/>
                  <a:pt x="329422" y="67923"/>
                </a:cubicBezTo>
                <a:lnTo>
                  <a:pt x="329422" y="261498"/>
                </a:lnTo>
                <a:cubicBezTo>
                  <a:pt x="329422" y="298986"/>
                  <a:pt x="298986" y="329422"/>
                  <a:pt x="261498" y="329422"/>
                </a:cubicBezTo>
                <a:lnTo>
                  <a:pt x="67923" y="329422"/>
                </a:lnTo>
                <a:cubicBezTo>
                  <a:pt x="30435" y="329422"/>
                  <a:pt x="0" y="298986"/>
                  <a:pt x="0" y="26149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chemeClr val="accent4">
              <a:lumMod val="50000"/>
              <a:alpha val="10196"/>
            </a:schemeClr>
          </a:solidFill>
          <a:ln w="10160">
            <a:solidFill>
              <a:schemeClr val="accent4">
                <a:lumMod val="50000"/>
                <a:alpha val="30000"/>
              </a:schemeClr>
            </a:solidFill>
            <a:prstDash val="solid"/>
          </a:ln>
        </p:spPr>
      </p:sp>
      <p:sp>
        <p:nvSpPr>
          <p:cNvPr id="190" name="Shape 64">
            <a:extLst>
              <a:ext uri="{FF2B5EF4-FFF2-40B4-BE49-F238E27FC236}">
                <a16:creationId xmlns:a16="http://schemas.microsoft.com/office/drawing/2014/main" id="{77F8A8B5-287B-D2C8-9D67-5A86224579E1}"/>
              </a:ext>
            </a:extLst>
          </p:cNvPr>
          <p:cNvSpPr/>
          <p:nvPr/>
        </p:nvSpPr>
        <p:spPr>
          <a:xfrm>
            <a:off x="611723" y="5261196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150019" y="83158"/>
                </a:moveTo>
                <a:cubicBezTo>
                  <a:pt x="153750" y="79427"/>
                  <a:pt x="153750" y="73368"/>
                  <a:pt x="150019" y="69637"/>
                </a:cubicBezTo>
                <a:lnTo>
                  <a:pt x="102261" y="21879"/>
                </a:lnTo>
                <a:cubicBezTo>
                  <a:pt x="98530" y="18148"/>
                  <a:pt x="92471" y="18148"/>
                  <a:pt x="88740" y="21879"/>
                </a:cubicBezTo>
                <a:cubicBezTo>
                  <a:pt x="85009" y="25610"/>
                  <a:pt x="85009" y="31669"/>
                  <a:pt x="88740" y="35400"/>
                </a:cubicBezTo>
                <a:lnTo>
                  <a:pt x="120200" y="66861"/>
                </a:lnTo>
                <a:lnTo>
                  <a:pt x="9552" y="66861"/>
                </a:lnTo>
                <a:cubicBezTo>
                  <a:pt x="4268" y="66861"/>
                  <a:pt x="0" y="71129"/>
                  <a:pt x="0" y="76412"/>
                </a:cubicBezTo>
                <a:cubicBezTo>
                  <a:pt x="0" y="81695"/>
                  <a:pt x="4268" y="85964"/>
                  <a:pt x="9552" y="85964"/>
                </a:cubicBezTo>
                <a:lnTo>
                  <a:pt x="120200" y="85964"/>
                </a:lnTo>
                <a:lnTo>
                  <a:pt x="88740" y="117424"/>
                </a:lnTo>
                <a:cubicBezTo>
                  <a:pt x="85009" y="121155"/>
                  <a:pt x="85009" y="127214"/>
                  <a:pt x="88740" y="130946"/>
                </a:cubicBezTo>
                <a:cubicBezTo>
                  <a:pt x="92471" y="134677"/>
                  <a:pt x="98530" y="134677"/>
                  <a:pt x="102261" y="130946"/>
                </a:cubicBezTo>
                <a:lnTo>
                  <a:pt x="150019" y="83188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/>
        </p:spPr>
      </p:sp>
      <p:sp>
        <p:nvSpPr>
          <p:cNvPr id="216" name="Text 65">
            <a:extLst>
              <a:ext uri="{FF2B5EF4-FFF2-40B4-BE49-F238E27FC236}">
                <a16:creationId xmlns:a16="http://schemas.microsoft.com/office/drawing/2014/main" id="{894D466D-E741-317D-ECF7-7089C49A768B}"/>
              </a:ext>
            </a:extLst>
          </p:cNvPr>
          <p:cNvSpPr/>
          <p:nvPr/>
        </p:nvSpPr>
        <p:spPr>
          <a:xfrm>
            <a:off x="957700" y="5150823"/>
            <a:ext cx="73865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从事后报警</a:t>
            </a:r>
            <a:endParaRPr lang="en-US" sz="1600" dirty="0"/>
          </a:p>
        </p:txBody>
      </p:sp>
      <p:sp>
        <p:nvSpPr>
          <p:cNvPr id="217" name="Text 66">
            <a:extLst>
              <a:ext uri="{FF2B5EF4-FFF2-40B4-BE49-F238E27FC236}">
                <a16:creationId xmlns:a16="http://schemas.microsoft.com/office/drawing/2014/main" id="{E81AC5B8-A15F-2F99-FEAA-9B476FD8D052}"/>
              </a:ext>
            </a:extLst>
          </p:cNvPr>
          <p:cNvSpPr/>
          <p:nvPr/>
        </p:nvSpPr>
        <p:spPr>
          <a:xfrm>
            <a:off x="957700" y="5320628"/>
            <a:ext cx="74714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到事前预防</a:t>
            </a:r>
            <a:endParaRPr lang="en-US" sz="1600" dirty="0"/>
          </a:p>
        </p:txBody>
      </p:sp>
      <p:sp>
        <p:nvSpPr>
          <p:cNvPr id="220" name="Text 69">
            <a:extLst>
              <a:ext uri="{FF2B5EF4-FFF2-40B4-BE49-F238E27FC236}">
                <a16:creationId xmlns:a16="http://schemas.microsoft.com/office/drawing/2014/main" id="{D1A3189F-F1CC-9F0D-C856-DE9F8AC1E5ED}"/>
              </a:ext>
            </a:extLst>
          </p:cNvPr>
          <p:cNvSpPr/>
          <p:nvPr/>
        </p:nvSpPr>
        <p:spPr>
          <a:xfrm>
            <a:off x="4756345" y="5150823"/>
            <a:ext cx="73865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从被动响应</a:t>
            </a:r>
            <a:endParaRPr lang="en-US" sz="1600" dirty="0"/>
          </a:p>
        </p:txBody>
      </p:sp>
      <p:sp>
        <p:nvSpPr>
          <p:cNvPr id="221" name="Text 70">
            <a:extLst>
              <a:ext uri="{FF2B5EF4-FFF2-40B4-BE49-F238E27FC236}">
                <a16:creationId xmlns:a16="http://schemas.microsoft.com/office/drawing/2014/main" id="{504CD662-1EA7-03D5-72AD-8EE64EAA8D64}"/>
              </a:ext>
            </a:extLst>
          </p:cNvPr>
          <p:cNvSpPr/>
          <p:nvPr/>
        </p:nvSpPr>
        <p:spPr>
          <a:xfrm>
            <a:off x="4756345" y="5320628"/>
            <a:ext cx="74714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到主动免疫</a:t>
            </a:r>
            <a:endParaRPr lang="en-US" sz="1600" dirty="0"/>
          </a:p>
        </p:txBody>
      </p:sp>
      <p:sp>
        <p:nvSpPr>
          <p:cNvPr id="224" name="Text 73">
            <a:extLst>
              <a:ext uri="{FF2B5EF4-FFF2-40B4-BE49-F238E27FC236}">
                <a16:creationId xmlns:a16="http://schemas.microsoft.com/office/drawing/2014/main" id="{4067E2DB-993F-696E-C151-654AA6216697}"/>
              </a:ext>
            </a:extLst>
          </p:cNvPr>
          <p:cNvSpPr/>
          <p:nvPr/>
        </p:nvSpPr>
        <p:spPr>
          <a:xfrm>
            <a:off x="957700" y="5626277"/>
            <a:ext cx="73865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从单一监测</a:t>
            </a:r>
            <a:endParaRPr lang="en-US" sz="1600" dirty="0"/>
          </a:p>
        </p:txBody>
      </p:sp>
      <p:sp>
        <p:nvSpPr>
          <p:cNvPr id="225" name="Text 74">
            <a:extLst>
              <a:ext uri="{FF2B5EF4-FFF2-40B4-BE49-F238E27FC236}">
                <a16:creationId xmlns:a16="http://schemas.microsoft.com/office/drawing/2014/main" id="{4140F92F-5DF7-FB4E-0CD6-C994CB39E819}"/>
              </a:ext>
            </a:extLst>
          </p:cNvPr>
          <p:cNvSpPr/>
          <p:nvPr/>
        </p:nvSpPr>
        <p:spPr>
          <a:xfrm>
            <a:off x="957700" y="5796082"/>
            <a:ext cx="74714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到多维感知</a:t>
            </a:r>
            <a:endParaRPr lang="en-US" sz="1600" dirty="0"/>
          </a:p>
        </p:txBody>
      </p:sp>
      <p:sp>
        <p:nvSpPr>
          <p:cNvPr id="228" name="Text 77">
            <a:extLst>
              <a:ext uri="{FF2B5EF4-FFF2-40B4-BE49-F238E27FC236}">
                <a16:creationId xmlns:a16="http://schemas.microsoft.com/office/drawing/2014/main" id="{F4154941-DBED-3072-4DDC-D18F6B9FF22F}"/>
              </a:ext>
            </a:extLst>
          </p:cNvPr>
          <p:cNvSpPr/>
          <p:nvPr/>
        </p:nvSpPr>
        <p:spPr>
          <a:xfrm>
            <a:off x="4756345" y="5626277"/>
            <a:ext cx="73865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从数据孤岛</a:t>
            </a:r>
            <a:endParaRPr lang="en-US" sz="1600" dirty="0"/>
          </a:p>
        </p:txBody>
      </p:sp>
      <p:sp>
        <p:nvSpPr>
          <p:cNvPr id="229" name="Text 78">
            <a:extLst>
              <a:ext uri="{FF2B5EF4-FFF2-40B4-BE49-F238E27FC236}">
                <a16:creationId xmlns:a16="http://schemas.microsoft.com/office/drawing/2014/main" id="{9993204B-851F-9E37-62CC-7A4CE04646D5}"/>
              </a:ext>
            </a:extLst>
          </p:cNvPr>
          <p:cNvSpPr/>
          <p:nvPr/>
        </p:nvSpPr>
        <p:spPr>
          <a:xfrm>
            <a:off x="4756345" y="5796082"/>
            <a:ext cx="74714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64FF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到智慧闭环</a:t>
            </a:r>
            <a:endParaRPr lang="en-US" sz="1600" dirty="0"/>
          </a:p>
        </p:txBody>
      </p:sp>
      <p:sp>
        <p:nvSpPr>
          <p:cNvPr id="230" name="Shape 79">
            <a:extLst>
              <a:ext uri="{FF2B5EF4-FFF2-40B4-BE49-F238E27FC236}">
                <a16:creationId xmlns:a16="http://schemas.microsoft.com/office/drawing/2014/main" id="{AA93CA1D-692C-C982-BDBB-707A7395991A}"/>
              </a:ext>
            </a:extLst>
          </p:cNvPr>
          <p:cNvSpPr/>
          <p:nvPr/>
        </p:nvSpPr>
        <p:spPr>
          <a:xfrm>
            <a:off x="8116998" y="4434458"/>
            <a:ext cx="6792" cy="1910306"/>
          </a:xfrm>
          <a:custGeom>
            <a:avLst/>
            <a:gdLst/>
            <a:ahLst/>
            <a:cxnLst/>
            <a:rect l="l" t="t" r="r" b="b"/>
            <a:pathLst>
              <a:path w="6792" h="1910306">
                <a:moveTo>
                  <a:pt x="0" y="0"/>
                </a:moveTo>
                <a:lnTo>
                  <a:pt x="6792" y="0"/>
                </a:lnTo>
                <a:lnTo>
                  <a:pt x="6792" y="1910306"/>
                </a:lnTo>
                <a:lnTo>
                  <a:pt x="0" y="1910306"/>
                </a:lnTo>
                <a:lnTo>
                  <a:pt x="0" y="0"/>
                </a:lnTo>
                <a:close/>
              </a:path>
            </a:pathLst>
          </a:custGeom>
          <a:solidFill>
            <a:srgbClr val="233554"/>
          </a:solidFill>
          <a:ln/>
        </p:spPr>
      </p:sp>
      <p:sp>
        <p:nvSpPr>
          <p:cNvPr id="231" name="Shape 80">
            <a:extLst>
              <a:ext uri="{FF2B5EF4-FFF2-40B4-BE49-F238E27FC236}">
                <a16:creationId xmlns:a16="http://schemas.microsoft.com/office/drawing/2014/main" id="{727A39F5-A449-16A2-7705-335692D65AC2}"/>
              </a:ext>
            </a:extLst>
          </p:cNvPr>
          <p:cNvSpPr/>
          <p:nvPr/>
        </p:nvSpPr>
        <p:spPr>
          <a:xfrm>
            <a:off x="8392082" y="4468419"/>
            <a:ext cx="212256" cy="169805"/>
          </a:xfrm>
          <a:custGeom>
            <a:avLst/>
            <a:gdLst/>
            <a:ahLst/>
            <a:cxnLst/>
            <a:rect l="l" t="t" r="r" b="b"/>
            <a:pathLst>
              <a:path w="212256" h="169805">
                <a:moveTo>
                  <a:pt x="137933" y="69812"/>
                </a:moveTo>
                <a:cubicBezTo>
                  <a:pt x="141980" y="68718"/>
                  <a:pt x="146225" y="70642"/>
                  <a:pt x="148049" y="74389"/>
                </a:cubicBezTo>
                <a:lnTo>
                  <a:pt x="154217" y="86859"/>
                </a:lnTo>
                <a:cubicBezTo>
                  <a:pt x="157633" y="87324"/>
                  <a:pt x="160983" y="88252"/>
                  <a:pt x="164134" y="89546"/>
                </a:cubicBezTo>
                <a:lnTo>
                  <a:pt x="175742" y="81818"/>
                </a:lnTo>
                <a:cubicBezTo>
                  <a:pt x="179224" y="79497"/>
                  <a:pt x="183834" y="79961"/>
                  <a:pt x="186786" y="82913"/>
                </a:cubicBezTo>
                <a:lnTo>
                  <a:pt x="193153" y="89280"/>
                </a:lnTo>
                <a:cubicBezTo>
                  <a:pt x="196105" y="92232"/>
                  <a:pt x="196569" y="96875"/>
                  <a:pt x="194248" y="100324"/>
                </a:cubicBezTo>
                <a:lnTo>
                  <a:pt x="186520" y="111899"/>
                </a:lnTo>
                <a:cubicBezTo>
                  <a:pt x="187150" y="113458"/>
                  <a:pt x="187714" y="115083"/>
                  <a:pt x="188178" y="116774"/>
                </a:cubicBezTo>
                <a:cubicBezTo>
                  <a:pt x="188643" y="118466"/>
                  <a:pt x="188941" y="120124"/>
                  <a:pt x="189173" y="121815"/>
                </a:cubicBezTo>
                <a:lnTo>
                  <a:pt x="201677" y="127984"/>
                </a:lnTo>
                <a:cubicBezTo>
                  <a:pt x="205424" y="129841"/>
                  <a:pt x="207348" y="134086"/>
                  <a:pt x="206253" y="138099"/>
                </a:cubicBezTo>
                <a:lnTo>
                  <a:pt x="203932" y="146788"/>
                </a:lnTo>
                <a:cubicBezTo>
                  <a:pt x="202837" y="150801"/>
                  <a:pt x="199090" y="153521"/>
                  <a:pt x="194911" y="153256"/>
                </a:cubicBezTo>
                <a:lnTo>
                  <a:pt x="180982" y="152360"/>
                </a:lnTo>
                <a:cubicBezTo>
                  <a:pt x="178892" y="155047"/>
                  <a:pt x="176471" y="157534"/>
                  <a:pt x="173718" y="159657"/>
                </a:cubicBezTo>
                <a:lnTo>
                  <a:pt x="174614" y="173553"/>
                </a:lnTo>
                <a:cubicBezTo>
                  <a:pt x="174879" y="177731"/>
                  <a:pt x="172160" y="181512"/>
                  <a:pt x="168147" y="182574"/>
                </a:cubicBezTo>
                <a:lnTo>
                  <a:pt x="159458" y="184895"/>
                </a:lnTo>
                <a:cubicBezTo>
                  <a:pt x="155411" y="185990"/>
                  <a:pt x="151199" y="184066"/>
                  <a:pt x="149342" y="180318"/>
                </a:cubicBezTo>
                <a:lnTo>
                  <a:pt x="143173" y="167848"/>
                </a:lnTo>
                <a:cubicBezTo>
                  <a:pt x="139757" y="167384"/>
                  <a:pt x="136408" y="166455"/>
                  <a:pt x="133257" y="165162"/>
                </a:cubicBezTo>
                <a:lnTo>
                  <a:pt x="121649" y="172889"/>
                </a:lnTo>
                <a:cubicBezTo>
                  <a:pt x="118167" y="175211"/>
                  <a:pt x="113557" y="174747"/>
                  <a:pt x="110605" y="171795"/>
                </a:cubicBezTo>
                <a:lnTo>
                  <a:pt x="104238" y="165427"/>
                </a:lnTo>
                <a:cubicBezTo>
                  <a:pt x="101286" y="162476"/>
                  <a:pt x="100822" y="157866"/>
                  <a:pt x="103143" y="154383"/>
                </a:cubicBezTo>
                <a:lnTo>
                  <a:pt x="110871" y="142776"/>
                </a:lnTo>
                <a:cubicBezTo>
                  <a:pt x="110241" y="141217"/>
                  <a:pt x="109677" y="139592"/>
                  <a:pt x="109212" y="137900"/>
                </a:cubicBezTo>
                <a:cubicBezTo>
                  <a:pt x="108748" y="136209"/>
                  <a:pt x="108450" y="134517"/>
                  <a:pt x="108218" y="132859"/>
                </a:cubicBezTo>
                <a:lnTo>
                  <a:pt x="95714" y="126690"/>
                </a:lnTo>
                <a:cubicBezTo>
                  <a:pt x="91967" y="124833"/>
                  <a:pt x="90076" y="120588"/>
                  <a:pt x="91138" y="116575"/>
                </a:cubicBezTo>
                <a:lnTo>
                  <a:pt x="93459" y="107886"/>
                </a:lnTo>
                <a:cubicBezTo>
                  <a:pt x="94554" y="103873"/>
                  <a:pt x="98301" y="101153"/>
                  <a:pt x="102480" y="101419"/>
                </a:cubicBezTo>
                <a:lnTo>
                  <a:pt x="116376" y="102314"/>
                </a:lnTo>
                <a:cubicBezTo>
                  <a:pt x="118466" y="99628"/>
                  <a:pt x="120887" y="97140"/>
                  <a:pt x="123639" y="95018"/>
                </a:cubicBezTo>
                <a:lnTo>
                  <a:pt x="122744" y="81155"/>
                </a:lnTo>
                <a:cubicBezTo>
                  <a:pt x="122478" y="76976"/>
                  <a:pt x="125198" y="73195"/>
                  <a:pt x="129211" y="72134"/>
                </a:cubicBezTo>
                <a:lnTo>
                  <a:pt x="137900" y="69812"/>
                </a:lnTo>
                <a:close/>
                <a:moveTo>
                  <a:pt x="148712" y="112761"/>
                </a:moveTo>
                <a:cubicBezTo>
                  <a:pt x="140658" y="112770"/>
                  <a:pt x="134127" y="119316"/>
                  <a:pt x="134136" y="127370"/>
                </a:cubicBezTo>
                <a:cubicBezTo>
                  <a:pt x="134145" y="135424"/>
                  <a:pt x="140691" y="141956"/>
                  <a:pt x="148745" y="141946"/>
                </a:cubicBezTo>
                <a:cubicBezTo>
                  <a:pt x="156799" y="141937"/>
                  <a:pt x="163330" y="135391"/>
                  <a:pt x="163321" y="127337"/>
                </a:cubicBezTo>
                <a:cubicBezTo>
                  <a:pt x="163312" y="119283"/>
                  <a:pt x="156766" y="112752"/>
                  <a:pt x="148712" y="112761"/>
                </a:cubicBezTo>
                <a:close/>
                <a:moveTo>
                  <a:pt x="74588" y="-15090"/>
                </a:moveTo>
                <a:lnTo>
                  <a:pt x="83277" y="-12769"/>
                </a:lnTo>
                <a:cubicBezTo>
                  <a:pt x="87290" y="-11674"/>
                  <a:pt x="90010" y="-7893"/>
                  <a:pt x="89745" y="-3748"/>
                </a:cubicBezTo>
                <a:lnTo>
                  <a:pt x="88849" y="10115"/>
                </a:lnTo>
                <a:cubicBezTo>
                  <a:pt x="91602" y="12238"/>
                  <a:pt x="94023" y="14692"/>
                  <a:pt x="96112" y="17412"/>
                </a:cubicBezTo>
                <a:lnTo>
                  <a:pt x="110042" y="16516"/>
                </a:lnTo>
                <a:cubicBezTo>
                  <a:pt x="114187" y="16251"/>
                  <a:pt x="117968" y="18970"/>
                  <a:pt x="119063" y="22983"/>
                </a:cubicBezTo>
                <a:lnTo>
                  <a:pt x="121384" y="31673"/>
                </a:lnTo>
                <a:cubicBezTo>
                  <a:pt x="122445" y="35686"/>
                  <a:pt x="120555" y="39931"/>
                  <a:pt x="116807" y="41788"/>
                </a:cubicBezTo>
                <a:lnTo>
                  <a:pt x="104304" y="47957"/>
                </a:lnTo>
                <a:cubicBezTo>
                  <a:pt x="104072" y="49648"/>
                  <a:pt x="103740" y="51339"/>
                  <a:pt x="103309" y="52998"/>
                </a:cubicBezTo>
                <a:cubicBezTo>
                  <a:pt x="102878" y="54656"/>
                  <a:pt x="102281" y="56314"/>
                  <a:pt x="101651" y="57873"/>
                </a:cubicBezTo>
                <a:lnTo>
                  <a:pt x="109378" y="69481"/>
                </a:lnTo>
                <a:cubicBezTo>
                  <a:pt x="111700" y="72963"/>
                  <a:pt x="111236" y="77573"/>
                  <a:pt x="108284" y="80525"/>
                </a:cubicBezTo>
                <a:lnTo>
                  <a:pt x="101916" y="86892"/>
                </a:lnTo>
                <a:cubicBezTo>
                  <a:pt x="98964" y="89844"/>
                  <a:pt x="94355" y="90308"/>
                  <a:pt x="90872" y="87987"/>
                </a:cubicBezTo>
                <a:lnTo>
                  <a:pt x="79264" y="80259"/>
                </a:lnTo>
                <a:cubicBezTo>
                  <a:pt x="76114" y="81553"/>
                  <a:pt x="72764" y="82481"/>
                  <a:pt x="69348" y="82946"/>
                </a:cubicBezTo>
                <a:lnTo>
                  <a:pt x="63179" y="95416"/>
                </a:lnTo>
                <a:cubicBezTo>
                  <a:pt x="61322" y="99163"/>
                  <a:pt x="57077" y="101054"/>
                  <a:pt x="53064" y="99993"/>
                </a:cubicBezTo>
                <a:lnTo>
                  <a:pt x="44375" y="97671"/>
                </a:lnTo>
                <a:cubicBezTo>
                  <a:pt x="40329" y="96577"/>
                  <a:pt x="37642" y="92796"/>
                  <a:pt x="37908" y="88650"/>
                </a:cubicBezTo>
                <a:lnTo>
                  <a:pt x="38803" y="74754"/>
                </a:lnTo>
                <a:cubicBezTo>
                  <a:pt x="36050" y="72631"/>
                  <a:pt x="33629" y="70177"/>
                  <a:pt x="31540" y="67458"/>
                </a:cubicBezTo>
                <a:lnTo>
                  <a:pt x="17611" y="68353"/>
                </a:lnTo>
                <a:cubicBezTo>
                  <a:pt x="13465" y="68618"/>
                  <a:pt x="9684" y="65899"/>
                  <a:pt x="8590" y="61886"/>
                </a:cubicBezTo>
                <a:lnTo>
                  <a:pt x="6268" y="53197"/>
                </a:lnTo>
                <a:cubicBezTo>
                  <a:pt x="5207" y="49184"/>
                  <a:pt x="7097" y="44939"/>
                  <a:pt x="10845" y="43081"/>
                </a:cubicBezTo>
                <a:lnTo>
                  <a:pt x="23348" y="36913"/>
                </a:lnTo>
                <a:cubicBezTo>
                  <a:pt x="23580" y="35221"/>
                  <a:pt x="23912" y="33563"/>
                  <a:pt x="24343" y="31872"/>
                </a:cubicBezTo>
                <a:cubicBezTo>
                  <a:pt x="24807" y="30180"/>
                  <a:pt x="25338" y="28555"/>
                  <a:pt x="26001" y="26996"/>
                </a:cubicBezTo>
                <a:lnTo>
                  <a:pt x="18274" y="15422"/>
                </a:lnTo>
                <a:cubicBezTo>
                  <a:pt x="15952" y="11939"/>
                  <a:pt x="16417" y="7329"/>
                  <a:pt x="19368" y="4378"/>
                </a:cubicBezTo>
                <a:lnTo>
                  <a:pt x="25736" y="-1990"/>
                </a:lnTo>
                <a:cubicBezTo>
                  <a:pt x="28688" y="-4942"/>
                  <a:pt x="33298" y="-5406"/>
                  <a:pt x="36780" y="-3084"/>
                </a:cubicBezTo>
                <a:lnTo>
                  <a:pt x="48388" y="4643"/>
                </a:lnTo>
                <a:cubicBezTo>
                  <a:pt x="51538" y="3350"/>
                  <a:pt x="54888" y="2421"/>
                  <a:pt x="58304" y="1957"/>
                </a:cubicBezTo>
                <a:lnTo>
                  <a:pt x="64473" y="-10513"/>
                </a:lnTo>
                <a:cubicBezTo>
                  <a:pt x="66330" y="-14261"/>
                  <a:pt x="70542" y="-16151"/>
                  <a:pt x="74588" y="-15090"/>
                </a:cubicBezTo>
                <a:close/>
                <a:moveTo>
                  <a:pt x="63810" y="27859"/>
                </a:moveTo>
                <a:cubicBezTo>
                  <a:pt x="55756" y="27859"/>
                  <a:pt x="49217" y="34397"/>
                  <a:pt x="49217" y="42451"/>
                </a:cubicBezTo>
                <a:cubicBezTo>
                  <a:pt x="49217" y="50505"/>
                  <a:pt x="55756" y="57044"/>
                  <a:pt x="63810" y="57044"/>
                </a:cubicBezTo>
                <a:cubicBezTo>
                  <a:pt x="71863" y="57044"/>
                  <a:pt x="78402" y="50505"/>
                  <a:pt x="78402" y="42451"/>
                </a:cubicBezTo>
                <a:cubicBezTo>
                  <a:pt x="78402" y="34397"/>
                  <a:pt x="71863" y="27859"/>
                  <a:pt x="63810" y="27859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32" name="Text 81">
            <a:extLst>
              <a:ext uri="{FF2B5EF4-FFF2-40B4-BE49-F238E27FC236}">
                <a16:creationId xmlns:a16="http://schemas.microsoft.com/office/drawing/2014/main" id="{13704588-5985-D2D1-0803-53ED8699ABCE}"/>
              </a:ext>
            </a:extLst>
          </p:cNvPr>
          <p:cNvSpPr/>
          <p:nvPr/>
        </p:nvSpPr>
        <p:spPr>
          <a:xfrm>
            <a:off x="8604338" y="4434458"/>
            <a:ext cx="315837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CCD6F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智能体架构</a:t>
            </a:r>
            <a:endParaRPr lang="en-US" sz="1600" dirty="0"/>
          </a:p>
        </p:txBody>
      </p:sp>
      <p:sp>
        <p:nvSpPr>
          <p:cNvPr id="233" name="Shape 82">
            <a:extLst>
              <a:ext uri="{FF2B5EF4-FFF2-40B4-BE49-F238E27FC236}">
                <a16:creationId xmlns:a16="http://schemas.microsoft.com/office/drawing/2014/main" id="{E3B85301-B40D-05C6-5D37-7DD8E5238A30}"/>
              </a:ext>
            </a:extLst>
          </p:cNvPr>
          <p:cNvSpPr/>
          <p:nvPr/>
        </p:nvSpPr>
        <p:spPr>
          <a:xfrm>
            <a:off x="8395478" y="4811425"/>
            <a:ext cx="3284029" cy="448285"/>
          </a:xfrm>
          <a:custGeom>
            <a:avLst/>
            <a:gdLst/>
            <a:ahLst/>
            <a:cxnLst/>
            <a:rect l="l" t="t" r="r" b="b"/>
            <a:pathLst>
              <a:path w="3284029" h="448285">
                <a:moveTo>
                  <a:pt x="67924" y="0"/>
                </a:moveTo>
                <a:lnTo>
                  <a:pt x="3216105" y="0"/>
                </a:lnTo>
                <a:cubicBezTo>
                  <a:pt x="3253593" y="0"/>
                  <a:pt x="3284029" y="30436"/>
                  <a:pt x="3284029" y="67924"/>
                </a:cubicBezTo>
                <a:lnTo>
                  <a:pt x="3284029" y="380361"/>
                </a:lnTo>
                <a:cubicBezTo>
                  <a:pt x="3284029" y="417849"/>
                  <a:pt x="3253593" y="448285"/>
                  <a:pt x="3216105" y="448285"/>
                </a:cubicBezTo>
                <a:lnTo>
                  <a:pt x="67924" y="448285"/>
                </a:lnTo>
                <a:cubicBezTo>
                  <a:pt x="30436" y="448285"/>
                  <a:pt x="0" y="417849"/>
                  <a:pt x="0" y="38036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50196"/>
            </a:schemeClr>
          </a:solidFill>
          <a:ln w="10160">
            <a:solidFill>
              <a:srgbClr val="233554"/>
            </a:solidFill>
            <a:prstDash val="solid"/>
          </a:ln>
        </p:spPr>
      </p:sp>
      <p:sp>
        <p:nvSpPr>
          <p:cNvPr id="234" name="Shape 83">
            <a:extLst>
              <a:ext uri="{FF2B5EF4-FFF2-40B4-BE49-F238E27FC236}">
                <a16:creationId xmlns:a16="http://schemas.microsoft.com/office/drawing/2014/main" id="{20A0846C-7A25-ECBF-AE9D-5F4B6732C0F3}"/>
              </a:ext>
            </a:extLst>
          </p:cNvPr>
          <p:cNvSpPr/>
          <p:nvPr/>
        </p:nvSpPr>
        <p:spPr>
          <a:xfrm>
            <a:off x="8534718" y="4899618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0"/>
                </a:moveTo>
                <a:lnTo>
                  <a:pt x="203766" y="0"/>
                </a:lnTo>
                <a:cubicBezTo>
                  <a:pt x="241278" y="0"/>
                  <a:pt x="271688" y="30410"/>
                  <a:pt x="271688" y="67922"/>
                </a:cubicBezTo>
                <a:lnTo>
                  <a:pt x="271688" y="203766"/>
                </a:lnTo>
                <a:cubicBezTo>
                  <a:pt x="271688" y="241278"/>
                  <a:pt x="241278" y="271688"/>
                  <a:pt x="203766" y="271688"/>
                </a:cubicBezTo>
                <a:lnTo>
                  <a:pt x="67922" y="271688"/>
                </a:lnTo>
                <a:cubicBezTo>
                  <a:pt x="30410" y="271688"/>
                  <a:pt x="0" y="241278"/>
                  <a:pt x="0" y="203766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235" name="Shape 84">
            <a:extLst>
              <a:ext uri="{FF2B5EF4-FFF2-40B4-BE49-F238E27FC236}">
                <a16:creationId xmlns:a16="http://schemas.microsoft.com/office/drawing/2014/main" id="{DD5A3789-3555-D72A-EA2D-7FED5F490D97}"/>
              </a:ext>
            </a:extLst>
          </p:cNvPr>
          <p:cNvSpPr/>
          <p:nvPr/>
        </p:nvSpPr>
        <p:spPr>
          <a:xfrm>
            <a:off x="8605824" y="4976030"/>
            <a:ext cx="133721" cy="118864"/>
          </a:xfrm>
          <a:custGeom>
            <a:avLst/>
            <a:gdLst/>
            <a:ahLst/>
            <a:cxnLst/>
            <a:rect l="l" t="t" r="r" b="b"/>
            <a:pathLst>
              <a:path w="133721" h="118864">
                <a:moveTo>
                  <a:pt x="57575" y="20430"/>
                </a:moveTo>
                <a:lnTo>
                  <a:pt x="76147" y="20430"/>
                </a:lnTo>
                <a:lnTo>
                  <a:pt x="76147" y="31573"/>
                </a:lnTo>
                <a:lnTo>
                  <a:pt x="57575" y="31573"/>
                </a:lnTo>
                <a:lnTo>
                  <a:pt x="57575" y="20430"/>
                </a:lnTo>
                <a:close/>
                <a:moveTo>
                  <a:pt x="55717" y="7429"/>
                </a:moveTo>
                <a:cubicBezTo>
                  <a:pt x="49565" y="7429"/>
                  <a:pt x="44574" y="12420"/>
                  <a:pt x="44574" y="18572"/>
                </a:cubicBezTo>
                <a:lnTo>
                  <a:pt x="44574" y="33430"/>
                </a:lnTo>
                <a:cubicBezTo>
                  <a:pt x="44574" y="39582"/>
                  <a:pt x="49565" y="44574"/>
                  <a:pt x="55717" y="44574"/>
                </a:cubicBezTo>
                <a:lnTo>
                  <a:pt x="59432" y="44574"/>
                </a:lnTo>
                <a:lnTo>
                  <a:pt x="59432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29716" y="66861"/>
                </a:lnTo>
                <a:lnTo>
                  <a:pt x="29716" y="74290"/>
                </a:lnTo>
                <a:lnTo>
                  <a:pt x="26001" y="74290"/>
                </a:lnTo>
                <a:cubicBezTo>
                  <a:pt x="19849" y="74290"/>
                  <a:pt x="14858" y="79281"/>
                  <a:pt x="14858" y="85433"/>
                </a:cubicBezTo>
                <a:lnTo>
                  <a:pt x="14858" y="100291"/>
                </a:lnTo>
                <a:cubicBezTo>
                  <a:pt x="14858" y="106443"/>
                  <a:pt x="19849" y="111435"/>
                  <a:pt x="26001" y="111435"/>
                </a:cubicBezTo>
                <a:lnTo>
                  <a:pt x="48288" y="111435"/>
                </a:lnTo>
                <a:cubicBezTo>
                  <a:pt x="54440" y="111435"/>
                  <a:pt x="59432" y="106443"/>
                  <a:pt x="59432" y="100291"/>
                </a:cubicBezTo>
                <a:lnTo>
                  <a:pt x="59432" y="85433"/>
                </a:lnTo>
                <a:cubicBezTo>
                  <a:pt x="59432" y="79281"/>
                  <a:pt x="54440" y="74290"/>
                  <a:pt x="48288" y="74290"/>
                </a:cubicBezTo>
                <a:lnTo>
                  <a:pt x="44574" y="74290"/>
                </a:lnTo>
                <a:lnTo>
                  <a:pt x="44574" y="66861"/>
                </a:lnTo>
                <a:lnTo>
                  <a:pt x="89148" y="66861"/>
                </a:lnTo>
                <a:lnTo>
                  <a:pt x="89148" y="74290"/>
                </a:lnTo>
                <a:lnTo>
                  <a:pt x="85433" y="74290"/>
                </a:lnTo>
                <a:cubicBezTo>
                  <a:pt x="79281" y="74290"/>
                  <a:pt x="74290" y="79281"/>
                  <a:pt x="74290" y="85433"/>
                </a:cubicBezTo>
                <a:lnTo>
                  <a:pt x="74290" y="100291"/>
                </a:lnTo>
                <a:cubicBezTo>
                  <a:pt x="74290" y="106443"/>
                  <a:pt x="79281" y="111435"/>
                  <a:pt x="85433" y="111435"/>
                </a:cubicBezTo>
                <a:lnTo>
                  <a:pt x="107720" y="111435"/>
                </a:lnTo>
                <a:cubicBezTo>
                  <a:pt x="113872" y="111435"/>
                  <a:pt x="118864" y="106443"/>
                  <a:pt x="118864" y="100291"/>
                </a:cubicBezTo>
                <a:lnTo>
                  <a:pt x="118864" y="85433"/>
                </a:lnTo>
                <a:cubicBezTo>
                  <a:pt x="118864" y="79281"/>
                  <a:pt x="113872" y="74290"/>
                  <a:pt x="107720" y="74290"/>
                </a:cubicBezTo>
                <a:lnTo>
                  <a:pt x="104006" y="74290"/>
                </a:lnTo>
                <a:lnTo>
                  <a:pt x="104006" y="66861"/>
                </a:lnTo>
                <a:lnTo>
                  <a:pt x="126292" y="66861"/>
                </a:lnTo>
                <a:cubicBezTo>
                  <a:pt x="130402" y="66861"/>
                  <a:pt x="133721" y="63541"/>
                  <a:pt x="133721" y="59432"/>
                </a:cubicBezTo>
                <a:cubicBezTo>
                  <a:pt x="133721" y="55323"/>
                  <a:pt x="130402" y="52003"/>
                  <a:pt x="126292" y="52003"/>
                </a:cubicBezTo>
                <a:lnTo>
                  <a:pt x="74290" y="52003"/>
                </a:lnTo>
                <a:lnTo>
                  <a:pt x="74290" y="44574"/>
                </a:lnTo>
                <a:lnTo>
                  <a:pt x="78004" y="44574"/>
                </a:lnTo>
                <a:cubicBezTo>
                  <a:pt x="84156" y="44574"/>
                  <a:pt x="89148" y="39582"/>
                  <a:pt x="89148" y="33430"/>
                </a:cubicBezTo>
                <a:lnTo>
                  <a:pt x="89148" y="18572"/>
                </a:lnTo>
                <a:cubicBezTo>
                  <a:pt x="89148" y="12420"/>
                  <a:pt x="84156" y="7429"/>
                  <a:pt x="78004" y="7429"/>
                </a:cubicBezTo>
                <a:lnTo>
                  <a:pt x="55717" y="7429"/>
                </a:lnTo>
                <a:close/>
                <a:moveTo>
                  <a:pt x="104006" y="87290"/>
                </a:moveTo>
                <a:lnTo>
                  <a:pt x="105863" y="87290"/>
                </a:lnTo>
                <a:lnTo>
                  <a:pt x="105863" y="98434"/>
                </a:lnTo>
                <a:lnTo>
                  <a:pt x="87290" y="98434"/>
                </a:lnTo>
                <a:lnTo>
                  <a:pt x="87290" y="87290"/>
                </a:lnTo>
                <a:lnTo>
                  <a:pt x="104006" y="87290"/>
                </a:lnTo>
                <a:close/>
                <a:moveTo>
                  <a:pt x="44574" y="87290"/>
                </a:moveTo>
                <a:lnTo>
                  <a:pt x="46431" y="87290"/>
                </a:lnTo>
                <a:lnTo>
                  <a:pt x="46431" y="98434"/>
                </a:lnTo>
                <a:lnTo>
                  <a:pt x="27859" y="98434"/>
                </a:lnTo>
                <a:lnTo>
                  <a:pt x="27859" y="87290"/>
                </a:lnTo>
                <a:lnTo>
                  <a:pt x="44574" y="8729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36" name="Text 85">
            <a:extLst>
              <a:ext uri="{FF2B5EF4-FFF2-40B4-BE49-F238E27FC236}">
                <a16:creationId xmlns:a16="http://schemas.microsoft.com/office/drawing/2014/main" id="{055B1135-EF04-2959-482F-B48695E7D2BD}"/>
              </a:ext>
            </a:extLst>
          </p:cNvPr>
          <p:cNvSpPr/>
          <p:nvPr/>
        </p:nvSpPr>
        <p:spPr>
          <a:xfrm>
            <a:off x="8908290" y="4882743"/>
            <a:ext cx="269140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神经 · 传感器网络</a:t>
            </a:r>
            <a:endParaRPr lang="en-US" sz="1600" dirty="0"/>
          </a:p>
        </p:txBody>
      </p:sp>
      <p:sp>
        <p:nvSpPr>
          <p:cNvPr id="237" name="Text 86">
            <a:extLst>
              <a:ext uri="{FF2B5EF4-FFF2-40B4-BE49-F238E27FC236}">
                <a16:creationId xmlns:a16="http://schemas.microsoft.com/office/drawing/2014/main" id="{38E973B8-229D-C60A-91BA-21A891ADEB50}"/>
              </a:ext>
            </a:extLst>
          </p:cNvPr>
          <p:cNvSpPr/>
          <p:nvPr/>
        </p:nvSpPr>
        <p:spPr>
          <a:xfrm>
            <a:off x="8908290" y="5052549"/>
            <a:ext cx="268291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实时采集电-热-力-老化数据</a:t>
            </a:r>
            <a:endParaRPr lang="en-US" sz="1600" dirty="0"/>
          </a:p>
        </p:txBody>
      </p:sp>
      <p:sp>
        <p:nvSpPr>
          <p:cNvPr id="238" name="Shape 87">
            <a:extLst>
              <a:ext uri="{FF2B5EF4-FFF2-40B4-BE49-F238E27FC236}">
                <a16:creationId xmlns:a16="http://schemas.microsoft.com/office/drawing/2014/main" id="{DE97B378-9756-B081-A7A8-8F81E58F6E4D}"/>
              </a:ext>
            </a:extLst>
          </p:cNvPr>
          <p:cNvSpPr/>
          <p:nvPr/>
        </p:nvSpPr>
        <p:spPr>
          <a:xfrm>
            <a:off x="8395478" y="5351299"/>
            <a:ext cx="3284029" cy="448285"/>
          </a:xfrm>
          <a:custGeom>
            <a:avLst/>
            <a:gdLst/>
            <a:ahLst/>
            <a:cxnLst/>
            <a:rect l="l" t="t" r="r" b="b"/>
            <a:pathLst>
              <a:path w="3284029" h="448285">
                <a:moveTo>
                  <a:pt x="67924" y="0"/>
                </a:moveTo>
                <a:lnTo>
                  <a:pt x="3216105" y="0"/>
                </a:lnTo>
                <a:cubicBezTo>
                  <a:pt x="3253593" y="0"/>
                  <a:pt x="3284029" y="30436"/>
                  <a:pt x="3284029" y="67924"/>
                </a:cubicBezTo>
                <a:lnTo>
                  <a:pt x="3284029" y="380361"/>
                </a:lnTo>
                <a:cubicBezTo>
                  <a:pt x="3284029" y="417849"/>
                  <a:pt x="3253593" y="448285"/>
                  <a:pt x="3216105" y="448285"/>
                </a:cubicBezTo>
                <a:lnTo>
                  <a:pt x="67924" y="448285"/>
                </a:lnTo>
                <a:cubicBezTo>
                  <a:pt x="30436" y="448285"/>
                  <a:pt x="0" y="417849"/>
                  <a:pt x="0" y="38036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50196"/>
            </a:schemeClr>
          </a:solidFill>
          <a:ln w="10160">
            <a:solidFill>
              <a:srgbClr val="233554"/>
            </a:solidFill>
            <a:prstDash val="solid"/>
          </a:ln>
        </p:spPr>
      </p:sp>
      <p:sp>
        <p:nvSpPr>
          <p:cNvPr id="239" name="Shape 88">
            <a:extLst>
              <a:ext uri="{FF2B5EF4-FFF2-40B4-BE49-F238E27FC236}">
                <a16:creationId xmlns:a16="http://schemas.microsoft.com/office/drawing/2014/main" id="{3A882AEC-4837-55CE-1D67-F402B7907A89}"/>
              </a:ext>
            </a:extLst>
          </p:cNvPr>
          <p:cNvSpPr/>
          <p:nvPr/>
        </p:nvSpPr>
        <p:spPr>
          <a:xfrm>
            <a:off x="8534718" y="5439491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0"/>
                </a:moveTo>
                <a:lnTo>
                  <a:pt x="203766" y="0"/>
                </a:lnTo>
                <a:cubicBezTo>
                  <a:pt x="241278" y="0"/>
                  <a:pt x="271688" y="30410"/>
                  <a:pt x="271688" y="67922"/>
                </a:cubicBezTo>
                <a:lnTo>
                  <a:pt x="271688" y="203766"/>
                </a:lnTo>
                <a:cubicBezTo>
                  <a:pt x="271688" y="241278"/>
                  <a:pt x="241278" y="271688"/>
                  <a:pt x="203766" y="271688"/>
                </a:cubicBezTo>
                <a:lnTo>
                  <a:pt x="67922" y="271688"/>
                </a:lnTo>
                <a:cubicBezTo>
                  <a:pt x="30410" y="271688"/>
                  <a:pt x="0" y="241278"/>
                  <a:pt x="0" y="203766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240" name="Shape 89">
            <a:extLst>
              <a:ext uri="{FF2B5EF4-FFF2-40B4-BE49-F238E27FC236}">
                <a16:creationId xmlns:a16="http://schemas.microsoft.com/office/drawing/2014/main" id="{76B432B0-0C1C-F077-4EDE-271ED78879A3}"/>
              </a:ext>
            </a:extLst>
          </p:cNvPr>
          <p:cNvSpPr/>
          <p:nvPr/>
        </p:nvSpPr>
        <p:spPr>
          <a:xfrm>
            <a:off x="8613253" y="5515904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40859" y="5572"/>
                </a:moveTo>
                <a:cubicBezTo>
                  <a:pt x="40859" y="2484"/>
                  <a:pt x="38375" y="0"/>
                  <a:pt x="35288" y="0"/>
                </a:cubicBezTo>
                <a:cubicBezTo>
                  <a:pt x="32200" y="0"/>
                  <a:pt x="29716" y="2484"/>
                  <a:pt x="29716" y="5572"/>
                </a:cubicBezTo>
                <a:lnTo>
                  <a:pt x="29716" y="14858"/>
                </a:lnTo>
                <a:cubicBezTo>
                  <a:pt x="21521" y="14858"/>
                  <a:pt x="14858" y="21521"/>
                  <a:pt x="14858" y="29716"/>
                </a:cubicBezTo>
                <a:lnTo>
                  <a:pt x="5572" y="29716"/>
                </a:lnTo>
                <a:cubicBezTo>
                  <a:pt x="2484" y="29716"/>
                  <a:pt x="0" y="32200"/>
                  <a:pt x="0" y="35288"/>
                </a:cubicBezTo>
                <a:cubicBezTo>
                  <a:pt x="0" y="38375"/>
                  <a:pt x="2484" y="40859"/>
                  <a:pt x="5572" y="40859"/>
                </a:cubicBezTo>
                <a:lnTo>
                  <a:pt x="14858" y="40859"/>
                </a:lnTo>
                <a:lnTo>
                  <a:pt x="14858" y="53860"/>
                </a:lnTo>
                <a:lnTo>
                  <a:pt x="5572" y="53860"/>
                </a:lnTo>
                <a:cubicBezTo>
                  <a:pt x="2484" y="53860"/>
                  <a:pt x="0" y="56344"/>
                  <a:pt x="0" y="59432"/>
                </a:cubicBezTo>
                <a:cubicBezTo>
                  <a:pt x="0" y="62519"/>
                  <a:pt x="2484" y="65003"/>
                  <a:pt x="5572" y="65003"/>
                </a:cubicBezTo>
                <a:lnTo>
                  <a:pt x="14858" y="65003"/>
                </a:lnTo>
                <a:lnTo>
                  <a:pt x="14858" y="78004"/>
                </a:lnTo>
                <a:lnTo>
                  <a:pt x="5572" y="78004"/>
                </a:lnTo>
                <a:cubicBezTo>
                  <a:pt x="2484" y="78004"/>
                  <a:pt x="0" y="80488"/>
                  <a:pt x="0" y="83576"/>
                </a:cubicBezTo>
                <a:cubicBezTo>
                  <a:pt x="0" y="86664"/>
                  <a:pt x="2484" y="89148"/>
                  <a:pt x="5572" y="89148"/>
                </a:cubicBezTo>
                <a:lnTo>
                  <a:pt x="14858" y="89148"/>
                </a:lnTo>
                <a:cubicBezTo>
                  <a:pt x="14858" y="97343"/>
                  <a:pt x="21521" y="104006"/>
                  <a:pt x="29716" y="104006"/>
                </a:cubicBezTo>
                <a:lnTo>
                  <a:pt x="29716" y="113292"/>
                </a:lnTo>
                <a:cubicBezTo>
                  <a:pt x="29716" y="116379"/>
                  <a:pt x="32200" y="118864"/>
                  <a:pt x="35288" y="118864"/>
                </a:cubicBezTo>
                <a:cubicBezTo>
                  <a:pt x="38375" y="118864"/>
                  <a:pt x="40859" y="116379"/>
                  <a:pt x="40859" y="113292"/>
                </a:cubicBezTo>
                <a:lnTo>
                  <a:pt x="40859" y="104006"/>
                </a:lnTo>
                <a:lnTo>
                  <a:pt x="53860" y="104006"/>
                </a:lnTo>
                <a:lnTo>
                  <a:pt x="53860" y="113292"/>
                </a:lnTo>
                <a:cubicBezTo>
                  <a:pt x="53860" y="116379"/>
                  <a:pt x="56344" y="118864"/>
                  <a:pt x="59432" y="118864"/>
                </a:cubicBezTo>
                <a:cubicBezTo>
                  <a:pt x="62519" y="118864"/>
                  <a:pt x="65003" y="116379"/>
                  <a:pt x="65003" y="113292"/>
                </a:cubicBezTo>
                <a:lnTo>
                  <a:pt x="65003" y="104006"/>
                </a:lnTo>
                <a:lnTo>
                  <a:pt x="78004" y="104006"/>
                </a:lnTo>
                <a:lnTo>
                  <a:pt x="78004" y="113292"/>
                </a:lnTo>
                <a:cubicBezTo>
                  <a:pt x="78004" y="116379"/>
                  <a:pt x="80488" y="118864"/>
                  <a:pt x="83576" y="118864"/>
                </a:cubicBezTo>
                <a:cubicBezTo>
                  <a:pt x="86664" y="118864"/>
                  <a:pt x="89148" y="116379"/>
                  <a:pt x="89148" y="113292"/>
                </a:cubicBezTo>
                <a:lnTo>
                  <a:pt x="89148" y="104006"/>
                </a:lnTo>
                <a:cubicBezTo>
                  <a:pt x="97343" y="104006"/>
                  <a:pt x="104006" y="97343"/>
                  <a:pt x="104006" y="89148"/>
                </a:cubicBezTo>
                <a:lnTo>
                  <a:pt x="113292" y="89148"/>
                </a:lnTo>
                <a:cubicBezTo>
                  <a:pt x="116379" y="89148"/>
                  <a:pt x="118864" y="86664"/>
                  <a:pt x="118864" y="83576"/>
                </a:cubicBezTo>
                <a:cubicBezTo>
                  <a:pt x="118864" y="80488"/>
                  <a:pt x="116379" y="78004"/>
                  <a:pt x="113292" y="78004"/>
                </a:cubicBezTo>
                <a:lnTo>
                  <a:pt x="104006" y="78004"/>
                </a:lnTo>
                <a:lnTo>
                  <a:pt x="104006" y="65003"/>
                </a:lnTo>
                <a:lnTo>
                  <a:pt x="113292" y="65003"/>
                </a:lnTo>
                <a:cubicBezTo>
                  <a:pt x="116379" y="65003"/>
                  <a:pt x="118864" y="62519"/>
                  <a:pt x="118864" y="59432"/>
                </a:cubicBezTo>
                <a:cubicBezTo>
                  <a:pt x="118864" y="56344"/>
                  <a:pt x="116379" y="53860"/>
                  <a:pt x="113292" y="53860"/>
                </a:cubicBezTo>
                <a:lnTo>
                  <a:pt x="104006" y="53860"/>
                </a:lnTo>
                <a:lnTo>
                  <a:pt x="104006" y="40859"/>
                </a:lnTo>
                <a:lnTo>
                  <a:pt x="113292" y="40859"/>
                </a:lnTo>
                <a:cubicBezTo>
                  <a:pt x="116379" y="40859"/>
                  <a:pt x="118864" y="38375"/>
                  <a:pt x="118864" y="35288"/>
                </a:cubicBezTo>
                <a:cubicBezTo>
                  <a:pt x="118864" y="32200"/>
                  <a:pt x="116379" y="29716"/>
                  <a:pt x="113292" y="29716"/>
                </a:cubicBezTo>
                <a:lnTo>
                  <a:pt x="104006" y="29716"/>
                </a:lnTo>
                <a:cubicBezTo>
                  <a:pt x="104006" y="21521"/>
                  <a:pt x="97343" y="14858"/>
                  <a:pt x="89148" y="14858"/>
                </a:cubicBezTo>
                <a:lnTo>
                  <a:pt x="89148" y="5572"/>
                </a:lnTo>
                <a:cubicBezTo>
                  <a:pt x="89148" y="2484"/>
                  <a:pt x="86664" y="0"/>
                  <a:pt x="83576" y="0"/>
                </a:cubicBezTo>
                <a:cubicBezTo>
                  <a:pt x="80488" y="0"/>
                  <a:pt x="78004" y="2484"/>
                  <a:pt x="78004" y="5572"/>
                </a:cubicBezTo>
                <a:lnTo>
                  <a:pt x="78004" y="14858"/>
                </a:lnTo>
                <a:lnTo>
                  <a:pt x="65003" y="14858"/>
                </a:lnTo>
                <a:lnTo>
                  <a:pt x="65003" y="5572"/>
                </a:lnTo>
                <a:cubicBezTo>
                  <a:pt x="65003" y="2484"/>
                  <a:pt x="62519" y="0"/>
                  <a:pt x="59432" y="0"/>
                </a:cubicBezTo>
                <a:cubicBezTo>
                  <a:pt x="56344" y="0"/>
                  <a:pt x="53860" y="2484"/>
                  <a:pt x="53860" y="5572"/>
                </a:cubicBezTo>
                <a:lnTo>
                  <a:pt x="53860" y="14858"/>
                </a:lnTo>
                <a:lnTo>
                  <a:pt x="40859" y="14858"/>
                </a:lnTo>
                <a:lnTo>
                  <a:pt x="40859" y="5572"/>
                </a:lnTo>
                <a:close/>
                <a:moveTo>
                  <a:pt x="37145" y="29716"/>
                </a:moveTo>
                <a:lnTo>
                  <a:pt x="81719" y="29716"/>
                </a:lnTo>
                <a:cubicBezTo>
                  <a:pt x="85828" y="29716"/>
                  <a:pt x="89148" y="33036"/>
                  <a:pt x="89148" y="37145"/>
                </a:cubicBezTo>
                <a:lnTo>
                  <a:pt x="89148" y="81719"/>
                </a:lnTo>
                <a:cubicBezTo>
                  <a:pt x="89148" y="85828"/>
                  <a:pt x="85828" y="89148"/>
                  <a:pt x="81719" y="89148"/>
                </a:cubicBezTo>
                <a:lnTo>
                  <a:pt x="37145" y="89148"/>
                </a:lnTo>
                <a:cubicBezTo>
                  <a:pt x="33036" y="89148"/>
                  <a:pt x="29716" y="85828"/>
                  <a:pt x="29716" y="81719"/>
                </a:cubicBezTo>
                <a:lnTo>
                  <a:pt x="29716" y="37145"/>
                </a:lnTo>
                <a:cubicBezTo>
                  <a:pt x="29716" y="33036"/>
                  <a:pt x="33036" y="29716"/>
                  <a:pt x="37145" y="29716"/>
                </a:cubicBezTo>
                <a:close/>
                <a:moveTo>
                  <a:pt x="40859" y="40859"/>
                </a:moveTo>
                <a:lnTo>
                  <a:pt x="40859" y="78004"/>
                </a:lnTo>
                <a:lnTo>
                  <a:pt x="78004" y="78004"/>
                </a:lnTo>
                <a:lnTo>
                  <a:pt x="78004" y="40859"/>
                </a:lnTo>
                <a:lnTo>
                  <a:pt x="40859" y="40859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41" name="Text 90">
            <a:extLst>
              <a:ext uri="{FF2B5EF4-FFF2-40B4-BE49-F238E27FC236}">
                <a16:creationId xmlns:a16="http://schemas.microsoft.com/office/drawing/2014/main" id="{88F3F068-05E5-8E46-4332-E044ABC50AA4}"/>
              </a:ext>
            </a:extLst>
          </p:cNvPr>
          <p:cNvSpPr/>
          <p:nvPr/>
        </p:nvSpPr>
        <p:spPr>
          <a:xfrm>
            <a:off x="8908290" y="5422617"/>
            <a:ext cx="269140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大脑 · AI算法引擎</a:t>
            </a:r>
            <a:endParaRPr lang="en-US" sz="1600" dirty="0"/>
          </a:p>
        </p:txBody>
      </p:sp>
      <p:sp>
        <p:nvSpPr>
          <p:cNvPr id="242" name="Text 91">
            <a:extLst>
              <a:ext uri="{FF2B5EF4-FFF2-40B4-BE49-F238E27FC236}">
                <a16:creationId xmlns:a16="http://schemas.microsoft.com/office/drawing/2014/main" id="{B6C6BCF8-A75E-CAB7-73DA-25B2EDA192FC}"/>
              </a:ext>
            </a:extLst>
          </p:cNvPr>
          <p:cNvSpPr/>
          <p:nvPr/>
        </p:nvSpPr>
        <p:spPr>
          <a:xfrm>
            <a:off x="8908290" y="5592422"/>
            <a:ext cx="268291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深度学习驱动的预测与决策</a:t>
            </a:r>
            <a:endParaRPr lang="en-US" sz="1600" dirty="0"/>
          </a:p>
        </p:txBody>
      </p:sp>
      <p:sp>
        <p:nvSpPr>
          <p:cNvPr id="243" name="Shape 92">
            <a:extLst>
              <a:ext uri="{FF2B5EF4-FFF2-40B4-BE49-F238E27FC236}">
                <a16:creationId xmlns:a16="http://schemas.microsoft.com/office/drawing/2014/main" id="{6CD6BA1F-BB36-D709-4A46-1A35A58C2BF0}"/>
              </a:ext>
            </a:extLst>
          </p:cNvPr>
          <p:cNvSpPr/>
          <p:nvPr/>
        </p:nvSpPr>
        <p:spPr>
          <a:xfrm>
            <a:off x="8395478" y="5891173"/>
            <a:ext cx="3284029" cy="448285"/>
          </a:xfrm>
          <a:custGeom>
            <a:avLst/>
            <a:gdLst/>
            <a:ahLst/>
            <a:cxnLst/>
            <a:rect l="l" t="t" r="r" b="b"/>
            <a:pathLst>
              <a:path w="3284029" h="448285">
                <a:moveTo>
                  <a:pt x="67924" y="0"/>
                </a:moveTo>
                <a:lnTo>
                  <a:pt x="3216105" y="0"/>
                </a:lnTo>
                <a:cubicBezTo>
                  <a:pt x="3253593" y="0"/>
                  <a:pt x="3284029" y="30436"/>
                  <a:pt x="3284029" y="67924"/>
                </a:cubicBezTo>
                <a:lnTo>
                  <a:pt x="3284029" y="380361"/>
                </a:lnTo>
                <a:cubicBezTo>
                  <a:pt x="3284029" y="417849"/>
                  <a:pt x="3253593" y="448285"/>
                  <a:pt x="3216105" y="448285"/>
                </a:cubicBezTo>
                <a:lnTo>
                  <a:pt x="67924" y="448285"/>
                </a:lnTo>
                <a:cubicBezTo>
                  <a:pt x="30436" y="448285"/>
                  <a:pt x="0" y="417849"/>
                  <a:pt x="0" y="38036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50196"/>
            </a:schemeClr>
          </a:solidFill>
          <a:ln w="10160">
            <a:solidFill>
              <a:srgbClr val="233554"/>
            </a:solidFill>
            <a:prstDash val="solid"/>
          </a:ln>
        </p:spPr>
      </p:sp>
      <p:sp>
        <p:nvSpPr>
          <p:cNvPr id="244" name="Shape 93">
            <a:extLst>
              <a:ext uri="{FF2B5EF4-FFF2-40B4-BE49-F238E27FC236}">
                <a16:creationId xmlns:a16="http://schemas.microsoft.com/office/drawing/2014/main" id="{5FCE317E-9C21-8675-F922-EADD91ADCF61}"/>
              </a:ext>
            </a:extLst>
          </p:cNvPr>
          <p:cNvSpPr/>
          <p:nvPr/>
        </p:nvSpPr>
        <p:spPr>
          <a:xfrm>
            <a:off x="8534718" y="5979365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0"/>
                </a:moveTo>
                <a:lnTo>
                  <a:pt x="203766" y="0"/>
                </a:lnTo>
                <a:cubicBezTo>
                  <a:pt x="241278" y="0"/>
                  <a:pt x="271688" y="30410"/>
                  <a:pt x="271688" y="67922"/>
                </a:cubicBezTo>
                <a:lnTo>
                  <a:pt x="271688" y="203766"/>
                </a:lnTo>
                <a:cubicBezTo>
                  <a:pt x="271688" y="241278"/>
                  <a:pt x="241278" y="271688"/>
                  <a:pt x="203766" y="271688"/>
                </a:cubicBezTo>
                <a:lnTo>
                  <a:pt x="67922" y="271688"/>
                </a:lnTo>
                <a:cubicBezTo>
                  <a:pt x="30410" y="271688"/>
                  <a:pt x="0" y="241278"/>
                  <a:pt x="0" y="203766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245" name="Shape 94">
            <a:extLst>
              <a:ext uri="{FF2B5EF4-FFF2-40B4-BE49-F238E27FC236}">
                <a16:creationId xmlns:a16="http://schemas.microsoft.com/office/drawing/2014/main" id="{7B682905-A9D0-D965-49FA-3D9010947E3E}"/>
              </a:ext>
            </a:extLst>
          </p:cNvPr>
          <p:cNvSpPr/>
          <p:nvPr/>
        </p:nvSpPr>
        <p:spPr>
          <a:xfrm>
            <a:off x="8613253" y="6055778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0"/>
                </a:moveTo>
                <a:cubicBezTo>
                  <a:pt x="60500" y="0"/>
                  <a:pt x="61568" y="232"/>
                  <a:pt x="62543" y="673"/>
                </a:cubicBezTo>
                <a:lnTo>
                  <a:pt x="106281" y="19222"/>
                </a:lnTo>
                <a:cubicBezTo>
                  <a:pt x="111388" y="21382"/>
                  <a:pt x="115195" y="26419"/>
                  <a:pt x="115172" y="32502"/>
                </a:cubicBezTo>
                <a:cubicBezTo>
                  <a:pt x="115056" y="55532"/>
                  <a:pt x="105584" y="97668"/>
                  <a:pt x="65584" y="116821"/>
                </a:cubicBezTo>
                <a:cubicBezTo>
                  <a:pt x="61707" y="118678"/>
                  <a:pt x="57203" y="118678"/>
                  <a:pt x="53326" y="116821"/>
                </a:cubicBezTo>
                <a:cubicBezTo>
                  <a:pt x="13302" y="97668"/>
                  <a:pt x="3854" y="55532"/>
                  <a:pt x="3738" y="32502"/>
                </a:cubicBezTo>
                <a:cubicBezTo>
                  <a:pt x="3714" y="26419"/>
                  <a:pt x="7522" y="21382"/>
                  <a:pt x="12629" y="19222"/>
                </a:cubicBezTo>
                <a:lnTo>
                  <a:pt x="56344" y="673"/>
                </a:lnTo>
                <a:cubicBezTo>
                  <a:pt x="57319" y="232"/>
                  <a:pt x="58364" y="0"/>
                  <a:pt x="59432" y="0"/>
                </a:cubicBezTo>
                <a:close/>
                <a:moveTo>
                  <a:pt x="59432" y="15508"/>
                </a:moveTo>
                <a:lnTo>
                  <a:pt x="59432" y="103286"/>
                </a:lnTo>
                <a:cubicBezTo>
                  <a:pt x="91469" y="87778"/>
                  <a:pt x="100082" y="53419"/>
                  <a:pt x="100291" y="32850"/>
                </a:cubicBezTo>
                <a:lnTo>
                  <a:pt x="59432" y="15531"/>
                </a:lnTo>
                <a:lnTo>
                  <a:pt x="59432" y="15531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46" name="Text 95">
            <a:extLst>
              <a:ext uri="{FF2B5EF4-FFF2-40B4-BE49-F238E27FC236}">
                <a16:creationId xmlns:a16="http://schemas.microsoft.com/office/drawing/2014/main" id="{67C4A655-3BB4-C1C7-FE17-042FE4FDA17D}"/>
              </a:ext>
            </a:extLst>
          </p:cNvPr>
          <p:cNvSpPr/>
          <p:nvPr/>
        </p:nvSpPr>
        <p:spPr>
          <a:xfrm>
            <a:off x="8908290" y="5962491"/>
            <a:ext cx="269140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CCD6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免疫 · 主动安全策略</a:t>
            </a:r>
            <a:endParaRPr lang="en-US" sz="1600" dirty="0"/>
          </a:p>
        </p:txBody>
      </p:sp>
      <p:sp>
        <p:nvSpPr>
          <p:cNvPr id="247" name="Text 96">
            <a:extLst>
              <a:ext uri="{FF2B5EF4-FFF2-40B4-BE49-F238E27FC236}">
                <a16:creationId xmlns:a16="http://schemas.microsoft.com/office/drawing/2014/main" id="{231A4BDE-7D63-B51D-C256-DC78E8FEBEFA}"/>
              </a:ext>
            </a:extLst>
          </p:cNvPr>
          <p:cNvSpPr/>
          <p:nvPr/>
        </p:nvSpPr>
        <p:spPr>
          <a:xfrm>
            <a:off x="8908290" y="6132296"/>
            <a:ext cx="268291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892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自主识别威胁并执行保护</a:t>
            </a:r>
            <a:endParaRPr lang="en-US" sz="1600" dirty="0"/>
          </a:p>
        </p:txBody>
      </p:sp>
      <p:sp>
        <p:nvSpPr>
          <p:cNvPr id="248" name="Shape 63">
            <a:extLst>
              <a:ext uri="{FF2B5EF4-FFF2-40B4-BE49-F238E27FC236}">
                <a16:creationId xmlns:a16="http://schemas.microsoft.com/office/drawing/2014/main" id="{777D3758-9475-CBC6-F00D-863AE5DC05FC}"/>
              </a:ext>
            </a:extLst>
          </p:cNvPr>
          <p:cNvSpPr/>
          <p:nvPr/>
        </p:nvSpPr>
        <p:spPr>
          <a:xfrm>
            <a:off x="519603" y="5652809"/>
            <a:ext cx="329422" cy="329422"/>
          </a:xfrm>
          <a:custGeom>
            <a:avLst/>
            <a:gdLst/>
            <a:ahLst/>
            <a:cxnLst/>
            <a:rect l="l" t="t" r="r" b="b"/>
            <a:pathLst>
              <a:path w="329422" h="329422">
                <a:moveTo>
                  <a:pt x="67923" y="0"/>
                </a:moveTo>
                <a:lnTo>
                  <a:pt x="261498" y="0"/>
                </a:lnTo>
                <a:cubicBezTo>
                  <a:pt x="298986" y="0"/>
                  <a:pt x="329422" y="30435"/>
                  <a:pt x="329422" y="67923"/>
                </a:cubicBezTo>
                <a:lnTo>
                  <a:pt x="329422" y="261498"/>
                </a:lnTo>
                <a:cubicBezTo>
                  <a:pt x="329422" y="298986"/>
                  <a:pt x="298986" y="329422"/>
                  <a:pt x="261498" y="329422"/>
                </a:cubicBezTo>
                <a:lnTo>
                  <a:pt x="67923" y="329422"/>
                </a:lnTo>
                <a:cubicBezTo>
                  <a:pt x="30435" y="329422"/>
                  <a:pt x="0" y="298986"/>
                  <a:pt x="0" y="26149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chemeClr val="accent4">
              <a:lumMod val="50000"/>
              <a:alpha val="10196"/>
            </a:schemeClr>
          </a:solidFill>
          <a:ln w="10160">
            <a:solidFill>
              <a:schemeClr val="accent4">
                <a:lumMod val="50000"/>
                <a:alpha val="30000"/>
              </a:schemeClr>
            </a:solidFill>
            <a:prstDash val="solid"/>
          </a:ln>
        </p:spPr>
      </p:sp>
      <p:sp>
        <p:nvSpPr>
          <p:cNvPr id="249" name="Shape 64">
            <a:extLst>
              <a:ext uri="{FF2B5EF4-FFF2-40B4-BE49-F238E27FC236}">
                <a16:creationId xmlns:a16="http://schemas.microsoft.com/office/drawing/2014/main" id="{9D0B6B00-4E82-BB2B-1CB2-1C4844086733}"/>
              </a:ext>
            </a:extLst>
          </p:cNvPr>
          <p:cNvSpPr/>
          <p:nvPr/>
        </p:nvSpPr>
        <p:spPr>
          <a:xfrm>
            <a:off x="611723" y="5742806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150019" y="83158"/>
                </a:moveTo>
                <a:cubicBezTo>
                  <a:pt x="153750" y="79427"/>
                  <a:pt x="153750" y="73368"/>
                  <a:pt x="150019" y="69637"/>
                </a:cubicBezTo>
                <a:lnTo>
                  <a:pt x="102261" y="21879"/>
                </a:lnTo>
                <a:cubicBezTo>
                  <a:pt x="98530" y="18148"/>
                  <a:pt x="92471" y="18148"/>
                  <a:pt x="88740" y="21879"/>
                </a:cubicBezTo>
                <a:cubicBezTo>
                  <a:pt x="85009" y="25610"/>
                  <a:pt x="85009" y="31669"/>
                  <a:pt x="88740" y="35400"/>
                </a:cubicBezTo>
                <a:lnTo>
                  <a:pt x="120200" y="66861"/>
                </a:lnTo>
                <a:lnTo>
                  <a:pt x="9552" y="66861"/>
                </a:lnTo>
                <a:cubicBezTo>
                  <a:pt x="4268" y="66861"/>
                  <a:pt x="0" y="71129"/>
                  <a:pt x="0" y="76412"/>
                </a:cubicBezTo>
                <a:cubicBezTo>
                  <a:pt x="0" y="81695"/>
                  <a:pt x="4268" y="85964"/>
                  <a:pt x="9552" y="85964"/>
                </a:cubicBezTo>
                <a:lnTo>
                  <a:pt x="120200" y="85964"/>
                </a:lnTo>
                <a:lnTo>
                  <a:pt x="88740" y="117424"/>
                </a:lnTo>
                <a:cubicBezTo>
                  <a:pt x="85009" y="121155"/>
                  <a:pt x="85009" y="127214"/>
                  <a:pt x="88740" y="130946"/>
                </a:cubicBezTo>
                <a:cubicBezTo>
                  <a:pt x="92471" y="134677"/>
                  <a:pt x="98530" y="134677"/>
                  <a:pt x="102261" y="130946"/>
                </a:cubicBezTo>
                <a:lnTo>
                  <a:pt x="150019" y="83188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/>
        </p:spPr>
      </p:sp>
      <p:sp>
        <p:nvSpPr>
          <p:cNvPr id="251" name="Shape 63">
            <a:extLst>
              <a:ext uri="{FF2B5EF4-FFF2-40B4-BE49-F238E27FC236}">
                <a16:creationId xmlns:a16="http://schemas.microsoft.com/office/drawing/2014/main" id="{D62EBEED-AFE5-ED41-E098-3B3893FA7191}"/>
              </a:ext>
            </a:extLst>
          </p:cNvPr>
          <p:cNvSpPr/>
          <p:nvPr/>
        </p:nvSpPr>
        <p:spPr>
          <a:xfrm>
            <a:off x="4351557" y="5171199"/>
            <a:ext cx="329422" cy="329422"/>
          </a:xfrm>
          <a:custGeom>
            <a:avLst/>
            <a:gdLst/>
            <a:ahLst/>
            <a:cxnLst/>
            <a:rect l="l" t="t" r="r" b="b"/>
            <a:pathLst>
              <a:path w="329422" h="329422">
                <a:moveTo>
                  <a:pt x="67923" y="0"/>
                </a:moveTo>
                <a:lnTo>
                  <a:pt x="261498" y="0"/>
                </a:lnTo>
                <a:cubicBezTo>
                  <a:pt x="298986" y="0"/>
                  <a:pt x="329422" y="30435"/>
                  <a:pt x="329422" y="67923"/>
                </a:cubicBezTo>
                <a:lnTo>
                  <a:pt x="329422" y="261498"/>
                </a:lnTo>
                <a:cubicBezTo>
                  <a:pt x="329422" y="298986"/>
                  <a:pt x="298986" y="329422"/>
                  <a:pt x="261498" y="329422"/>
                </a:cubicBezTo>
                <a:lnTo>
                  <a:pt x="67923" y="329422"/>
                </a:lnTo>
                <a:cubicBezTo>
                  <a:pt x="30435" y="329422"/>
                  <a:pt x="0" y="298986"/>
                  <a:pt x="0" y="26149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chemeClr val="accent4">
              <a:lumMod val="50000"/>
              <a:alpha val="10196"/>
            </a:schemeClr>
          </a:solidFill>
          <a:ln w="10160">
            <a:solidFill>
              <a:schemeClr val="accent4">
                <a:lumMod val="50000"/>
                <a:alpha val="30000"/>
              </a:schemeClr>
            </a:solidFill>
            <a:prstDash val="solid"/>
          </a:ln>
        </p:spPr>
      </p:sp>
      <p:sp>
        <p:nvSpPr>
          <p:cNvPr id="252" name="Shape 64">
            <a:extLst>
              <a:ext uri="{FF2B5EF4-FFF2-40B4-BE49-F238E27FC236}">
                <a16:creationId xmlns:a16="http://schemas.microsoft.com/office/drawing/2014/main" id="{470F91DD-5942-A298-EF8A-B740CC49DB92}"/>
              </a:ext>
            </a:extLst>
          </p:cNvPr>
          <p:cNvSpPr/>
          <p:nvPr/>
        </p:nvSpPr>
        <p:spPr>
          <a:xfrm>
            <a:off x="4443677" y="5261196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150019" y="83158"/>
                </a:moveTo>
                <a:cubicBezTo>
                  <a:pt x="153750" y="79427"/>
                  <a:pt x="153750" y="73368"/>
                  <a:pt x="150019" y="69637"/>
                </a:cubicBezTo>
                <a:lnTo>
                  <a:pt x="102261" y="21879"/>
                </a:lnTo>
                <a:cubicBezTo>
                  <a:pt x="98530" y="18148"/>
                  <a:pt x="92471" y="18148"/>
                  <a:pt x="88740" y="21879"/>
                </a:cubicBezTo>
                <a:cubicBezTo>
                  <a:pt x="85009" y="25610"/>
                  <a:pt x="85009" y="31669"/>
                  <a:pt x="88740" y="35400"/>
                </a:cubicBezTo>
                <a:lnTo>
                  <a:pt x="120200" y="66861"/>
                </a:lnTo>
                <a:lnTo>
                  <a:pt x="9552" y="66861"/>
                </a:lnTo>
                <a:cubicBezTo>
                  <a:pt x="4268" y="66861"/>
                  <a:pt x="0" y="71129"/>
                  <a:pt x="0" y="76412"/>
                </a:cubicBezTo>
                <a:cubicBezTo>
                  <a:pt x="0" y="81695"/>
                  <a:pt x="4268" y="85964"/>
                  <a:pt x="9552" y="85964"/>
                </a:cubicBezTo>
                <a:lnTo>
                  <a:pt x="120200" y="85964"/>
                </a:lnTo>
                <a:lnTo>
                  <a:pt x="88740" y="117424"/>
                </a:lnTo>
                <a:cubicBezTo>
                  <a:pt x="85009" y="121155"/>
                  <a:pt x="85009" y="127214"/>
                  <a:pt x="88740" y="130946"/>
                </a:cubicBezTo>
                <a:cubicBezTo>
                  <a:pt x="92471" y="134677"/>
                  <a:pt x="98530" y="134677"/>
                  <a:pt x="102261" y="130946"/>
                </a:cubicBezTo>
                <a:lnTo>
                  <a:pt x="150019" y="83188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/>
        </p:spPr>
      </p:sp>
      <p:sp>
        <p:nvSpPr>
          <p:cNvPr id="253" name="Shape 63">
            <a:extLst>
              <a:ext uri="{FF2B5EF4-FFF2-40B4-BE49-F238E27FC236}">
                <a16:creationId xmlns:a16="http://schemas.microsoft.com/office/drawing/2014/main" id="{46C5F656-980C-17E2-51A4-6BACD7B23CEF}"/>
              </a:ext>
            </a:extLst>
          </p:cNvPr>
          <p:cNvSpPr/>
          <p:nvPr/>
        </p:nvSpPr>
        <p:spPr>
          <a:xfrm>
            <a:off x="4351557" y="5652809"/>
            <a:ext cx="329422" cy="329422"/>
          </a:xfrm>
          <a:custGeom>
            <a:avLst/>
            <a:gdLst/>
            <a:ahLst/>
            <a:cxnLst/>
            <a:rect l="l" t="t" r="r" b="b"/>
            <a:pathLst>
              <a:path w="329422" h="329422">
                <a:moveTo>
                  <a:pt x="67923" y="0"/>
                </a:moveTo>
                <a:lnTo>
                  <a:pt x="261498" y="0"/>
                </a:lnTo>
                <a:cubicBezTo>
                  <a:pt x="298986" y="0"/>
                  <a:pt x="329422" y="30435"/>
                  <a:pt x="329422" y="67923"/>
                </a:cubicBezTo>
                <a:lnTo>
                  <a:pt x="329422" y="261498"/>
                </a:lnTo>
                <a:cubicBezTo>
                  <a:pt x="329422" y="298986"/>
                  <a:pt x="298986" y="329422"/>
                  <a:pt x="261498" y="329422"/>
                </a:cubicBezTo>
                <a:lnTo>
                  <a:pt x="67923" y="329422"/>
                </a:lnTo>
                <a:cubicBezTo>
                  <a:pt x="30435" y="329422"/>
                  <a:pt x="0" y="298986"/>
                  <a:pt x="0" y="26149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chemeClr val="accent4">
              <a:lumMod val="50000"/>
              <a:alpha val="10196"/>
            </a:schemeClr>
          </a:solidFill>
          <a:ln w="10160">
            <a:solidFill>
              <a:schemeClr val="accent4">
                <a:lumMod val="50000"/>
                <a:alpha val="30000"/>
              </a:schemeClr>
            </a:solidFill>
            <a:prstDash val="solid"/>
          </a:ln>
        </p:spPr>
      </p:sp>
      <p:sp>
        <p:nvSpPr>
          <p:cNvPr id="254" name="Shape 64">
            <a:extLst>
              <a:ext uri="{FF2B5EF4-FFF2-40B4-BE49-F238E27FC236}">
                <a16:creationId xmlns:a16="http://schemas.microsoft.com/office/drawing/2014/main" id="{B4E6F3BC-5AEE-8F43-8467-0BB5D35A34A6}"/>
              </a:ext>
            </a:extLst>
          </p:cNvPr>
          <p:cNvSpPr/>
          <p:nvPr/>
        </p:nvSpPr>
        <p:spPr>
          <a:xfrm>
            <a:off x="4443677" y="5742806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150019" y="83158"/>
                </a:moveTo>
                <a:cubicBezTo>
                  <a:pt x="153750" y="79427"/>
                  <a:pt x="153750" y="73368"/>
                  <a:pt x="150019" y="69637"/>
                </a:cubicBezTo>
                <a:lnTo>
                  <a:pt x="102261" y="21879"/>
                </a:lnTo>
                <a:cubicBezTo>
                  <a:pt x="98530" y="18148"/>
                  <a:pt x="92471" y="18148"/>
                  <a:pt x="88740" y="21879"/>
                </a:cubicBezTo>
                <a:cubicBezTo>
                  <a:pt x="85009" y="25610"/>
                  <a:pt x="85009" y="31669"/>
                  <a:pt x="88740" y="35400"/>
                </a:cubicBezTo>
                <a:lnTo>
                  <a:pt x="120200" y="66861"/>
                </a:lnTo>
                <a:lnTo>
                  <a:pt x="9552" y="66861"/>
                </a:lnTo>
                <a:cubicBezTo>
                  <a:pt x="4268" y="66861"/>
                  <a:pt x="0" y="71129"/>
                  <a:pt x="0" y="76412"/>
                </a:cubicBezTo>
                <a:cubicBezTo>
                  <a:pt x="0" y="81695"/>
                  <a:pt x="4268" y="85964"/>
                  <a:pt x="9552" y="85964"/>
                </a:cubicBezTo>
                <a:lnTo>
                  <a:pt x="120200" y="85964"/>
                </a:lnTo>
                <a:lnTo>
                  <a:pt x="88740" y="117424"/>
                </a:lnTo>
                <a:cubicBezTo>
                  <a:pt x="85009" y="121155"/>
                  <a:pt x="85009" y="127214"/>
                  <a:pt x="88740" y="130946"/>
                </a:cubicBezTo>
                <a:cubicBezTo>
                  <a:pt x="92471" y="134677"/>
                  <a:pt x="98530" y="134677"/>
                  <a:pt x="102261" y="130946"/>
                </a:cubicBezTo>
                <a:lnTo>
                  <a:pt x="150019" y="83188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/>
        </p:spPr>
      </p:sp>
    </p:spTree>
    <p:extLst>
      <p:ext uri="{BB962C8B-B14F-4D97-AF65-F5344CB8AC3E}">
        <p14:creationId xmlns:p14="http://schemas.microsoft.com/office/powerpoint/2010/main" val="366170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8"/>
          <p:cNvSpPr/>
          <p:nvPr/>
        </p:nvSpPr>
        <p:spPr>
          <a:xfrm>
            <a:off x="7357110" y="1527810"/>
            <a:ext cx="4446270" cy="3769995"/>
          </a:xfrm>
          <a:custGeom>
            <a:avLst/>
            <a:gdLst/>
            <a:ahLst/>
            <a:cxnLst/>
            <a:rect l="l" t="t" r="r" b="b"/>
            <a:pathLst>
              <a:path w="4446270" h="3769995">
                <a:moveTo>
                  <a:pt x="114306" y="0"/>
                </a:moveTo>
                <a:lnTo>
                  <a:pt x="4331964" y="0"/>
                </a:lnTo>
                <a:cubicBezTo>
                  <a:pt x="4395093" y="0"/>
                  <a:pt x="4446270" y="51177"/>
                  <a:pt x="4446270" y="114306"/>
                </a:cubicBezTo>
                <a:lnTo>
                  <a:pt x="4446270" y="3655689"/>
                </a:lnTo>
                <a:cubicBezTo>
                  <a:pt x="4446270" y="3718818"/>
                  <a:pt x="4395093" y="3769995"/>
                  <a:pt x="4331964" y="3769995"/>
                </a:cubicBezTo>
                <a:lnTo>
                  <a:pt x="114306" y="3769995"/>
                </a:lnTo>
                <a:cubicBezTo>
                  <a:pt x="51177" y="3769995"/>
                  <a:pt x="0" y="3718818"/>
                  <a:pt x="0" y="365568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圆角矩形 14">
            <a:extLst>
              <a:ext uri="{FF2B5EF4-FFF2-40B4-BE49-F238E27FC236}">
                <a16:creationId xmlns:a16="http://schemas.microsoft.com/office/drawing/2014/main" id="{6C590873-E23A-6910-4269-78DF6324729A}"/>
              </a:ext>
            </a:extLst>
          </p:cNvPr>
          <p:cNvSpPr/>
          <p:nvPr/>
        </p:nvSpPr>
        <p:spPr>
          <a:xfrm>
            <a:off x="9157695" y="1975005"/>
            <a:ext cx="981230" cy="290154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solidFill>
                  <a:schemeClr val="bg1">
                    <a:lumMod val="75000"/>
                  </a:schemeClr>
                </a:solidFill>
                <a:sym typeface="+mn-ea"/>
              </a:rPr>
              <a:t>Cloud</a:t>
            </a:r>
          </a:p>
        </p:txBody>
      </p:sp>
      <p:sp>
        <p:nvSpPr>
          <p:cNvPr id="2" name="Shape 0"/>
          <p:cNvSpPr/>
          <p:nvPr/>
        </p:nvSpPr>
        <p:spPr>
          <a:xfrm>
            <a:off x="381000" y="381000"/>
            <a:ext cx="866775" cy="304800"/>
          </a:xfrm>
          <a:custGeom>
            <a:avLst/>
            <a:gdLst/>
            <a:ahLst/>
            <a:cxnLst/>
            <a:rect l="l" t="t" r="r" b="b"/>
            <a:pathLst>
              <a:path w="866775" h="304800">
                <a:moveTo>
                  <a:pt x="38100" y="0"/>
                </a:moveTo>
                <a:lnTo>
                  <a:pt x="828675" y="0"/>
                </a:lnTo>
                <a:cubicBezTo>
                  <a:pt x="849703" y="0"/>
                  <a:pt x="866775" y="17072"/>
                  <a:pt x="866775" y="38100"/>
                </a:cubicBezTo>
                <a:lnTo>
                  <a:pt x="866775" y="266700"/>
                </a:lnTo>
                <a:cubicBezTo>
                  <a:pt x="866775" y="287728"/>
                  <a:pt x="849703" y="304800"/>
                  <a:pt x="8286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95300" y="472440"/>
            <a:ext cx="69842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技术愿景 —— 从「被动监控」到「数字免疫」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4810" y="1527810"/>
            <a:ext cx="6770370" cy="2007870"/>
          </a:xfrm>
          <a:custGeom>
            <a:avLst/>
            <a:gdLst/>
            <a:ahLst/>
            <a:cxnLst/>
            <a:rect l="l" t="t" r="r" b="b"/>
            <a:pathLst>
              <a:path w="6770370" h="2007870">
                <a:moveTo>
                  <a:pt x="114308" y="0"/>
                </a:moveTo>
                <a:lnTo>
                  <a:pt x="6656062" y="0"/>
                </a:lnTo>
                <a:cubicBezTo>
                  <a:pt x="6719193" y="0"/>
                  <a:pt x="6770370" y="51177"/>
                  <a:pt x="6770370" y="114308"/>
                </a:cubicBezTo>
                <a:lnTo>
                  <a:pt x="6770370" y="1893562"/>
                </a:lnTo>
                <a:cubicBezTo>
                  <a:pt x="6770370" y="1956693"/>
                  <a:pt x="6719193" y="2007870"/>
                  <a:pt x="6656062" y="2007870"/>
                </a:cubicBezTo>
                <a:lnTo>
                  <a:pt x="114308" y="2007870"/>
                </a:lnTo>
                <a:cubicBezTo>
                  <a:pt x="51177" y="2007870"/>
                  <a:pt x="0" y="1956693"/>
                  <a:pt x="0" y="189356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40000"/>
                  <a:lumOff val="60000"/>
                  <a:alpha val="18000"/>
                </a:scheme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79120" y="1722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07708" y="182689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74420" y="177927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核心哲学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255520"/>
            <a:ext cx="6457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电池不再是冰冷的化学容器，而是拥有</a:t>
            </a: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神经（传感器）</a:t>
            </a: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大脑（AI算法）</a:t>
            </a: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免疫系统（主动安全策略）</a:t>
            </a:r>
            <a:r>
              <a:rPr lang="en-US" sz="1200" dirty="0">
                <a:solidFill>
                  <a:srgbClr val="E8EAE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的数字化生命体。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120" y="2903220"/>
            <a:ext cx="633706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从信息孤岛走向智慧闭环，实现从「事后报警」到「事前预防」、从「被动响应」到「主动免疫」的范式跃迁。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3690937"/>
            <a:ext cx="2150745" cy="2779395"/>
          </a:xfrm>
          <a:custGeom>
            <a:avLst/>
            <a:gdLst/>
            <a:ahLst/>
            <a:cxnLst/>
            <a:rect l="l" t="t" r="r" b="b"/>
            <a:pathLst>
              <a:path w="2150745" h="2779395">
                <a:moveTo>
                  <a:pt x="114291" y="0"/>
                </a:moveTo>
                <a:lnTo>
                  <a:pt x="2036454" y="0"/>
                </a:lnTo>
                <a:cubicBezTo>
                  <a:pt x="2099575" y="0"/>
                  <a:pt x="2150745" y="51170"/>
                  <a:pt x="2150745" y="114291"/>
                </a:cubicBezTo>
                <a:lnTo>
                  <a:pt x="2150745" y="2665104"/>
                </a:lnTo>
                <a:cubicBezTo>
                  <a:pt x="2150745" y="2728225"/>
                  <a:pt x="2099575" y="2779395"/>
                  <a:pt x="2036454" y="2779395"/>
                </a:cubicBezTo>
                <a:lnTo>
                  <a:pt x="114291" y="2779395"/>
                </a:lnTo>
                <a:cubicBezTo>
                  <a:pt x="51170" y="2779395"/>
                  <a:pt x="0" y="2728225"/>
                  <a:pt x="0" y="266510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41020" y="38471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62464" y="398049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1020" y="4418648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全维感知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020" y="6164700"/>
            <a:ext cx="1895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Pan-Sensing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96170" y="3690937"/>
            <a:ext cx="2150745" cy="2779395"/>
          </a:xfrm>
          <a:custGeom>
            <a:avLst/>
            <a:gdLst/>
            <a:ahLst/>
            <a:cxnLst/>
            <a:rect l="l" t="t" r="r" b="b"/>
            <a:pathLst>
              <a:path w="2150745" h="2779395">
                <a:moveTo>
                  <a:pt x="114291" y="0"/>
                </a:moveTo>
                <a:lnTo>
                  <a:pt x="2036454" y="0"/>
                </a:lnTo>
                <a:cubicBezTo>
                  <a:pt x="2099575" y="0"/>
                  <a:pt x="2150745" y="51170"/>
                  <a:pt x="2150745" y="114291"/>
                </a:cubicBezTo>
                <a:lnTo>
                  <a:pt x="2150745" y="2665104"/>
                </a:lnTo>
                <a:cubicBezTo>
                  <a:pt x="2150745" y="2728225"/>
                  <a:pt x="2099575" y="2779395"/>
                  <a:pt x="2036454" y="2779395"/>
                </a:cubicBezTo>
                <a:lnTo>
                  <a:pt x="114291" y="2779395"/>
                </a:lnTo>
                <a:cubicBezTo>
                  <a:pt x="51170" y="2779395"/>
                  <a:pt x="0" y="2728225"/>
                  <a:pt x="0" y="266510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852380" y="38471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985730" y="39804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852380" y="4418648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机理与数据共生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52380" y="4723448"/>
            <a:ext cx="1895475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52380" y="6164700"/>
            <a:ext cx="1895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Physics-AI Symbiosis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07531" y="3690937"/>
            <a:ext cx="2150745" cy="2779395"/>
          </a:xfrm>
          <a:custGeom>
            <a:avLst/>
            <a:gdLst/>
            <a:ahLst/>
            <a:cxnLst/>
            <a:rect l="l" t="t" r="r" b="b"/>
            <a:pathLst>
              <a:path w="2150745" h="2779395">
                <a:moveTo>
                  <a:pt x="114291" y="0"/>
                </a:moveTo>
                <a:lnTo>
                  <a:pt x="2036454" y="0"/>
                </a:lnTo>
                <a:cubicBezTo>
                  <a:pt x="2099575" y="0"/>
                  <a:pt x="2150745" y="51170"/>
                  <a:pt x="2150745" y="114291"/>
                </a:cubicBezTo>
                <a:lnTo>
                  <a:pt x="2150745" y="2665104"/>
                </a:lnTo>
                <a:cubicBezTo>
                  <a:pt x="2150745" y="2728225"/>
                  <a:pt x="2099575" y="2779395"/>
                  <a:pt x="2036454" y="2779395"/>
                </a:cubicBezTo>
                <a:lnTo>
                  <a:pt x="114291" y="2779395"/>
                </a:lnTo>
                <a:cubicBezTo>
                  <a:pt x="51170" y="2779395"/>
                  <a:pt x="0" y="2728225"/>
                  <a:pt x="0" y="266510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75000"/>
                  <a:alpha val="31000"/>
                </a:schemeClr>
              </a:gs>
              <a:gs pos="100000">
                <a:srgbClr val="6B7D8A">
                  <a:alpha val="5000"/>
                </a:srgbClr>
              </a:gs>
            </a:gsLst>
            <a:lin ang="2700000" scaled="1"/>
          </a:gradFill>
          <a:ln w="10160">
            <a:solidFill>
              <a:srgbClr val="6B7D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163741" y="384714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320903" y="398049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30969" y="0"/>
                </a:moveTo>
                <a:cubicBezTo>
                  <a:pt x="137554" y="0"/>
                  <a:pt x="142875" y="5321"/>
                  <a:pt x="142875" y="11906"/>
                </a:cubicBezTo>
                <a:cubicBezTo>
                  <a:pt x="142875" y="33412"/>
                  <a:pt x="133796" y="50899"/>
                  <a:pt x="121518" y="65670"/>
                </a:cubicBezTo>
                <a:cubicBezTo>
                  <a:pt x="112551" y="76423"/>
                  <a:pt x="101501" y="86171"/>
                  <a:pt x="90413" y="95250"/>
                </a:cubicBezTo>
                <a:cubicBezTo>
                  <a:pt x="101501" y="104366"/>
                  <a:pt x="112551" y="114077"/>
                  <a:pt x="121518" y="124830"/>
                </a:cubicBezTo>
                <a:cubicBezTo>
                  <a:pt x="133796" y="139564"/>
                  <a:pt x="142875" y="157088"/>
                  <a:pt x="142875" y="178594"/>
                </a:cubicBezTo>
                <a:cubicBezTo>
                  <a:pt x="142875" y="185179"/>
                  <a:pt x="137554" y="190500"/>
                  <a:pt x="130969" y="190500"/>
                </a:cubicBezTo>
                <a:cubicBezTo>
                  <a:pt x="124383" y="190500"/>
                  <a:pt x="119063" y="185179"/>
                  <a:pt x="119063" y="178594"/>
                </a:cubicBez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cubicBezTo>
                  <a:pt x="0" y="157088"/>
                  <a:pt x="9079" y="139601"/>
                  <a:pt x="21357" y="124830"/>
                </a:cubicBezTo>
                <a:cubicBezTo>
                  <a:pt x="30324" y="114077"/>
                  <a:pt x="41374" y="104366"/>
                  <a:pt x="52462" y="95250"/>
                </a:cubicBezTo>
                <a:cubicBezTo>
                  <a:pt x="41374" y="86134"/>
                  <a:pt x="30324" y="76423"/>
                  <a:pt x="21357" y="65670"/>
                </a:cubicBezTo>
                <a:cubicBezTo>
                  <a:pt x="9079" y="50899"/>
                  <a:pt x="0" y="33412"/>
                  <a:pt x="0" y="11906"/>
                </a:cubicBezTo>
                <a:cubicBezTo>
                  <a:pt x="0" y="5321"/>
                  <a:pt x="5321" y="0"/>
                  <a:pt x="11906" y="0"/>
                </a:cubicBezTo>
                <a:cubicBezTo>
                  <a:pt x="18492" y="0"/>
                  <a:pt x="23812" y="5321"/>
                  <a:pt x="23812" y="11906"/>
                </a:cubicBezTo>
                <a:lnTo>
                  <a:pt x="119063" y="11906"/>
                </a:lnTo>
                <a:cubicBezTo>
                  <a:pt x="119063" y="5321"/>
                  <a:pt x="124383" y="0"/>
                  <a:pt x="130969" y="0"/>
                </a:cubicBezTo>
                <a:close/>
                <a:moveTo>
                  <a:pt x="105482" y="142875"/>
                </a:moveTo>
                <a:lnTo>
                  <a:pt x="37430" y="142875"/>
                </a:lnTo>
                <a:cubicBezTo>
                  <a:pt x="34379" y="146782"/>
                  <a:pt x="31812" y="150726"/>
                  <a:pt x="29766" y="154781"/>
                </a:cubicBezTo>
                <a:lnTo>
                  <a:pt x="113184" y="154781"/>
                </a:lnTo>
                <a:cubicBezTo>
                  <a:pt x="111100" y="150726"/>
                  <a:pt x="108533" y="146782"/>
                  <a:pt x="105519" y="142875"/>
                </a:cubicBezTo>
                <a:close/>
                <a:moveTo>
                  <a:pt x="88553" y="125016"/>
                </a:moveTo>
                <a:cubicBezTo>
                  <a:pt x="83232" y="120179"/>
                  <a:pt x="77465" y="115416"/>
                  <a:pt x="71438" y="110505"/>
                </a:cubicBezTo>
                <a:cubicBezTo>
                  <a:pt x="65410" y="115379"/>
                  <a:pt x="59643" y="120179"/>
                  <a:pt x="54322" y="125016"/>
                </a:cubicBezTo>
                <a:lnTo>
                  <a:pt x="88553" y="125016"/>
                </a:lnTo>
                <a:close/>
                <a:moveTo>
                  <a:pt x="37393" y="47625"/>
                </a:moveTo>
                <a:lnTo>
                  <a:pt x="105445" y="47625"/>
                </a:lnTo>
                <a:cubicBezTo>
                  <a:pt x="108496" y="43718"/>
                  <a:pt x="111063" y="39774"/>
                  <a:pt x="113109" y="35719"/>
                </a:cubicBezTo>
                <a:lnTo>
                  <a:pt x="29728" y="35719"/>
                </a:lnTo>
                <a:cubicBezTo>
                  <a:pt x="31812" y="39774"/>
                  <a:pt x="34379" y="43718"/>
                  <a:pt x="37393" y="47625"/>
                </a:cubicBezTo>
                <a:close/>
                <a:moveTo>
                  <a:pt x="54322" y="65484"/>
                </a:moveTo>
                <a:cubicBezTo>
                  <a:pt x="59643" y="70321"/>
                  <a:pt x="65410" y="75084"/>
                  <a:pt x="71438" y="79995"/>
                </a:cubicBezTo>
                <a:cubicBezTo>
                  <a:pt x="77465" y="75121"/>
                  <a:pt x="83232" y="70321"/>
                  <a:pt x="88553" y="65484"/>
                </a:cubicBezTo>
                <a:lnTo>
                  <a:pt x="54322" y="65484"/>
                </a:ln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163741" y="4418648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主动进化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3741" y="6164700"/>
            <a:ext cx="1895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Evolution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75232" y="17697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804785" y="1700420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技术路径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357110" y="5460684"/>
            <a:ext cx="4446270" cy="1017270"/>
          </a:xfrm>
          <a:custGeom>
            <a:avLst/>
            <a:gdLst/>
            <a:ahLst/>
            <a:cxnLst/>
            <a:rect l="l" t="t" r="r" b="b"/>
            <a:pathLst>
              <a:path w="4446270" h="1017270">
                <a:moveTo>
                  <a:pt x="114300" y="0"/>
                </a:moveTo>
                <a:lnTo>
                  <a:pt x="4331970" y="0"/>
                </a:lnTo>
                <a:cubicBezTo>
                  <a:pt x="4395096" y="0"/>
                  <a:pt x="4446270" y="51174"/>
                  <a:pt x="4446270" y="114300"/>
                </a:cubicBezTo>
                <a:lnTo>
                  <a:pt x="4446270" y="902970"/>
                </a:lnTo>
                <a:cubicBezTo>
                  <a:pt x="4446270" y="966096"/>
                  <a:pt x="4395096" y="1017270"/>
                  <a:pt x="4331970" y="1017270"/>
                </a:cubicBezTo>
                <a:lnTo>
                  <a:pt x="114300" y="1017270"/>
                </a:lnTo>
                <a:cubicBezTo>
                  <a:pt x="51174" y="1017270"/>
                  <a:pt x="0" y="966096"/>
                  <a:pt x="0" y="9029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86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7472838" y="555212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7712272" y="5527177"/>
            <a:ext cx="3912395" cy="88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050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通过算法与数据赋能电池系统智能化运行。在对电流与运行状态进行持续建模与分析的基础上，实现安全监测与寿命管理，提升电池系统的可靠性与可持续性。</a:t>
            </a:r>
            <a:endParaRPr 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D0C4AD3-15E8-7186-4E8D-1D27B45D16B3}"/>
              </a:ext>
            </a:extLst>
          </p:cNvPr>
          <p:cNvSpPr txBox="1"/>
          <p:nvPr/>
        </p:nvSpPr>
        <p:spPr>
          <a:xfrm>
            <a:off x="2726293" y="4743807"/>
            <a:ext cx="2070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</a:rPr>
              <a:t>用电化学机理（ODE/ECM）约束AI，用AI（Transformer）弥补机理的未知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5462C96-13F6-D65C-18BA-1D3461D08BE4}"/>
              </a:ext>
            </a:extLst>
          </p:cNvPr>
          <p:cNvSpPr txBox="1"/>
          <p:nvPr/>
        </p:nvSpPr>
        <p:spPr>
          <a:xfrm>
            <a:off x="426601" y="4743807"/>
            <a:ext cx="2070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</a:rPr>
              <a:t>告别电压电流的单一监测</a:t>
            </a:r>
            <a:r>
              <a:rPr lang="en-US" altLang="zh-CN" sz="1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</a:rPr>
              <a:t>通过电</a:t>
            </a:r>
            <a:r>
              <a:rPr lang="en-US" altLang="zh-CN" sz="1000" dirty="0">
                <a:solidFill>
                  <a:schemeClr val="bg1">
                    <a:lumMod val="85000"/>
                  </a:schemeClr>
                </a:solidFill>
              </a:rPr>
              <a:t>-</a:t>
            </a: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</a:rPr>
              <a:t>热</a:t>
            </a:r>
            <a:r>
              <a:rPr lang="en-US" altLang="zh-CN" sz="1000" dirty="0">
                <a:solidFill>
                  <a:schemeClr val="bg1">
                    <a:lumMod val="85000"/>
                  </a:schemeClr>
                </a:solidFill>
              </a:rPr>
              <a:t>-</a:t>
            </a: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</a:rPr>
              <a:t>力</a:t>
            </a:r>
            <a:r>
              <a:rPr lang="en-US" altLang="zh-CN" sz="1000" dirty="0">
                <a:solidFill>
                  <a:schemeClr val="bg1">
                    <a:lumMod val="85000"/>
                  </a:schemeClr>
                </a:solidFill>
              </a:rPr>
              <a:t>-</a:t>
            </a:r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</a:rPr>
              <a:t>老化四项算法耦合，赋予电池“五感”能力。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CCD18B5-7CAA-D925-2107-B4112CB74D36}"/>
              </a:ext>
            </a:extLst>
          </p:cNvPr>
          <p:cNvSpPr txBox="1"/>
          <p:nvPr/>
        </p:nvSpPr>
        <p:spPr>
          <a:xfrm>
            <a:off x="5066645" y="4743807"/>
            <a:ext cx="2070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85000"/>
                  </a:schemeClr>
                </a:solidFill>
              </a:rPr>
              <a:t>算法随电池老化自我迭代，从「千人一面」到「一芯一策」的基因级管理</a:t>
            </a:r>
          </a:p>
        </p:txBody>
      </p:sp>
      <p:sp>
        <p:nvSpPr>
          <p:cNvPr id="191" name="平行四边形 190">
            <a:extLst>
              <a:ext uri="{FF2B5EF4-FFF2-40B4-BE49-F238E27FC236}">
                <a16:creationId xmlns:a16="http://schemas.microsoft.com/office/drawing/2014/main" id="{D7CE999C-DBB5-7B65-F5AD-5EE521CB8DDE}"/>
              </a:ext>
            </a:extLst>
          </p:cNvPr>
          <p:cNvSpPr/>
          <p:nvPr/>
        </p:nvSpPr>
        <p:spPr>
          <a:xfrm rot="16200000">
            <a:off x="8021318" y="3308154"/>
            <a:ext cx="2023236" cy="1188553"/>
          </a:xfrm>
          <a:prstGeom prst="parallelogram">
            <a:avLst>
              <a:gd name="adj" fmla="val 59146"/>
            </a:avLst>
          </a:prstGeom>
          <a:gradFill>
            <a:gsLst>
              <a:gs pos="0">
                <a:srgbClr val="007BD3">
                  <a:alpha val="0"/>
                </a:srgbClr>
              </a:gs>
              <a:gs pos="100000">
                <a:schemeClr val="accent1">
                  <a:lumMod val="40000"/>
                  <a:lumOff val="60000"/>
                  <a:alpha val="48000"/>
                </a:schemeClr>
              </a:gs>
            </a:gsLst>
            <a:lin ang="7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2" name="平行四边形 191">
            <a:extLst>
              <a:ext uri="{FF2B5EF4-FFF2-40B4-BE49-F238E27FC236}">
                <a16:creationId xmlns:a16="http://schemas.microsoft.com/office/drawing/2014/main" id="{CD92668A-4C15-E651-453D-1683181B1F9D}"/>
              </a:ext>
            </a:extLst>
          </p:cNvPr>
          <p:cNvSpPr/>
          <p:nvPr/>
        </p:nvSpPr>
        <p:spPr>
          <a:xfrm rot="5400000" flipH="1">
            <a:off x="9209381" y="3308154"/>
            <a:ext cx="2023727" cy="1188553"/>
          </a:xfrm>
          <a:prstGeom prst="parallelogram">
            <a:avLst>
              <a:gd name="adj" fmla="val 58981"/>
            </a:avLst>
          </a:prstGeom>
          <a:gradFill>
            <a:gsLst>
              <a:gs pos="0">
                <a:srgbClr val="007BD3">
                  <a:alpha val="0"/>
                </a:srgbClr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129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3" name="菱形 192">
            <a:extLst>
              <a:ext uri="{FF2B5EF4-FFF2-40B4-BE49-F238E27FC236}">
                <a16:creationId xmlns:a16="http://schemas.microsoft.com/office/drawing/2014/main" id="{A83CE654-AB9C-7C81-1133-6C7947C618BA}"/>
              </a:ext>
            </a:extLst>
          </p:cNvPr>
          <p:cNvSpPr/>
          <p:nvPr/>
        </p:nvSpPr>
        <p:spPr>
          <a:xfrm>
            <a:off x="8438904" y="2191159"/>
            <a:ext cx="2376617" cy="1406169"/>
          </a:xfrm>
          <a:prstGeom prst="diamond">
            <a:avLst/>
          </a:prstGeom>
          <a:gradFill>
            <a:gsLst>
              <a:gs pos="0">
                <a:srgbClr val="007BD3">
                  <a:alpha val="0"/>
                </a:srgbClr>
              </a:gs>
              <a:gs pos="100000">
                <a:schemeClr val="accent1">
                  <a:lumMod val="40000"/>
                  <a:lumOff val="60000"/>
                  <a:alpha val="45000"/>
                </a:schemeClr>
              </a:gs>
            </a:gsLst>
            <a:lin ang="26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4" name="圆角矩形 370">
            <a:extLst>
              <a:ext uri="{FF2B5EF4-FFF2-40B4-BE49-F238E27FC236}">
                <a16:creationId xmlns:a16="http://schemas.microsoft.com/office/drawing/2014/main" id="{F557AB6F-3E52-6DDC-E5D2-D5FBD75858A8}"/>
              </a:ext>
            </a:extLst>
          </p:cNvPr>
          <p:cNvSpPr/>
          <p:nvPr/>
        </p:nvSpPr>
        <p:spPr>
          <a:xfrm>
            <a:off x="10692152" y="2608833"/>
            <a:ext cx="878295" cy="456797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solidFill>
                  <a:schemeClr val="bg1">
                    <a:lumMod val="75000"/>
                  </a:schemeClr>
                </a:solidFill>
                <a:sym typeface="+mn-ea"/>
              </a:rPr>
              <a:t>Life-time Data</a:t>
            </a:r>
          </a:p>
        </p:txBody>
      </p:sp>
      <p:sp>
        <p:nvSpPr>
          <p:cNvPr id="195" name="圆角矩形 9">
            <a:extLst>
              <a:ext uri="{FF2B5EF4-FFF2-40B4-BE49-F238E27FC236}">
                <a16:creationId xmlns:a16="http://schemas.microsoft.com/office/drawing/2014/main" id="{3359A98B-7123-8BC6-9E49-8486D9B28DBE}"/>
              </a:ext>
            </a:extLst>
          </p:cNvPr>
          <p:cNvSpPr/>
          <p:nvPr/>
        </p:nvSpPr>
        <p:spPr>
          <a:xfrm>
            <a:off x="7643432" y="2608833"/>
            <a:ext cx="918597" cy="456797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solidFill>
                  <a:schemeClr val="bg1">
                    <a:lumMod val="75000"/>
                  </a:schemeClr>
                </a:solidFill>
              </a:rPr>
              <a:t>Trained Model</a:t>
            </a:r>
          </a:p>
        </p:txBody>
      </p:sp>
      <p:sp>
        <p:nvSpPr>
          <p:cNvPr id="196" name="圆角矩形 10">
            <a:extLst>
              <a:ext uri="{FF2B5EF4-FFF2-40B4-BE49-F238E27FC236}">
                <a16:creationId xmlns:a16="http://schemas.microsoft.com/office/drawing/2014/main" id="{EB99B6A8-2843-BEC2-5542-5C47AB5C6F65}"/>
              </a:ext>
            </a:extLst>
          </p:cNvPr>
          <p:cNvSpPr/>
          <p:nvPr/>
        </p:nvSpPr>
        <p:spPr>
          <a:xfrm>
            <a:off x="10689346" y="3903253"/>
            <a:ext cx="878295" cy="456797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solidFill>
                  <a:schemeClr val="bg1">
                    <a:lumMod val="75000"/>
                  </a:schemeClr>
                </a:solidFill>
              </a:rPr>
              <a:t>Feature Selection</a:t>
            </a:r>
          </a:p>
        </p:txBody>
      </p:sp>
      <p:sp>
        <p:nvSpPr>
          <p:cNvPr id="197" name="圆角矩形 11">
            <a:extLst>
              <a:ext uri="{FF2B5EF4-FFF2-40B4-BE49-F238E27FC236}">
                <a16:creationId xmlns:a16="http://schemas.microsoft.com/office/drawing/2014/main" id="{5B404578-9B16-7E3F-0709-0F9B3B342394}"/>
              </a:ext>
            </a:extLst>
          </p:cNvPr>
          <p:cNvSpPr/>
          <p:nvPr/>
        </p:nvSpPr>
        <p:spPr>
          <a:xfrm>
            <a:off x="7643432" y="3903253"/>
            <a:ext cx="913103" cy="456797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solidFill>
                  <a:schemeClr val="bg1">
                    <a:lumMod val="75000"/>
                  </a:schemeClr>
                </a:solidFill>
              </a:rPr>
              <a:t>Model </a:t>
            </a:r>
            <a:r>
              <a:rPr lang="en-US" altLang="zh-CN" sz="1100" b="1" dirty="0">
                <a:solidFill>
                  <a:schemeClr val="bg1">
                    <a:lumMod val="75000"/>
                  </a:schemeClr>
                </a:solidFill>
              </a:rPr>
              <a:t>Calibration</a:t>
            </a:r>
            <a:endParaRPr lang="en-US" altLang="zh-CN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8" name="圆角矩形 12">
            <a:extLst>
              <a:ext uri="{FF2B5EF4-FFF2-40B4-BE49-F238E27FC236}">
                <a16:creationId xmlns:a16="http://schemas.microsoft.com/office/drawing/2014/main" id="{F841F54D-C3AF-5FDE-9418-BC3BD5FCB129}"/>
              </a:ext>
            </a:extLst>
          </p:cNvPr>
          <p:cNvSpPr/>
          <p:nvPr/>
        </p:nvSpPr>
        <p:spPr>
          <a:xfrm>
            <a:off x="9148311" y="4844601"/>
            <a:ext cx="983681" cy="300015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solidFill>
                  <a:schemeClr val="bg1">
                    <a:lumMod val="75000"/>
                  </a:schemeClr>
                </a:solidFill>
              </a:rPr>
              <a:t>Modelling</a:t>
            </a:r>
          </a:p>
        </p:txBody>
      </p:sp>
      <p:sp>
        <p:nvSpPr>
          <p:cNvPr id="199" name="圆角矩形 13">
            <a:extLst>
              <a:ext uri="{FF2B5EF4-FFF2-40B4-BE49-F238E27FC236}">
                <a16:creationId xmlns:a16="http://schemas.microsoft.com/office/drawing/2014/main" id="{5F21DAD5-2A8E-2DD4-D9B0-F3DE78B0718F}"/>
              </a:ext>
            </a:extLst>
          </p:cNvPr>
          <p:cNvSpPr/>
          <p:nvPr/>
        </p:nvSpPr>
        <p:spPr>
          <a:xfrm>
            <a:off x="9168088" y="3391028"/>
            <a:ext cx="983681" cy="299909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solidFill>
                  <a:schemeClr val="bg1">
                    <a:lumMod val="75000"/>
                  </a:schemeClr>
                </a:solidFill>
              </a:rPr>
              <a:t>Forecast</a:t>
            </a: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1FE2612D-213D-993F-6F21-8DE8EA978BC4}"/>
              </a:ext>
            </a:extLst>
          </p:cNvPr>
          <p:cNvCxnSpPr/>
          <p:nvPr/>
        </p:nvCxnSpPr>
        <p:spPr>
          <a:xfrm flipV="1">
            <a:off x="8832475" y="2478862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6">
                    <a:lumMod val="60000"/>
                    <a:lumOff val="40000"/>
                    <a:alpha val="0"/>
                  </a:schemeClr>
                </a:gs>
                <a:gs pos="83000">
                  <a:schemeClr val="accent6">
                    <a:lumMod val="5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C51F5C86-0098-CD10-AB05-E113EB1800EB}"/>
              </a:ext>
            </a:extLst>
          </p:cNvPr>
          <p:cNvCxnSpPr/>
          <p:nvPr/>
        </p:nvCxnSpPr>
        <p:spPr>
          <a:xfrm>
            <a:off x="10020048" y="2478862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6">
                    <a:lumMod val="60000"/>
                    <a:lumOff val="40000"/>
                    <a:alpha val="0"/>
                  </a:schemeClr>
                </a:gs>
                <a:gs pos="83000">
                  <a:schemeClr val="accent6">
                    <a:lumMod val="5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A3131424-609C-84C9-92DF-52D464B7B675}"/>
              </a:ext>
            </a:extLst>
          </p:cNvPr>
          <p:cNvCxnSpPr/>
          <p:nvPr/>
        </p:nvCxnSpPr>
        <p:spPr>
          <a:xfrm rot="10800000">
            <a:off x="8785913" y="3097890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6">
                    <a:lumMod val="60000"/>
                    <a:lumOff val="40000"/>
                    <a:alpha val="0"/>
                  </a:schemeClr>
                </a:gs>
                <a:gs pos="83000">
                  <a:schemeClr val="accent6">
                    <a:lumMod val="5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70D6B35D-4696-CBB9-816F-87E398776D4D}"/>
              </a:ext>
            </a:extLst>
          </p:cNvPr>
          <p:cNvCxnSpPr/>
          <p:nvPr/>
        </p:nvCxnSpPr>
        <p:spPr>
          <a:xfrm rot="10800000" flipV="1">
            <a:off x="10020538" y="3133179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6">
                    <a:lumMod val="60000"/>
                    <a:lumOff val="40000"/>
                    <a:alpha val="0"/>
                  </a:schemeClr>
                </a:gs>
                <a:gs pos="83000">
                  <a:schemeClr val="accent6">
                    <a:lumMod val="5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15BD2C58-8322-5868-5023-59562360281F}"/>
              </a:ext>
            </a:extLst>
          </p:cNvPr>
          <p:cNvCxnSpPr/>
          <p:nvPr/>
        </p:nvCxnSpPr>
        <p:spPr>
          <a:xfrm rot="10800000">
            <a:off x="8819732" y="4432991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83000">
                  <a:schemeClr val="accent4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7515918A-65B1-A1B4-D26D-559ABBEA83BC}"/>
              </a:ext>
            </a:extLst>
          </p:cNvPr>
          <p:cNvCxnSpPr/>
          <p:nvPr/>
        </p:nvCxnSpPr>
        <p:spPr>
          <a:xfrm rot="10800000" flipV="1">
            <a:off x="10084744" y="4409465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83000">
                  <a:schemeClr val="accent4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1EF83434-09DE-BE1C-6CD8-55685859FAE8}"/>
              </a:ext>
            </a:extLst>
          </p:cNvPr>
          <p:cNvCxnSpPr/>
          <p:nvPr/>
        </p:nvCxnSpPr>
        <p:spPr>
          <a:xfrm flipV="1">
            <a:off x="8437924" y="3353245"/>
            <a:ext cx="980" cy="443073"/>
          </a:xfrm>
          <a:prstGeom prst="straightConnector1">
            <a:avLst/>
          </a:prstGeom>
          <a:ln w="47625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83000">
                  <a:schemeClr val="accent4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906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94841422-C32C-8087-7913-7C577E99A45D}"/>
              </a:ext>
            </a:extLst>
          </p:cNvPr>
          <p:cNvCxnSpPr/>
          <p:nvPr/>
        </p:nvCxnSpPr>
        <p:spPr>
          <a:xfrm rot="10800000" flipV="1">
            <a:off x="10815521" y="3353245"/>
            <a:ext cx="980" cy="443073"/>
          </a:xfrm>
          <a:prstGeom prst="straightConnector1">
            <a:avLst/>
          </a:prstGeom>
          <a:ln w="47625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83000">
                  <a:schemeClr val="accent4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59D92939-371E-4896-40DE-24BEF48E87B3}"/>
              </a:ext>
            </a:extLst>
          </p:cNvPr>
          <p:cNvCxnSpPr/>
          <p:nvPr/>
        </p:nvCxnSpPr>
        <p:spPr>
          <a:xfrm flipV="1">
            <a:off x="8773170" y="2390640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83000">
                  <a:schemeClr val="accent4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EB5B791C-AC5A-99B3-89DF-93EFA261AA55}"/>
              </a:ext>
            </a:extLst>
          </p:cNvPr>
          <p:cNvCxnSpPr/>
          <p:nvPr/>
        </p:nvCxnSpPr>
        <p:spPr>
          <a:xfrm rot="10800000" flipH="1" flipV="1">
            <a:off x="10084744" y="2390640"/>
            <a:ext cx="401903" cy="235750"/>
          </a:xfrm>
          <a:prstGeom prst="straightConnector1">
            <a:avLst/>
          </a:prstGeom>
          <a:ln w="47625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83000">
                  <a:schemeClr val="accent4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74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EF736291-117A-8C47-4FA4-6AD0C59A35F6}"/>
              </a:ext>
            </a:extLst>
          </p:cNvPr>
          <p:cNvGrpSpPr/>
          <p:nvPr/>
        </p:nvGrpSpPr>
        <p:grpSpPr>
          <a:xfrm>
            <a:off x="10422440" y="4675606"/>
            <a:ext cx="1237565" cy="430330"/>
            <a:chOff x="5935" y="7550"/>
            <a:chExt cx="2525" cy="878"/>
          </a:xfrm>
        </p:grpSpPr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97E86034-8E7A-3B55-BCAC-650672477840}"/>
                </a:ext>
              </a:extLst>
            </p:cNvPr>
            <p:cNvCxnSpPr/>
            <p:nvPr/>
          </p:nvCxnSpPr>
          <p:spPr>
            <a:xfrm>
              <a:off x="5935" y="7740"/>
              <a:ext cx="558" cy="6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4">
                      <a:lumMod val="75000"/>
                    </a:schemeClr>
                  </a:gs>
                  <a:gs pos="83000">
                    <a:schemeClr val="accent2">
                      <a:lumMod val="75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74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DB7601CC-AEDD-5353-4833-9338C391ECD4}"/>
                </a:ext>
              </a:extLst>
            </p:cNvPr>
            <p:cNvCxnSpPr/>
            <p:nvPr/>
          </p:nvCxnSpPr>
          <p:spPr>
            <a:xfrm>
              <a:off x="5935" y="8152"/>
              <a:ext cx="558" cy="6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6">
                      <a:lumMod val="60000"/>
                      <a:lumOff val="40000"/>
                      <a:alpha val="0"/>
                    </a:schemeClr>
                  </a:gs>
                  <a:gs pos="83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174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AB54E6EB-C033-6DBA-145A-222866A034D4}"/>
                </a:ext>
              </a:extLst>
            </p:cNvPr>
            <p:cNvSpPr txBox="1"/>
            <p:nvPr/>
          </p:nvSpPr>
          <p:spPr>
            <a:xfrm>
              <a:off x="6453" y="7550"/>
              <a:ext cx="1779" cy="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Offline Process</a:t>
              </a: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6DAB416A-E0A5-C022-C086-82481391793A}"/>
                </a:ext>
              </a:extLst>
            </p:cNvPr>
            <p:cNvSpPr txBox="1"/>
            <p:nvPr/>
          </p:nvSpPr>
          <p:spPr>
            <a:xfrm>
              <a:off x="6453" y="7977"/>
              <a:ext cx="2007" cy="4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Online Process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628775" cy="304800"/>
          </a:xfrm>
          <a:custGeom>
            <a:avLst/>
            <a:gdLst/>
            <a:ahLst/>
            <a:cxnLst/>
            <a:rect l="l" t="t" r="r" b="b"/>
            <a:pathLst>
              <a:path w="1628775" h="304800">
                <a:moveTo>
                  <a:pt x="38100" y="0"/>
                </a:moveTo>
                <a:lnTo>
                  <a:pt x="1590675" y="0"/>
                </a:lnTo>
                <a:cubicBezTo>
                  <a:pt x="1611703" y="0"/>
                  <a:pt x="1628775" y="17072"/>
                  <a:pt x="1628775" y="38100"/>
                </a:cubicBezTo>
                <a:lnTo>
                  <a:pt x="1628775" y="266700"/>
                </a:lnTo>
                <a:cubicBezTo>
                  <a:pt x="1628775" y="287728"/>
                  <a:pt x="1611703" y="304800"/>
                  <a:pt x="15906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95300" y="472441"/>
            <a:ext cx="145815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STATE ESTIMATION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状态感知：精准的「数字脉搏」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4810" y="1564527"/>
            <a:ext cx="3703320" cy="4079817"/>
          </a:xfrm>
          <a:custGeom>
            <a:avLst/>
            <a:gdLst/>
            <a:ahLst/>
            <a:cxnLst/>
            <a:rect l="l" t="t" r="r" b="b"/>
            <a:pathLst>
              <a:path w="3703320" h="47510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636786"/>
                </a:lnTo>
                <a:cubicBezTo>
                  <a:pt x="3703320" y="4699903"/>
                  <a:pt x="3652153" y="4751070"/>
                  <a:pt x="3589036" y="4751070"/>
                </a:cubicBezTo>
                <a:lnTo>
                  <a:pt x="114284" y="4751070"/>
                </a:lnTo>
                <a:cubicBezTo>
                  <a:pt x="51167" y="4751070"/>
                  <a:pt x="0" y="4699903"/>
                  <a:pt x="0" y="46367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1020" y="1720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75429" y="1815987"/>
            <a:ext cx="4227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2520" y="1739787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荷电状态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2520" y="2006487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 of Charge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020" y="2292237"/>
            <a:ext cx="3390900" cy="1094468"/>
          </a:xfrm>
          <a:custGeom>
            <a:avLst/>
            <a:gdLst/>
            <a:ahLst/>
            <a:cxnLst/>
            <a:rect l="l" t="t" r="r" b="b"/>
            <a:pathLst>
              <a:path w="3390900" h="1057275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981077"/>
                </a:lnTo>
                <a:cubicBezTo>
                  <a:pt x="3390900" y="1023160"/>
                  <a:pt x="3356785" y="1057275"/>
                  <a:pt x="331470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5320" y="2406537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核心算法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20" y="2635019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双自适应卡尔曼滤波 (DAEKF)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20" y="2863619"/>
            <a:ext cx="3219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两个卡尔曼滤波器并行工作：一个估计状态（SOC），一个在线辨识参数（欧姆内阻R₀、极化电容Cp）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020" y="3577994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5320" y="3692294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20" y="3920775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</a:t>
            </a:r>
            <a:r>
              <a:rPr lang="en-US" sz="105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遗忘因子λ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，动态调节对历史数据的信任度，当检测到工况突变时，加速模型收敛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830" y="4686109"/>
            <a:ext cx="3379470" cy="731520"/>
          </a:xfrm>
          <a:custGeom>
            <a:avLst/>
            <a:gdLst/>
            <a:ahLst/>
            <a:cxnLst/>
            <a:rect l="l" t="t" r="r" b="b"/>
            <a:pathLst>
              <a:path w="3379470" h="731520">
                <a:moveTo>
                  <a:pt x="76202" y="0"/>
                </a:moveTo>
                <a:lnTo>
                  <a:pt x="3303268" y="0"/>
                </a:lnTo>
                <a:cubicBezTo>
                  <a:pt x="3345353" y="0"/>
                  <a:pt x="3379470" y="34117"/>
                  <a:pt x="3379470" y="76202"/>
                </a:cubicBezTo>
                <a:lnTo>
                  <a:pt x="3379470" y="655318"/>
                </a:lnTo>
                <a:cubicBezTo>
                  <a:pt x="3379470" y="697403"/>
                  <a:pt x="3345353" y="731520"/>
                  <a:pt x="330326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62940" y="4804217"/>
            <a:ext cx="600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精度指标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" y="4994598"/>
            <a:ext cx="657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≤5%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16831" y="4861248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鲁棒性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7306" y="505163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显著提升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5531" y="1564527"/>
            <a:ext cx="3703320" cy="4079817"/>
          </a:xfrm>
          <a:custGeom>
            <a:avLst/>
            <a:gdLst/>
            <a:ahLst/>
            <a:cxnLst/>
            <a:rect l="l" t="t" r="r" b="b"/>
            <a:pathLst>
              <a:path w="3703320" h="47510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636786"/>
                </a:lnTo>
                <a:cubicBezTo>
                  <a:pt x="3703320" y="4699903"/>
                  <a:pt x="3652153" y="4751070"/>
                  <a:pt x="3589036" y="4751070"/>
                </a:cubicBezTo>
                <a:lnTo>
                  <a:pt x="114284" y="4751070"/>
                </a:lnTo>
                <a:cubicBezTo>
                  <a:pt x="51167" y="4751070"/>
                  <a:pt x="0" y="4699903"/>
                  <a:pt x="0" y="46367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401741" y="1720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391013" y="1815987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3241" y="1739787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健康状态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73241" y="2006487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 of Health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1741" y="2292237"/>
            <a:ext cx="3390900" cy="1109695"/>
          </a:xfrm>
          <a:custGeom>
            <a:avLst/>
            <a:gdLst/>
            <a:ahLst/>
            <a:cxnLst/>
            <a:rect l="l" t="t" r="r" b="b"/>
            <a:pathLst>
              <a:path w="3390900" h="1057275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981077"/>
                </a:lnTo>
                <a:cubicBezTo>
                  <a:pt x="3390900" y="1023160"/>
                  <a:pt x="3356785" y="1057275"/>
                  <a:pt x="331470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16041" y="2445259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</a:t>
            </a:r>
            <a:r>
              <a:rPr lang="en-US" sz="1050" b="1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增量容量分析</a:t>
            </a:r>
            <a:r>
              <a:rPr lang="en-US" sz="10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(ICA)</a:t>
            </a:r>
            <a:r>
              <a:rPr lang="zh-CN" altLang="en-US" sz="10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的云端集成学习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10326" y="2750059"/>
            <a:ext cx="3219450" cy="52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sz="900" dirty="0" err="1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充电曲线</a:t>
            </a:r>
            <a:r>
              <a:rPr lang="zh-CN" alt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提取</a:t>
            </a:r>
            <a:r>
              <a:rPr lang="en-US" sz="900" dirty="0" err="1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dQ</a:t>
            </a: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/d</a:t>
            </a:r>
            <a:r>
              <a:rPr lang="en-US" altLang="zh-CN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</a:t>
            </a:r>
            <a:r>
              <a:rPr lang="zh-CN" alt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</a:t>
            </a: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，通过峰值特征反映内部电化学相变</a:t>
            </a:r>
            <a:r>
              <a:rPr lang="zh-CN" alt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。提取片段充电数据，通过</a:t>
            </a:r>
            <a:r>
              <a:rPr lang="en-US" altLang="zh-CN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r>
              <a:rPr lang="zh-CN" alt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模型高频更新</a:t>
            </a:r>
            <a:r>
              <a:rPr lang="en-US" altLang="zh-CN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SOH</a:t>
            </a:r>
            <a:r>
              <a:rPr lang="zh-CN" alt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，误差控制在</a:t>
            </a:r>
            <a:r>
              <a:rPr lang="en-US" altLang="zh-CN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1.5%</a:t>
            </a:r>
            <a:r>
              <a:rPr lang="zh-CN" alt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以内，为运维减负。</a:t>
            </a:r>
          </a:p>
        </p:txBody>
      </p:sp>
      <p:sp>
        <p:nvSpPr>
          <p:cNvPr id="32" name="Shape 30"/>
          <p:cNvSpPr/>
          <p:nvPr/>
        </p:nvSpPr>
        <p:spPr>
          <a:xfrm>
            <a:off x="4401741" y="3535283"/>
            <a:ext cx="3390900" cy="1072752"/>
          </a:xfrm>
          <a:custGeom>
            <a:avLst/>
            <a:gdLst/>
            <a:ahLst/>
            <a:cxnLst/>
            <a:rect l="l" t="t" r="r" b="b"/>
            <a:pathLst>
              <a:path w="3390900" h="1104900">
                <a:moveTo>
                  <a:pt x="76205" y="0"/>
                </a:moveTo>
                <a:lnTo>
                  <a:pt x="3314695" y="0"/>
                </a:lnTo>
                <a:cubicBezTo>
                  <a:pt x="3356782" y="0"/>
                  <a:pt x="3390900" y="34118"/>
                  <a:pt x="3390900" y="76205"/>
                </a:cubicBezTo>
                <a:lnTo>
                  <a:pt x="3390900" y="1028695"/>
                </a:lnTo>
                <a:cubicBezTo>
                  <a:pt x="3390900" y="1070782"/>
                  <a:pt x="3356782" y="1104900"/>
                  <a:pt x="33146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16041" y="3617435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特征提取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16041" y="3845916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91301" y="3845916"/>
            <a:ext cx="303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主峰位置</a:t>
            </a:r>
            <a:r>
              <a:rPr lang="en-US" sz="900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：对应石墨负极LiC₁₂→LiC₆相变，左移量&gt;50mV预示析锂风险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16041" y="4188577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91301" y="4188577"/>
            <a:ext cx="303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峰值高度与面积</a:t>
            </a:r>
            <a:r>
              <a:rPr lang="en-US" sz="900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：关联活性锂损失(LLI)和活性物质损失(LAM)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05551" y="4686109"/>
            <a:ext cx="3379470" cy="731520"/>
          </a:xfrm>
          <a:custGeom>
            <a:avLst/>
            <a:gdLst/>
            <a:ahLst/>
            <a:cxnLst/>
            <a:rect l="l" t="t" r="r" b="b"/>
            <a:pathLst>
              <a:path w="3379470" h="731520">
                <a:moveTo>
                  <a:pt x="76202" y="0"/>
                </a:moveTo>
                <a:lnTo>
                  <a:pt x="3303268" y="0"/>
                </a:lnTo>
                <a:cubicBezTo>
                  <a:pt x="3345353" y="0"/>
                  <a:pt x="3379470" y="34117"/>
                  <a:pt x="3379470" y="76202"/>
                </a:cubicBezTo>
                <a:lnTo>
                  <a:pt x="3379470" y="655318"/>
                </a:lnTo>
                <a:cubicBezTo>
                  <a:pt x="3379470" y="697403"/>
                  <a:pt x="3345353" y="731520"/>
                  <a:pt x="330326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523661" y="4804219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评估误差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23661" y="4994598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≤1.5%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59930" y="4861248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50405" y="5051630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SVM回归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6371" y="1564527"/>
            <a:ext cx="3703320" cy="4079817"/>
          </a:xfrm>
          <a:custGeom>
            <a:avLst/>
            <a:gdLst/>
            <a:ahLst/>
            <a:cxnLst/>
            <a:rect l="l" t="t" r="r" b="b"/>
            <a:pathLst>
              <a:path w="3703320" h="47510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636786"/>
                </a:lnTo>
                <a:cubicBezTo>
                  <a:pt x="3703320" y="4699903"/>
                  <a:pt x="3652153" y="4751070"/>
                  <a:pt x="3589036" y="4751070"/>
                </a:cubicBezTo>
                <a:lnTo>
                  <a:pt x="114284" y="4751070"/>
                </a:lnTo>
                <a:cubicBezTo>
                  <a:pt x="51167" y="4751070"/>
                  <a:pt x="0" y="4699903"/>
                  <a:pt x="0" y="46367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262581" y="17207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338781" y="1815987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B7D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SOP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34081" y="1739787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功率状态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34081" y="2006487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 of Power</a:t>
            </a:r>
            <a:endParaRPr lang="en-US" sz="1600" dirty="0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24B2147-39E5-4D5C-7A2D-C22B14D9B120}"/>
              </a:ext>
            </a:extLst>
          </p:cNvPr>
          <p:cNvGrpSpPr/>
          <p:nvPr/>
        </p:nvGrpSpPr>
        <p:grpSpPr>
          <a:xfrm>
            <a:off x="8262581" y="2292237"/>
            <a:ext cx="3390900" cy="3125391"/>
            <a:chOff x="8262581" y="2217421"/>
            <a:chExt cx="3390900" cy="2659876"/>
          </a:xfrm>
        </p:grpSpPr>
        <p:sp>
          <p:nvSpPr>
            <p:cNvPr id="48" name="Shape 46"/>
            <p:cNvSpPr/>
            <p:nvPr/>
          </p:nvSpPr>
          <p:spPr>
            <a:xfrm>
              <a:off x="8262581" y="2217421"/>
              <a:ext cx="3390900" cy="671276"/>
            </a:xfrm>
            <a:custGeom>
              <a:avLst/>
              <a:gdLst/>
              <a:ahLst/>
              <a:cxnLst/>
              <a:rect l="l" t="t" r="r" b="b"/>
              <a:pathLst>
                <a:path w="3390900" h="885825">
                  <a:moveTo>
                    <a:pt x="76199" y="0"/>
                  </a:moveTo>
                  <a:lnTo>
                    <a:pt x="3314701" y="0"/>
                  </a:lnTo>
                  <a:cubicBezTo>
                    <a:pt x="3356785" y="0"/>
                    <a:pt x="3390900" y="34115"/>
                    <a:pt x="3390900" y="76199"/>
                  </a:cubicBezTo>
                  <a:lnTo>
                    <a:pt x="3390900" y="809626"/>
                  </a:lnTo>
                  <a:cubicBezTo>
                    <a:pt x="3390900" y="851710"/>
                    <a:pt x="3356785" y="885825"/>
                    <a:pt x="3314701" y="885825"/>
                  </a:cubicBezTo>
                  <a:lnTo>
                    <a:pt x="76199" y="885825"/>
                  </a:lnTo>
                  <a:cubicBezTo>
                    <a:pt x="34115" y="885825"/>
                    <a:pt x="0" y="851710"/>
                    <a:pt x="0" y="809626"/>
                  </a:cubicBezTo>
                  <a:lnTo>
                    <a:pt x="0" y="76199"/>
                  </a:lnTo>
                  <a:cubicBezTo>
                    <a:pt x="0" y="34143"/>
                    <a:pt x="34143" y="0"/>
                    <a:pt x="76199" y="0"/>
                  </a:cubicBezTo>
                  <a:close/>
                </a:path>
              </a:pathLst>
            </a:custGeom>
            <a:solidFill>
              <a:srgbClr val="2D3136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8376881" y="2331720"/>
              <a:ext cx="32194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b="1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技术难点</a:t>
              </a:r>
              <a:endParaRPr lang="en-US" sz="16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8376881" y="2436377"/>
              <a:ext cx="3228975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050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低温或低SOC下，盲目大功率充放电会导致析锂或过放</a:t>
              </a:r>
              <a:endParaRPr lang="en-US" sz="16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8262581" y="3034572"/>
              <a:ext cx="3390900" cy="866775"/>
            </a:xfrm>
            <a:custGeom>
              <a:avLst/>
              <a:gdLst/>
              <a:ahLst/>
              <a:cxnLst/>
              <a:rect l="l" t="t" r="r" b="b"/>
              <a:pathLst>
                <a:path w="3390900" h="866775">
                  <a:moveTo>
                    <a:pt x="76198" y="0"/>
                  </a:moveTo>
                  <a:lnTo>
                    <a:pt x="3314702" y="0"/>
                  </a:lnTo>
                  <a:cubicBezTo>
                    <a:pt x="3356785" y="0"/>
                    <a:pt x="3390900" y="34115"/>
                    <a:pt x="3390900" y="76198"/>
                  </a:cubicBezTo>
                  <a:lnTo>
                    <a:pt x="3390900" y="790577"/>
                  </a:lnTo>
                  <a:cubicBezTo>
                    <a:pt x="3390900" y="832660"/>
                    <a:pt x="3356785" y="866775"/>
                    <a:pt x="3314702" y="866775"/>
                  </a:cubicBezTo>
                  <a:lnTo>
                    <a:pt x="76198" y="866775"/>
                  </a:lnTo>
                  <a:cubicBezTo>
                    <a:pt x="34143" y="866775"/>
                    <a:pt x="0" y="832632"/>
                    <a:pt x="0" y="790577"/>
                  </a:cubicBezTo>
                  <a:lnTo>
                    <a:pt x="0" y="76198"/>
                  </a:lnTo>
                  <a:cubicBezTo>
                    <a:pt x="0" y="34115"/>
                    <a:pt x="34115" y="0"/>
                    <a:pt x="76198" y="0"/>
                  </a:cubicBezTo>
                  <a:close/>
                </a:path>
              </a:pathLst>
            </a:custGeom>
            <a:solidFill>
              <a:srgbClr val="2D3136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8376881" y="3148872"/>
              <a:ext cx="32194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900" b="1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算法创新</a:t>
              </a:r>
              <a:endParaRPr lang="en-US" sz="16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8376881" y="3377354"/>
              <a:ext cx="32289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多物理场约束的SOP估算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8376881" y="3605954"/>
              <a:ext cx="32194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zh-CN" altLang="en-US" sz="900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同步耦合电压、</a:t>
              </a:r>
              <a:r>
                <a:rPr lang="en-US" altLang="zh-CN" sz="900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SOC</a:t>
              </a:r>
              <a:r>
                <a:rPr lang="zh-CN" altLang="en-US" sz="900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、温度、极化内阻、应力约束</a:t>
              </a:r>
              <a:endParaRPr lang="en-US" sz="16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8266391" y="4021952"/>
              <a:ext cx="3379470" cy="855345"/>
            </a:xfrm>
            <a:custGeom>
              <a:avLst/>
              <a:gdLst/>
              <a:ahLst/>
              <a:cxnLst/>
              <a:rect l="l" t="t" r="r" b="b"/>
              <a:pathLst>
                <a:path w="3379470" h="855345">
                  <a:moveTo>
                    <a:pt x="76203" y="0"/>
                  </a:moveTo>
                  <a:lnTo>
                    <a:pt x="3303267" y="0"/>
                  </a:lnTo>
                  <a:cubicBezTo>
                    <a:pt x="3345353" y="0"/>
                    <a:pt x="3379470" y="34117"/>
                    <a:pt x="3379470" y="76203"/>
                  </a:cubicBezTo>
                  <a:lnTo>
                    <a:pt x="3379470" y="779142"/>
                  </a:lnTo>
                  <a:cubicBezTo>
                    <a:pt x="3379470" y="821228"/>
                    <a:pt x="3345353" y="855345"/>
                    <a:pt x="3303267" y="855345"/>
                  </a:cubicBezTo>
                  <a:lnTo>
                    <a:pt x="76203" y="855345"/>
                  </a:lnTo>
                  <a:cubicBezTo>
                    <a:pt x="34145" y="855345"/>
                    <a:pt x="0" y="821200"/>
                    <a:pt x="0" y="779142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6B7D8A">
                <a:alpha val="10196"/>
              </a:srgbClr>
            </a:solidFill>
            <a:ln w="10160">
              <a:solidFill>
                <a:srgbClr val="6B7D8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57"/>
            <p:cNvSpPr/>
            <p:nvPr/>
          </p:nvSpPr>
          <p:spPr>
            <a:xfrm>
              <a:off x="8384500" y="4140062"/>
              <a:ext cx="3200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zh-CN" altLang="en-US" sz="900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</a:rPr>
                <a:t>核心优化目标</a:t>
              </a:r>
              <a:endParaRPr lang="en-US" sz="16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8384500" y="4330444"/>
              <a:ext cx="3209925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050" dirty="0" err="1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耦合</a:t>
              </a:r>
              <a:r>
                <a:rPr lang="en-US" sz="1050" b="1" dirty="0" err="1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SEI膜增长速率方程</a:t>
              </a:r>
              <a:r>
                <a:rPr lang="zh-CN" altLang="en-US" sz="1050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与析锂速率方程</a:t>
              </a:r>
              <a:r>
                <a:rPr lang="en-US" sz="1050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，不仅保证当下安全，更确保长期寿命损耗最小化</a:t>
              </a:r>
              <a:endParaRPr lang="en-US" sz="1600" dirty="0"/>
            </a:p>
          </p:txBody>
        </p:sp>
      </p:grpSp>
      <p:sp>
        <p:nvSpPr>
          <p:cNvPr id="61" name="Shape 59"/>
          <p:cNvSpPr/>
          <p:nvPr/>
        </p:nvSpPr>
        <p:spPr>
          <a:xfrm>
            <a:off x="400050" y="5904117"/>
            <a:ext cx="11410950" cy="447675"/>
          </a:xfrm>
          <a:custGeom>
            <a:avLst/>
            <a:gdLst/>
            <a:ahLst/>
            <a:cxnLst/>
            <a:rect l="l" t="t" r="r" b="b"/>
            <a:pathLst>
              <a:path w="11410950" h="447675">
                <a:moveTo>
                  <a:pt x="0" y="0"/>
                </a:moveTo>
                <a:lnTo>
                  <a:pt x="11334751" y="0"/>
                </a:lnTo>
                <a:cubicBezTo>
                  <a:pt x="11376835" y="0"/>
                  <a:pt x="11410950" y="34115"/>
                  <a:pt x="11410950" y="76199"/>
                </a:cubicBezTo>
                <a:lnTo>
                  <a:pt x="11410950" y="371476"/>
                </a:lnTo>
                <a:cubicBezTo>
                  <a:pt x="11410950" y="413560"/>
                  <a:pt x="11376835" y="447675"/>
                  <a:pt x="11334751" y="447675"/>
                </a:cubicBez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400050" y="5904117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552450" y="604889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762000" y="6018417"/>
            <a:ext cx="11001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学术洞察：</a:t>
            </a:r>
            <a:r>
              <a:rPr lang="en-US" sz="1050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三大状态估计算法形成闭环：SOC提供实时电量基准，SOH评估长期衰减趋势，SOP确保瞬时功率安全，三者协同实现电池全维度的精准感知。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293813" cy="254000"/>
          </a:xfrm>
          <a:custGeom>
            <a:avLst/>
            <a:gdLst/>
            <a:ahLst/>
            <a:cxnLst/>
            <a:rect l="l" t="t" r="r" b="b"/>
            <a:pathLst>
              <a:path w="1293813" h="254000">
                <a:moveTo>
                  <a:pt x="31750" y="0"/>
                </a:moveTo>
                <a:lnTo>
                  <a:pt x="1262063" y="0"/>
                </a:lnTo>
                <a:cubicBezTo>
                  <a:pt x="1279586" y="0"/>
                  <a:pt x="1293813" y="14227"/>
                  <a:pt x="1293813" y="31750"/>
                </a:cubicBezTo>
                <a:lnTo>
                  <a:pt x="1293813" y="222250"/>
                </a:lnTo>
                <a:cubicBezTo>
                  <a:pt x="1293813" y="239773"/>
                  <a:pt x="1279586" y="254000"/>
                  <a:pt x="1262063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2750" y="393701"/>
            <a:ext cx="1147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kern="0" spc="38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FAULT DIAGNOSIS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675" y="62021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故障诊断：见微知著的「名医」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477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675" y="1241425"/>
            <a:ext cx="5689600" cy="2915911"/>
          </a:xfrm>
          <a:custGeom>
            <a:avLst/>
            <a:gdLst/>
            <a:ahLst/>
            <a:cxnLst/>
            <a:rect l="l" t="t" r="r" b="b"/>
            <a:pathLst>
              <a:path w="5689600" h="6062663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5967419"/>
                </a:lnTo>
                <a:cubicBezTo>
                  <a:pt x="5689600" y="6020020"/>
                  <a:pt x="5646958" y="6062663"/>
                  <a:pt x="5594356" y="6062663"/>
                </a:cubicBezTo>
                <a:lnTo>
                  <a:pt x="95244" y="6062663"/>
                </a:lnTo>
                <a:cubicBezTo>
                  <a:pt x="42642" y="6062663"/>
                  <a:pt x="0" y="6020020"/>
                  <a:pt x="0" y="5967419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82600" y="141912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85788" y="151437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5350" y="1403350"/>
            <a:ext cx="9763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内短路 (ISC)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5350" y="1625600"/>
            <a:ext cx="952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Internal Short Circuit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2600" y="1847752"/>
            <a:ext cx="5365750" cy="934692"/>
          </a:xfrm>
          <a:custGeom>
            <a:avLst/>
            <a:gdLst/>
            <a:ahLst/>
            <a:cxnLst/>
            <a:rect l="l" t="t" r="r" b="b"/>
            <a:pathLst>
              <a:path w="5365750" h="738188">
                <a:moveTo>
                  <a:pt x="63499" y="0"/>
                </a:moveTo>
                <a:lnTo>
                  <a:pt x="5302251" y="0"/>
                </a:lnTo>
                <a:cubicBezTo>
                  <a:pt x="5337321" y="0"/>
                  <a:pt x="5365750" y="28429"/>
                  <a:pt x="5365750" y="63499"/>
                </a:cubicBezTo>
                <a:lnTo>
                  <a:pt x="5365750" y="674689"/>
                </a:lnTo>
                <a:cubicBezTo>
                  <a:pt x="5365750" y="709758"/>
                  <a:pt x="5337321" y="738188"/>
                  <a:pt x="5302251" y="738188"/>
                </a:cubicBezTo>
                <a:lnTo>
                  <a:pt x="63499" y="738188"/>
                </a:lnTo>
                <a:cubicBezTo>
                  <a:pt x="28429" y="738188"/>
                  <a:pt x="0" y="709758"/>
                  <a:pt x="0" y="6746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77850" y="1943002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7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双信号融合诊断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850" y="2133403"/>
            <a:ext cx="5230813" cy="49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87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</a:rPr>
              <a:t>容量维度</a:t>
            </a:r>
            <a:r>
              <a:rPr lang="zh-CN" alt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 捕捉微小电流泄漏导致的电荷不一致，对“软短路”极早期阶段敏感。</a:t>
            </a:r>
            <a:endParaRPr lang="en-US" altLang="zh-CN" sz="875" dirty="0">
              <a:solidFill>
                <a:srgbClr val="E8EAE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zh-CN" altLang="en-US" sz="87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</a:rPr>
              <a:t>热力学维度</a:t>
            </a:r>
            <a:r>
              <a:rPr lang="zh-CN" alt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 捕捉内短路点的焦耳热引发的参数波动，其敏感度通常高于 </a:t>
            </a:r>
            <a:r>
              <a:rPr lang="en-US" altLang="zh-CN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 </a:t>
            </a:r>
            <a:r>
              <a:rPr lang="zh-CN" alt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偏差。</a:t>
            </a:r>
            <a:endParaRPr lang="en-US" altLang="zh-CN" sz="875" dirty="0">
              <a:solidFill>
                <a:srgbClr val="E8EAE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875" b="1" dirty="0" err="1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定性报警</a:t>
            </a:r>
            <a:r>
              <a:rPr lang="en-US" sz="875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</a:t>
            </a:r>
            <a:r>
              <a:rPr lang="en-US" sz="875" b="1" dirty="0" err="1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定量计算</a:t>
            </a:r>
            <a:r>
              <a:rPr lang="zh-CN" altLang="en-US" sz="87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sz="875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建立「无故障电池」的理想电压模型，计算实测电压与理想电压的残差</a:t>
            </a: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(Residual)</a:t>
            </a:r>
            <a:r>
              <a:rPr lang="zh-CN" alt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" y="2893569"/>
            <a:ext cx="5365750" cy="563563"/>
          </a:xfrm>
          <a:custGeom>
            <a:avLst/>
            <a:gdLst/>
            <a:ahLst/>
            <a:cxnLst/>
            <a:rect l="l" t="t" r="r" b="b"/>
            <a:pathLst>
              <a:path w="5365750" h="563563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500060"/>
                </a:lnTo>
                <a:cubicBezTo>
                  <a:pt x="5365750" y="535132"/>
                  <a:pt x="5337319" y="563563"/>
                  <a:pt x="5302248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77850" y="2988819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漏电流等效电路模型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850" y="3179218"/>
            <a:ext cx="5230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通过漏电流等效电路模型，反推并联的短路电阻R</a:t>
            </a:r>
            <a:r>
              <a:rPr lang="en-US" sz="6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5775" y="3552332"/>
            <a:ext cx="2633662" cy="472677"/>
          </a:xfrm>
          <a:custGeom>
            <a:avLst/>
            <a:gdLst/>
            <a:ahLst/>
            <a:cxnLst/>
            <a:rect l="l" t="t" r="r" b="b"/>
            <a:pathLst>
              <a:path w="2633662" h="641350">
                <a:moveTo>
                  <a:pt x="63500" y="0"/>
                </a:moveTo>
                <a:lnTo>
                  <a:pt x="2570162" y="0"/>
                </a:lnTo>
                <a:cubicBezTo>
                  <a:pt x="2605233" y="0"/>
                  <a:pt x="2633662" y="28430"/>
                  <a:pt x="2633662" y="63500"/>
                </a:cubicBezTo>
                <a:lnTo>
                  <a:pt x="2633662" y="577850"/>
                </a:lnTo>
                <a:cubicBezTo>
                  <a:pt x="2633663" y="612920"/>
                  <a:pt x="2605233" y="641350"/>
                  <a:pt x="2570162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92175" y="3682651"/>
            <a:ext cx="818579" cy="101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识别精度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4064" y="3608987"/>
            <a:ext cx="181838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637" y="3831237"/>
            <a:ext cx="2547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微弱漏电流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7863" y="3552332"/>
            <a:ext cx="2633662" cy="472678"/>
          </a:xfrm>
          <a:custGeom>
            <a:avLst/>
            <a:gdLst/>
            <a:ahLst/>
            <a:cxnLst/>
            <a:rect l="l" t="t" r="r" b="b"/>
            <a:pathLst>
              <a:path w="2633662" h="641350">
                <a:moveTo>
                  <a:pt x="63500" y="0"/>
                </a:moveTo>
                <a:lnTo>
                  <a:pt x="2570162" y="0"/>
                </a:lnTo>
                <a:cubicBezTo>
                  <a:pt x="2605233" y="0"/>
                  <a:pt x="2633662" y="28430"/>
                  <a:pt x="2633662" y="63500"/>
                </a:cubicBezTo>
                <a:lnTo>
                  <a:pt x="2633662" y="577850"/>
                </a:lnTo>
                <a:cubicBezTo>
                  <a:pt x="2633663" y="612920"/>
                  <a:pt x="2605233" y="641350"/>
                  <a:pt x="2570162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612325" y="3668121"/>
            <a:ext cx="1164971" cy="14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38016" y="3608987"/>
            <a:ext cx="188652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96.4%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60725" y="3831237"/>
            <a:ext cx="2547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低电流隐患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7500" y="4268461"/>
            <a:ext cx="5689600" cy="1982788"/>
          </a:xfrm>
          <a:custGeom>
            <a:avLst/>
            <a:gdLst/>
            <a:ahLst/>
            <a:cxnLst/>
            <a:rect l="l" t="t" r="r" b="b"/>
            <a:pathLst>
              <a:path w="5689600" h="1982788">
                <a:moveTo>
                  <a:pt x="95253" y="0"/>
                </a:moveTo>
                <a:lnTo>
                  <a:pt x="5594347" y="0"/>
                </a:lnTo>
                <a:cubicBezTo>
                  <a:pt x="5646954" y="0"/>
                  <a:pt x="5689600" y="42646"/>
                  <a:pt x="5689600" y="95253"/>
                </a:cubicBezTo>
                <a:lnTo>
                  <a:pt x="5689600" y="1887534"/>
                </a:lnTo>
                <a:cubicBezTo>
                  <a:pt x="5689600" y="1940141"/>
                  <a:pt x="5646954" y="1982788"/>
                  <a:pt x="5594347" y="1982788"/>
                </a:cubicBezTo>
                <a:lnTo>
                  <a:pt x="95253" y="1982788"/>
                </a:lnTo>
                <a:cubicBezTo>
                  <a:pt x="42646" y="1982788"/>
                  <a:pt x="0" y="1940141"/>
                  <a:pt x="0" y="1887534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79425" y="444616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74675" y="454141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59531" y="23812"/>
                </a:moveTo>
                <a:cubicBezTo>
                  <a:pt x="61193" y="23812"/>
                  <a:pt x="62781" y="24507"/>
                  <a:pt x="63922" y="25747"/>
                </a:cubicBezTo>
                <a:lnTo>
                  <a:pt x="81558" y="44971"/>
                </a:lnTo>
                <a:lnTo>
                  <a:pt x="93018" y="33486"/>
                </a:lnTo>
                <a:cubicBezTo>
                  <a:pt x="95349" y="31155"/>
                  <a:pt x="99120" y="31155"/>
                  <a:pt x="101426" y="33486"/>
                </a:cubicBezTo>
                <a:lnTo>
                  <a:pt x="117301" y="49361"/>
                </a:lnTo>
                <a:cubicBezTo>
                  <a:pt x="118418" y="50478"/>
                  <a:pt x="119038" y="51991"/>
                  <a:pt x="119038" y="53578"/>
                </a:cubicBezTo>
                <a:lnTo>
                  <a:pt x="119038" y="81359"/>
                </a:lnTo>
                <a:cubicBezTo>
                  <a:pt x="119038" y="84658"/>
                  <a:pt x="116384" y="87313"/>
                  <a:pt x="113085" y="87313"/>
                </a:cubicBezTo>
                <a:lnTo>
                  <a:pt x="37678" y="87313"/>
                </a:lnTo>
                <a:cubicBezTo>
                  <a:pt x="34379" y="87313"/>
                  <a:pt x="31725" y="84658"/>
                  <a:pt x="31725" y="81359"/>
                </a:cubicBezTo>
                <a:lnTo>
                  <a:pt x="31725" y="53578"/>
                </a:lnTo>
                <a:cubicBezTo>
                  <a:pt x="31725" y="52090"/>
                  <a:pt x="32296" y="50651"/>
                  <a:pt x="33288" y="49560"/>
                </a:cubicBezTo>
                <a:lnTo>
                  <a:pt x="55116" y="25747"/>
                </a:lnTo>
                <a:cubicBezTo>
                  <a:pt x="56232" y="24507"/>
                  <a:pt x="57845" y="23813"/>
                  <a:pt x="59506" y="23813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2175" y="4430387"/>
            <a:ext cx="90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2175" y="4652637"/>
            <a:ext cx="88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9425" y="4874786"/>
            <a:ext cx="5365750" cy="563563"/>
          </a:xfrm>
          <a:custGeom>
            <a:avLst/>
            <a:gdLst/>
            <a:ahLst/>
            <a:cxnLst/>
            <a:rect l="l" t="t" r="r" b="b"/>
            <a:pathLst>
              <a:path w="5365750" h="563563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500060"/>
                </a:lnTo>
                <a:cubicBezTo>
                  <a:pt x="5365750" y="535132"/>
                  <a:pt x="5337319" y="563563"/>
                  <a:pt x="5302248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74675" y="4970038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 err="1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香农熵</a:t>
            </a:r>
            <a:r>
              <a:rPr lang="en-US" sz="7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(Shannon Entropy)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4675" y="5160437"/>
            <a:ext cx="5230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利用信息论中的香农熵衡量电池组的一致性混乱程度——熵值越小，系统越有序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9425" y="5531515"/>
            <a:ext cx="5365750" cy="563563"/>
          </a:xfrm>
          <a:custGeom>
            <a:avLst/>
            <a:gdLst/>
            <a:ahLst/>
            <a:cxnLst/>
            <a:rect l="l" t="t" r="r" b="b"/>
            <a:pathLst>
              <a:path w="5365750" h="563563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500060"/>
                </a:lnTo>
                <a:cubicBezTo>
                  <a:pt x="5365750" y="535132"/>
                  <a:pt x="5337319" y="563563"/>
                  <a:pt x="5302248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74675" y="5596998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7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从连续到离散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4675" y="5747173"/>
            <a:ext cx="5230813" cy="343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不直接使用易波动的原始差值，而是通过改进</a:t>
            </a:r>
            <a:r>
              <a:rPr lang="en-US" altLang="zh-CN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Z-</a:t>
            </a:r>
            <a:r>
              <a:rPr lang="zh-CN" alt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分数将其转化为离散故障等级。这种处理方式有效过滤了电流波动和环境噪声，解决了实际环境下常见的误报问题。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8550" y="1241426"/>
            <a:ext cx="5689600" cy="3299986"/>
          </a:xfrm>
          <a:custGeom>
            <a:avLst/>
            <a:gdLst/>
            <a:ahLst/>
            <a:cxnLst/>
            <a:rect l="l" t="t" r="r" b="b"/>
            <a:pathLst>
              <a:path w="5689600" h="3482975">
                <a:moveTo>
                  <a:pt x="95259" y="0"/>
                </a:moveTo>
                <a:lnTo>
                  <a:pt x="5594341" y="0"/>
                </a:lnTo>
                <a:cubicBezTo>
                  <a:pt x="5646951" y="0"/>
                  <a:pt x="5689600" y="42649"/>
                  <a:pt x="5689600" y="95259"/>
                </a:cubicBezTo>
                <a:lnTo>
                  <a:pt x="5689600" y="3387716"/>
                </a:lnTo>
                <a:cubicBezTo>
                  <a:pt x="5689600" y="3440326"/>
                  <a:pt x="5646951" y="3482975"/>
                  <a:pt x="5594341" y="3482975"/>
                </a:cubicBezTo>
                <a:lnTo>
                  <a:pt x="95259" y="3482975"/>
                </a:lnTo>
                <a:cubicBezTo>
                  <a:pt x="42649" y="3482975"/>
                  <a:pt x="0" y="3440326"/>
                  <a:pt x="0" y="3387716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340475" y="141912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435725" y="15143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753225" y="1403350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析锂检测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3225" y="1625600"/>
            <a:ext cx="1158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Lithium Plating Detection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40475" y="1847752"/>
            <a:ext cx="5365750" cy="563563"/>
          </a:xfrm>
          <a:custGeom>
            <a:avLst/>
            <a:gdLst/>
            <a:ahLst/>
            <a:cxnLst/>
            <a:rect l="l" t="t" r="r" b="b"/>
            <a:pathLst>
              <a:path w="5365750" h="563563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500060"/>
                </a:lnTo>
                <a:cubicBezTo>
                  <a:pt x="5365750" y="535132"/>
                  <a:pt x="5337319" y="563563"/>
                  <a:pt x="5302248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435725" y="1943002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35725" y="2133403"/>
            <a:ext cx="5230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析锂是</a:t>
            </a:r>
            <a:r>
              <a:rPr lang="zh-CN" altLang="en-US" sz="87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指电池在充电时锂离子未能嵌入负极材料内部</a:t>
            </a: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，通常发生在低温快充或过充时，导致容量跳水和短路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0475" y="2504481"/>
            <a:ext cx="5365750" cy="563563"/>
          </a:xfrm>
          <a:custGeom>
            <a:avLst/>
            <a:gdLst/>
            <a:ahLst/>
            <a:cxnLst/>
            <a:rect l="l" t="t" r="r" b="b"/>
            <a:pathLst>
              <a:path w="5365750" h="563563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500060"/>
                </a:lnTo>
                <a:cubicBezTo>
                  <a:pt x="5365750" y="535132"/>
                  <a:pt x="5337319" y="563563"/>
                  <a:pt x="5302248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435725" y="2599731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三电极实验标定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35725" y="2790130"/>
            <a:ext cx="5230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900" dirty="0">
                <a:solidFill>
                  <a:schemeClr val="bg1">
                    <a:lumMod val="85000"/>
                  </a:schemeClr>
                </a:solidFill>
              </a:rPr>
              <a:t>构建无析锂的负极电位图谱（</a:t>
            </a:r>
            <a:r>
              <a:rPr lang="en-US" altLang="zh-CN" sz="900" dirty="0">
                <a:solidFill>
                  <a:schemeClr val="bg1">
                    <a:lumMod val="85000"/>
                  </a:schemeClr>
                </a:solidFill>
              </a:rPr>
              <a:t>Map</a:t>
            </a:r>
            <a:r>
              <a:rPr lang="zh-CN" altLang="en-US" sz="900" dirty="0">
                <a:solidFill>
                  <a:schemeClr val="bg1">
                    <a:lumMod val="85000"/>
                  </a:schemeClr>
                </a:solidFill>
              </a:rPr>
              <a:t>），实现负极电位演化的定量表征与析锂风险区间划分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340475" y="3161208"/>
            <a:ext cx="5365750" cy="563563"/>
          </a:xfrm>
          <a:custGeom>
            <a:avLst/>
            <a:gdLst/>
            <a:ahLst/>
            <a:cxnLst/>
            <a:rect l="l" t="t" r="r" b="b"/>
            <a:pathLst>
              <a:path w="5365750" h="563563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500060"/>
                </a:lnTo>
                <a:cubicBezTo>
                  <a:pt x="5365750" y="535132"/>
                  <a:pt x="5337319" y="563563"/>
                  <a:pt x="5302248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35725" y="3256458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实时修正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35725" y="3446859"/>
            <a:ext cx="5230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在BMS中运行简化模型，根据实时电流和温度，计算当前负极电位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3650" y="3821113"/>
            <a:ext cx="5364163" cy="609274"/>
          </a:xfrm>
          <a:custGeom>
            <a:avLst/>
            <a:gdLst/>
            <a:ahLst/>
            <a:cxnLst/>
            <a:rect l="l" t="t" r="r" b="b"/>
            <a:pathLst>
              <a:path w="5364163" h="736600">
                <a:moveTo>
                  <a:pt x="63502" y="0"/>
                </a:moveTo>
                <a:lnTo>
                  <a:pt x="5300660" y="0"/>
                </a:lnTo>
                <a:cubicBezTo>
                  <a:pt x="5335708" y="0"/>
                  <a:pt x="5364163" y="28454"/>
                  <a:pt x="5364163" y="63502"/>
                </a:cubicBezTo>
                <a:lnTo>
                  <a:pt x="5364163" y="673098"/>
                </a:lnTo>
                <a:cubicBezTo>
                  <a:pt x="5364163" y="708146"/>
                  <a:pt x="5335708" y="736600"/>
                  <a:pt x="5300660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1" name="Text 49"/>
          <p:cNvSpPr/>
          <p:nvPr/>
        </p:nvSpPr>
        <p:spPr>
          <a:xfrm>
            <a:off x="6418263" y="3919538"/>
            <a:ext cx="5214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预警条件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94450" y="4078189"/>
            <a:ext cx="5262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Φ</a:t>
            </a:r>
            <a:r>
              <a:rPr lang="en-US" sz="1125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anode</a:t>
            </a: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 0V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8550" y="4634576"/>
            <a:ext cx="5689600" cy="1616674"/>
          </a:xfrm>
          <a:custGeom>
            <a:avLst/>
            <a:gdLst/>
            <a:ahLst/>
            <a:cxnLst/>
            <a:rect l="l" t="t" r="r" b="b"/>
            <a:pathLst>
              <a:path w="5689600" h="4570413">
                <a:moveTo>
                  <a:pt x="95247" y="0"/>
                </a:moveTo>
                <a:lnTo>
                  <a:pt x="5594353" y="0"/>
                </a:lnTo>
                <a:cubicBezTo>
                  <a:pt x="5646956" y="0"/>
                  <a:pt x="5689600" y="42644"/>
                  <a:pt x="5689600" y="95247"/>
                </a:cubicBezTo>
                <a:lnTo>
                  <a:pt x="5689600" y="4475165"/>
                </a:lnTo>
                <a:cubicBezTo>
                  <a:pt x="5689600" y="4527769"/>
                  <a:pt x="5646956" y="4570412"/>
                  <a:pt x="5594353" y="4570413"/>
                </a:cubicBezTo>
                <a:lnTo>
                  <a:pt x="95247" y="4570413"/>
                </a:lnTo>
                <a:cubicBezTo>
                  <a:pt x="42644" y="4570413"/>
                  <a:pt x="0" y="4527769"/>
                  <a:pt x="0" y="4475165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5" name="Shape 53"/>
          <p:cNvSpPr/>
          <p:nvPr/>
        </p:nvSpPr>
        <p:spPr>
          <a:xfrm>
            <a:off x="6324600" y="481128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9844"/>
                </a:moveTo>
                <a:cubicBezTo>
                  <a:pt x="0" y="13271"/>
                  <a:pt x="5333" y="7938"/>
                  <a:pt x="11906" y="7938"/>
                </a:cubicBezTo>
                <a:lnTo>
                  <a:pt x="35719" y="7938"/>
                </a:lnTo>
                <a:cubicBezTo>
                  <a:pt x="42292" y="7938"/>
                  <a:pt x="47625" y="13271"/>
                  <a:pt x="47625" y="19844"/>
                </a:cubicBezTo>
                <a:lnTo>
                  <a:pt x="47625" y="23812"/>
                </a:lnTo>
                <a:lnTo>
                  <a:pt x="79375" y="23812"/>
                </a:lnTo>
                <a:lnTo>
                  <a:pt x="79375" y="19844"/>
                </a:lnTo>
                <a:cubicBezTo>
                  <a:pt x="79375" y="13271"/>
                  <a:pt x="84708" y="7938"/>
                  <a:pt x="91281" y="7938"/>
                </a:cubicBezTo>
                <a:lnTo>
                  <a:pt x="115094" y="7938"/>
                </a:lnTo>
                <a:cubicBezTo>
                  <a:pt x="121667" y="7938"/>
                  <a:pt x="127000" y="13271"/>
                  <a:pt x="127000" y="19844"/>
                </a:cubicBezTo>
                <a:lnTo>
                  <a:pt x="127000" y="43656"/>
                </a:lnTo>
                <a:cubicBezTo>
                  <a:pt x="127000" y="50229"/>
                  <a:pt x="121667" y="55563"/>
                  <a:pt x="115094" y="55563"/>
                </a:cubicBezTo>
                <a:lnTo>
                  <a:pt x="91281" y="55563"/>
                </a:lnTo>
                <a:cubicBezTo>
                  <a:pt x="84708" y="55563"/>
                  <a:pt x="79375" y="50229"/>
                  <a:pt x="79375" y="43656"/>
                </a:cubicBezTo>
                <a:lnTo>
                  <a:pt x="79375" y="39688"/>
                </a:lnTo>
                <a:lnTo>
                  <a:pt x="47625" y="39688"/>
                </a:lnTo>
                <a:lnTo>
                  <a:pt x="47625" y="43656"/>
                </a:lnTo>
                <a:cubicBezTo>
                  <a:pt x="47625" y="45467"/>
                  <a:pt x="47203" y="47203"/>
                  <a:pt x="46484" y="48741"/>
                </a:cubicBezTo>
                <a:lnTo>
                  <a:pt x="63500" y="71438"/>
                </a:lnTo>
                <a:lnTo>
                  <a:pt x="83344" y="71438"/>
                </a:lnTo>
                <a:cubicBezTo>
                  <a:pt x="89917" y="71438"/>
                  <a:pt x="95250" y="76771"/>
                  <a:pt x="95250" y="83344"/>
                </a:cubicBezTo>
                <a:lnTo>
                  <a:pt x="95250" y="107156"/>
                </a:lnTo>
                <a:cubicBezTo>
                  <a:pt x="95250" y="113729"/>
                  <a:pt x="89917" y="119063"/>
                  <a:pt x="83344" y="119063"/>
                </a:cubicBezTo>
                <a:lnTo>
                  <a:pt x="59531" y="119063"/>
                </a:lnTo>
                <a:cubicBezTo>
                  <a:pt x="52958" y="119063"/>
                  <a:pt x="47625" y="113729"/>
                  <a:pt x="47625" y="107156"/>
                </a:cubicBezTo>
                <a:lnTo>
                  <a:pt x="47625" y="83344"/>
                </a:lnTo>
                <a:cubicBezTo>
                  <a:pt x="47625" y="81533"/>
                  <a:pt x="48047" y="79797"/>
                  <a:pt x="48766" y="78259"/>
                </a:cubicBezTo>
                <a:lnTo>
                  <a:pt x="31750" y="55563"/>
                </a:lnTo>
                <a:lnTo>
                  <a:pt x="11906" y="55563"/>
                </a:lnTo>
                <a:cubicBezTo>
                  <a:pt x="5333" y="55563"/>
                  <a:pt x="0" y="50229"/>
                  <a:pt x="0" y="43656"/>
                </a:cubicBezTo>
                <a:lnTo>
                  <a:pt x="0" y="19844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467475" y="4779536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故障诊断流程</a:t>
            </a:r>
            <a:endParaRPr lang="en-US" sz="1600" dirty="0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AB83D236-441F-3797-A40F-4DAEDFDE8276}"/>
              </a:ext>
            </a:extLst>
          </p:cNvPr>
          <p:cNvSpPr/>
          <p:nvPr/>
        </p:nvSpPr>
        <p:spPr>
          <a:xfrm>
            <a:off x="6381749" y="5120812"/>
            <a:ext cx="620106" cy="979662"/>
          </a:xfrm>
          <a:prstGeom prst="roundRect">
            <a:avLst>
              <a:gd name="adj" fmla="val 7423"/>
            </a:avLst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solidFill>
              <a:srgbClr val="6753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/>
              <a:t>Sensor data &amp; Historical records</a:t>
            </a:r>
            <a:endParaRPr lang="zh-CN" altLang="en-US" sz="800" dirty="0"/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7F3886D5-32BD-8D7E-6ABA-896431098189}"/>
              </a:ext>
            </a:extLst>
          </p:cNvPr>
          <p:cNvSpPr/>
          <p:nvPr/>
        </p:nvSpPr>
        <p:spPr>
          <a:xfrm>
            <a:off x="7189450" y="5120812"/>
            <a:ext cx="620106" cy="453354"/>
          </a:xfrm>
          <a:prstGeom prst="roundRect">
            <a:avLst/>
          </a:prstGeom>
          <a:gradFill flip="none" rotWithShape="1">
            <a:gsLst>
              <a:gs pos="21000">
                <a:schemeClr val="accent1">
                  <a:lumMod val="50000"/>
                  <a:alpha val="24000"/>
                </a:schemeClr>
              </a:gs>
              <a:gs pos="100000">
                <a:schemeClr val="accent5">
                  <a:lumMod val="30000"/>
                  <a:lumOff val="70000"/>
                  <a:alpha val="21000"/>
                </a:schemeClr>
              </a:gs>
            </a:gsLst>
            <a:lin ang="2400000" scaled="0"/>
            <a:tileRect/>
          </a:gradFill>
          <a:ln w="9525">
            <a:solidFill>
              <a:srgbClr val="2D43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Physical Model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283CF09B-E2FB-BA2B-3CA8-4A637EE4F818}"/>
              </a:ext>
            </a:extLst>
          </p:cNvPr>
          <p:cNvSpPr/>
          <p:nvPr/>
        </p:nvSpPr>
        <p:spPr>
          <a:xfrm>
            <a:off x="7189450" y="5647120"/>
            <a:ext cx="620106" cy="453354"/>
          </a:xfrm>
          <a:prstGeom prst="roundRect">
            <a:avLst/>
          </a:prstGeom>
          <a:gradFill flip="none" rotWithShape="1">
            <a:gsLst>
              <a:gs pos="21000">
                <a:schemeClr val="accent1">
                  <a:lumMod val="50000"/>
                  <a:alpha val="24000"/>
                </a:schemeClr>
              </a:gs>
              <a:gs pos="100000">
                <a:schemeClr val="accent5">
                  <a:lumMod val="30000"/>
                  <a:lumOff val="70000"/>
                  <a:alpha val="21000"/>
                </a:schemeClr>
              </a:gs>
            </a:gsLst>
            <a:lin ang="2400000" scaled="0"/>
            <a:tileRect/>
          </a:gradFill>
          <a:ln w="9525">
            <a:solidFill>
              <a:srgbClr val="2D43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Data-driven Model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488C8B62-7511-8396-453E-0F3435B4DD7D}"/>
              </a:ext>
            </a:extLst>
          </p:cNvPr>
          <p:cNvSpPr/>
          <p:nvPr/>
        </p:nvSpPr>
        <p:spPr>
          <a:xfrm>
            <a:off x="7960674" y="5120812"/>
            <a:ext cx="620106" cy="979662"/>
          </a:xfrm>
          <a:prstGeom prst="roundRect">
            <a:avLst>
              <a:gd name="adj" fmla="val 7423"/>
            </a:avLst>
          </a:prstGeom>
          <a:gradFill flip="none" rotWithShape="1">
            <a:gsLst>
              <a:gs pos="21000">
                <a:schemeClr val="accent1">
                  <a:lumMod val="50000"/>
                  <a:alpha val="24000"/>
                </a:schemeClr>
              </a:gs>
              <a:gs pos="100000">
                <a:schemeClr val="accent5">
                  <a:lumMod val="30000"/>
                  <a:lumOff val="70000"/>
                  <a:alpha val="21000"/>
                </a:schemeClr>
              </a:gs>
            </a:gsLst>
            <a:lin ang="2400000" scaled="0"/>
            <a:tileRect/>
          </a:gradFill>
          <a:ln w="9525">
            <a:solidFill>
              <a:srgbClr val="2D43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Fusion</a:t>
            </a:r>
          </a:p>
          <a:p>
            <a:pPr algn="ctr"/>
            <a:r>
              <a:rPr lang="en-US" altLang="zh-CN" sz="800" dirty="0"/>
              <a:t>Core</a:t>
            </a: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B2133C69-C3BE-9000-8072-6D3589DA3B23}"/>
              </a:ext>
            </a:extLst>
          </p:cNvPr>
          <p:cNvSpPr/>
          <p:nvPr/>
        </p:nvSpPr>
        <p:spPr>
          <a:xfrm>
            <a:off x="8731898" y="5120813"/>
            <a:ext cx="1438228" cy="391236"/>
          </a:xfrm>
          <a:prstGeom prst="roundRect">
            <a:avLst>
              <a:gd name="adj" fmla="val 742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6">
                  <a:lumMod val="60000"/>
                  <a:alpha val="37000"/>
                </a:schemeClr>
              </a:gs>
            </a:gsLst>
            <a:lin ang="15000000" scaled="0"/>
            <a:tileRect/>
          </a:gradFill>
          <a:ln w="9525">
            <a:solidFill>
              <a:srgbClr val="1E2F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State Estimation &amp; </a:t>
            </a:r>
          </a:p>
          <a:p>
            <a:pPr algn="ctr"/>
            <a:r>
              <a:rPr lang="en-US" altLang="zh-CN" sz="800" dirty="0"/>
              <a:t>Parameter Identification</a:t>
            </a: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01FA1249-B778-3AD7-08F5-D2186FFED383}"/>
              </a:ext>
            </a:extLst>
          </p:cNvPr>
          <p:cNvSpPr/>
          <p:nvPr/>
        </p:nvSpPr>
        <p:spPr>
          <a:xfrm>
            <a:off x="8731899" y="5709239"/>
            <a:ext cx="620106" cy="391235"/>
          </a:xfrm>
          <a:prstGeom prst="roundRect">
            <a:avLst>
              <a:gd name="adj" fmla="val 742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6">
                  <a:lumMod val="60000"/>
                  <a:alpha val="37000"/>
                </a:schemeClr>
              </a:gs>
            </a:gsLst>
            <a:lin ang="15000000" scaled="0"/>
            <a:tileRect/>
          </a:gradFill>
          <a:ln w="9525">
            <a:solidFill>
              <a:srgbClr val="1E2F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Anomaly Detection</a:t>
            </a: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15CD096C-6255-F86A-8BDB-D4A048C7F820}"/>
              </a:ext>
            </a:extLst>
          </p:cNvPr>
          <p:cNvSpPr/>
          <p:nvPr/>
        </p:nvSpPr>
        <p:spPr>
          <a:xfrm>
            <a:off x="9414535" y="5709239"/>
            <a:ext cx="755591" cy="391235"/>
          </a:xfrm>
          <a:prstGeom prst="roundRect">
            <a:avLst>
              <a:gd name="adj" fmla="val 742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6">
                  <a:lumMod val="60000"/>
                  <a:alpha val="37000"/>
                </a:schemeClr>
              </a:gs>
            </a:gsLst>
            <a:lin ang="15000000" scaled="0"/>
            <a:tileRect/>
          </a:gradFill>
          <a:ln w="9525">
            <a:solidFill>
              <a:srgbClr val="1E2F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Fault </a:t>
            </a:r>
            <a:r>
              <a:rPr lang="en-US" altLang="zh-CN" sz="800" dirty="0" err="1"/>
              <a:t>Seperation</a:t>
            </a:r>
            <a:endParaRPr lang="en-US" altLang="zh-CN" sz="800" dirty="0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8D47A577-C991-3700-FA95-FFE13A49E429}"/>
              </a:ext>
            </a:extLst>
          </p:cNvPr>
          <p:cNvSpPr/>
          <p:nvPr/>
        </p:nvSpPr>
        <p:spPr>
          <a:xfrm>
            <a:off x="10321245" y="5120812"/>
            <a:ext cx="620106" cy="979662"/>
          </a:xfrm>
          <a:prstGeom prst="roundRect">
            <a:avLst>
              <a:gd name="adj" fmla="val 7423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6">
                  <a:lumMod val="60000"/>
                  <a:alpha val="37000"/>
                </a:schemeClr>
              </a:gs>
            </a:gsLst>
            <a:lin ang="15000000" scaled="0"/>
            <a:tileRect/>
          </a:gradFill>
          <a:ln w="9525">
            <a:solidFill>
              <a:srgbClr val="1E2F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ISC</a:t>
            </a:r>
          </a:p>
          <a:p>
            <a:pPr algn="ctr"/>
            <a:r>
              <a:rPr lang="en-US" altLang="zh-CN" sz="800"/>
              <a:t>Diagnosis</a:t>
            </a:r>
            <a:endParaRPr lang="en-US" altLang="zh-CN" sz="800" dirty="0"/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6B1E71FC-5B87-5EEE-3B31-184DB1C8E5DD}"/>
              </a:ext>
            </a:extLst>
          </p:cNvPr>
          <p:cNvSpPr/>
          <p:nvPr/>
        </p:nvSpPr>
        <p:spPr>
          <a:xfrm>
            <a:off x="11092469" y="5120812"/>
            <a:ext cx="620106" cy="453354"/>
          </a:xfrm>
          <a:prstGeom prst="roundRect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solidFill>
              <a:srgbClr val="6753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Decision Making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69443433-55AA-FDAF-149C-3BDDAA8FF843}"/>
              </a:ext>
            </a:extLst>
          </p:cNvPr>
          <p:cNvSpPr/>
          <p:nvPr/>
        </p:nvSpPr>
        <p:spPr>
          <a:xfrm>
            <a:off x="11092469" y="5647120"/>
            <a:ext cx="620106" cy="453354"/>
          </a:xfrm>
          <a:prstGeom prst="roundRect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solidFill>
              <a:srgbClr val="6753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User Interface</a:t>
            </a:r>
          </a:p>
        </p:txBody>
      </p:sp>
      <p:sp>
        <p:nvSpPr>
          <p:cNvPr id="108" name="等腰三角形 107">
            <a:extLst>
              <a:ext uri="{FF2B5EF4-FFF2-40B4-BE49-F238E27FC236}">
                <a16:creationId xmlns:a16="http://schemas.microsoft.com/office/drawing/2014/main" id="{5D9F366B-7658-8E1F-BEB8-3A4BCDF9A6B2}"/>
              </a:ext>
            </a:extLst>
          </p:cNvPr>
          <p:cNvSpPr/>
          <p:nvPr/>
        </p:nvSpPr>
        <p:spPr>
          <a:xfrm rot="5400000">
            <a:off x="7036038" y="5342197"/>
            <a:ext cx="108806" cy="93798"/>
          </a:xfrm>
          <a:prstGeom prst="triangle">
            <a:avLst/>
          </a:prstGeom>
          <a:solidFill>
            <a:srgbClr val="4F4B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09" name="等腰三角形 108">
            <a:extLst>
              <a:ext uri="{FF2B5EF4-FFF2-40B4-BE49-F238E27FC236}">
                <a16:creationId xmlns:a16="http://schemas.microsoft.com/office/drawing/2014/main" id="{63263052-50B9-707E-E8C9-0A5885DC64B3}"/>
              </a:ext>
            </a:extLst>
          </p:cNvPr>
          <p:cNvSpPr/>
          <p:nvPr/>
        </p:nvSpPr>
        <p:spPr>
          <a:xfrm rot="5400000">
            <a:off x="7036038" y="5826898"/>
            <a:ext cx="108806" cy="93798"/>
          </a:xfrm>
          <a:prstGeom prst="triangle">
            <a:avLst/>
          </a:prstGeom>
          <a:solidFill>
            <a:srgbClr val="4F4B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0" name="等腰三角形 109">
            <a:extLst>
              <a:ext uri="{FF2B5EF4-FFF2-40B4-BE49-F238E27FC236}">
                <a16:creationId xmlns:a16="http://schemas.microsoft.com/office/drawing/2014/main" id="{7133C0C4-E787-E7F2-F40B-BC1AF9EF906B}"/>
              </a:ext>
            </a:extLst>
          </p:cNvPr>
          <p:cNvSpPr/>
          <p:nvPr/>
        </p:nvSpPr>
        <p:spPr>
          <a:xfrm rot="5400000">
            <a:off x="7843741" y="5826898"/>
            <a:ext cx="108806" cy="93798"/>
          </a:xfrm>
          <a:prstGeom prst="triangle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1" name="等腰三角形 110">
            <a:extLst>
              <a:ext uri="{FF2B5EF4-FFF2-40B4-BE49-F238E27FC236}">
                <a16:creationId xmlns:a16="http://schemas.microsoft.com/office/drawing/2014/main" id="{735B8FE1-DD0F-0602-BD2F-D688063B6020}"/>
              </a:ext>
            </a:extLst>
          </p:cNvPr>
          <p:cNvSpPr/>
          <p:nvPr/>
        </p:nvSpPr>
        <p:spPr>
          <a:xfrm rot="5400000">
            <a:off x="7843741" y="5342197"/>
            <a:ext cx="108806" cy="93798"/>
          </a:xfrm>
          <a:prstGeom prst="triangle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2" name="等腰三角形 111">
            <a:extLst>
              <a:ext uri="{FF2B5EF4-FFF2-40B4-BE49-F238E27FC236}">
                <a16:creationId xmlns:a16="http://schemas.microsoft.com/office/drawing/2014/main" id="{3B0E93AA-7BEC-B33F-C851-F502B9E25D29}"/>
              </a:ext>
            </a:extLst>
          </p:cNvPr>
          <p:cNvSpPr/>
          <p:nvPr/>
        </p:nvSpPr>
        <p:spPr>
          <a:xfrm rot="5400000">
            <a:off x="8601937" y="5342198"/>
            <a:ext cx="108806" cy="93798"/>
          </a:xfrm>
          <a:prstGeom prst="triangle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3" name="等腰三角形 112">
            <a:extLst>
              <a:ext uri="{FF2B5EF4-FFF2-40B4-BE49-F238E27FC236}">
                <a16:creationId xmlns:a16="http://schemas.microsoft.com/office/drawing/2014/main" id="{3DBF75B6-7041-01BB-1E48-85728AB8EA7B}"/>
              </a:ext>
            </a:extLst>
          </p:cNvPr>
          <p:cNvSpPr/>
          <p:nvPr/>
        </p:nvSpPr>
        <p:spPr>
          <a:xfrm rot="10800000">
            <a:off x="8987549" y="5574166"/>
            <a:ext cx="108806" cy="93798"/>
          </a:xfrm>
          <a:prstGeom prst="triangle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4" name="等腰三角形 113">
            <a:extLst>
              <a:ext uri="{FF2B5EF4-FFF2-40B4-BE49-F238E27FC236}">
                <a16:creationId xmlns:a16="http://schemas.microsoft.com/office/drawing/2014/main" id="{3CD2864F-FE98-ED85-0092-6BC752C8388E}"/>
              </a:ext>
            </a:extLst>
          </p:cNvPr>
          <p:cNvSpPr/>
          <p:nvPr/>
        </p:nvSpPr>
        <p:spPr>
          <a:xfrm rot="10800000">
            <a:off x="9737928" y="5574166"/>
            <a:ext cx="108806" cy="93798"/>
          </a:xfrm>
          <a:prstGeom prst="triangle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5" name="等腰三角形 114">
            <a:extLst>
              <a:ext uri="{FF2B5EF4-FFF2-40B4-BE49-F238E27FC236}">
                <a16:creationId xmlns:a16="http://schemas.microsoft.com/office/drawing/2014/main" id="{60D23CA5-B5BC-CF16-AF68-4317B102CBC9}"/>
              </a:ext>
            </a:extLst>
          </p:cNvPr>
          <p:cNvSpPr/>
          <p:nvPr/>
        </p:nvSpPr>
        <p:spPr>
          <a:xfrm rot="5400000">
            <a:off x="10198229" y="5857957"/>
            <a:ext cx="108806" cy="93798"/>
          </a:xfrm>
          <a:prstGeom prst="triangle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7" name="等腰三角形 116">
            <a:extLst>
              <a:ext uri="{FF2B5EF4-FFF2-40B4-BE49-F238E27FC236}">
                <a16:creationId xmlns:a16="http://schemas.microsoft.com/office/drawing/2014/main" id="{56040751-ECCE-62B0-4405-F09B0175320D}"/>
              </a:ext>
            </a:extLst>
          </p:cNvPr>
          <p:cNvSpPr/>
          <p:nvPr/>
        </p:nvSpPr>
        <p:spPr>
          <a:xfrm rot="5400000">
            <a:off x="10963785" y="5300590"/>
            <a:ext cx="108806" cy="93798"/>
          </a:xfrm>
          <a:prstGeom prst="triangle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18" name="等腰三角形 117">
            <a:extLst>
              <a:ext uri="{FF2B5EF4-FFF2-40B4-BE49-F238E27FC236}">
                <a16:creationId xmlns:a16="http://schemas.microsoft.com/office/drawing/2014/main" id="{F47CB0FC-3AD2-A0A9-6368-677C26A770A0}"/>
              </a:ext>
            </a:extLst>
          </p:cNvPr>
          <p:cNvSpPr/>
          <p:nvPr/>
        </p:nvSpPr>
        <p:spPr>
          <a:xfrm rot="5400000">
            <a:off x="10963785" y="5826898"/>
            <a:ext cx="108806" cy="93798"/>
          </a:xfrm>
          <a:prstGeom prst="triangle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https://kimi-img.moonshot.cn/pub/slides/slides_tmpl/image/25-09-04-11:32:05-d2sggde1bb2p4onbok20.jpg">
            <a:extLst>
              <a:ext uri="{FF2B5EF4-FFF2-40B4-BE49-F238E27FC236}">
                <a16:creationId xmlns:a16="http://schemas.microsoft.com/office/drawing/2014/main" id="{E3F6BD82-147F-9FDB-83A6-C7E534297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400050" y="1619250"/>
            <a:ext cx="6143625" cy="1104900"/>
          </a:xfrm>
          <a:custGeom>
            <a:avLst/>
            <a:gdLst/>
            <a:ahLst/>
            <a:cxnLst/>
            <a:rect l="l" t="t" r="r" b="b"/>
            <a:pathLst>
              <a:path w="6143625" h="1104900">
                <a:moveTo>
                  <a:pt x="0" y="0"/>
                </a:moveTo>
                <a:lnTo>
                  <a:pt x="6029323" y="0"/>
                </a:lnTo>
                <a:cubicBezTo>
                  <a:pt x="6092450" y="0"/>
                  <a:pt x="6143625" y="51175"/>
                  <a:pt x="6143625" y="114302"/>
                </a:cubicBezTo>
                <a:lnTo>
                  <a:pt x="6143625" y="990598"/>
                </a:lnTo>
                <a:cubicBezTo>
                  <a:pt x="6143625" y="1053725"/>
                  <a:pt x="6092450" y="1104900"/>
                  <a:pt x="6029323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>
                  <a:alpha val="30000"/>
                </a:srgbClr>
              </a:gs>
              <a:gs pos="100000">
                <a:srgbClr val="C9A86A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00050" y="16192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3400" y="1733550"/>
            <a:ext cx="132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6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1: 宏观表象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32140" y="1733550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532140" y="1733550"/>
            <a:ext cx="9620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用户可感知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076450"/>
            <a:ext cx="1114425" cy="533400"/>
          </a:xfrm>
          <a:custGeom>
            <a:avLst/>
            <a:gdLst/>
            <a:ahLst/>
            <a:cxnLst/>
            <a:rect l="l" t="t" r="r" b="b"/>
            <a:pathLst>
              <a:path w="1114425" h="533400">
                <a:moveTo>
                  <a:pt x="76202" y="0"/>
                </a:moveTo>
                <a:lnTo>
                  <a:pt x="1038223" y="0"/>
                </a:lnTo>
                <a:cubicBezTo>
                  <a:pt x="1080308" y="0"/>
                  <a:pt x="1114425" y="34117"/>
                  <a:pt x="1114425" y="76202"/>
                </a:cubicBezTo>
                <a:lnTo>
                  <a:pt x="1114425" y="457198"/>
                </a:lnTo>
                <a:cubicBezTo>
                  <a:pt x="1114425" y="499255"/>
                  <a:pt x="1080280" y="533400"/>
                  <a:pt x="10382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76263" y="21526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容量突降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025" y="2381250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&gt;10%/月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27398" y="2076450"/>
            <a:ext cx="1114425" cy="533400"/>
          </a:xfrm>
          <a:custGeom>
            <a:avLst/>
            <a:gdLst/>
            <a:ahLst/>
            <a:cxnLst/>
            <a:rect l="l" t="t" r="r" b="b"/>
            <a:pathLst>
              <a:path w="1114425" h="533400">
                <a:moveTo>
                  <a:pt x="76202" y="0"/>
                </a:moveTo>
                <a:lnTo>
                  <a:pt x="1038223" y="0"/>
                </a:lnTo>
                <a:cubicBezTo>
                  <a:pt x="1080308" y="0"/>
                  <a:pt x="1114425" y="34117"/>
                  <a:pt x="1114425" y="76202"/>
                </a:cubicBezTo>
                <a:lnTo>
                  <a:pt x="1114425" y="457198"/>
                </a:lnTo>
                <a:cubicBezTo>
                  <a:pt x="1114425" y="499255"/>
                  <a:pt x="1080280" y="533400"/>
                  <a:pt x="10382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770261" y="21526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充电异常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5023" y="2381250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时间延长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1496" y="2076450"/>
            <a:ext cx="1114425" cy="533400"/>
          </a:xfrm>
          <a:custGeom>
            <a:avLst/>
            <a:gdLst/>
            <a:ahLst/>
            <a:cxnLst/>
            <a:rect l="l" t="t" r="r" b="b"/>
            <a:pathLst>
              <a:path w="1114425" h="533400">
                <a:moveTo>
                  <a:pt x="76202" y="0"/>
                </a:moveTo>
                <a:lnTo>
                  <a:pt x="1038223" y="0"/>
                </a:lnTo>
                <a:cubicBezTo>
                  <a:pt x="1080308" y="0"/>
                  <a:pt x="1114425" y="34117"/>
                  <a:pt x="1114425" y="76202"/>
                </a:cubicBezTo>
                <a:lnTo>
                  <a:pt x="1114425" y="457198"/>
                </a:lnTo>
                <a:cubicBezTo>
                  <a:pt x="1114425" y="499255"/>
                  <a:pt x="1080280" y="533400"/>
                  <a:pt x="10382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964359" y="21526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温度异常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69121" y="2381250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发热烫手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5495" y="2076450"/>
            <a:ext cx="1114425" cy="533400"/>
          </a:xfrm>
          <a:custGeom>
            <a:avLst/>
            <a:gdLst/>
            <a:ahLst/>
            <a:cxnLst/>
            <a:rect l="l" t="t" r="r" b="b"/>
            <a:pathLst>
              <a:path w="1114425" h="533400">
                <a:moveTo>
                  <a:pt x="76202" y="0"/>
                </a:moveTo>
                <a:lnTo>
                  <a:pt x="1038223" y="0"/>
                </a:lnTo>
                <a:cubicBezTo>
                  <a:pt x="1080308" y="0"/>
                  <a:pt x="1114425" y="34117"/>
                  <a:pt x="1114425" y="76202"/>
                </a:cubicBezTo>
                <a:lnTo>
                  <a:pt x="1114425" y="457198"/>
                </a:lnTo>
                <a:cubicBezTo>
                  <a:pt x="1114425" y="499255"/>
                  <a:pt x="1080280" y="533400"/>
                  <a:pt x="10382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158357" y="21526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鼓胀变形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63120" y="2381250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开阀漏液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9592" y="2076450"/>
            <a:ext cx="1114425" cy="533400"/>
          </a:xfrm>
          <a:custGeom>
            <a:avLst/>
            <a:gdLst/>
            <a:ahLst/>
            <a:cxnLst/>
            <a:rect l="l" t="t" r="r" b="b"/>
            <a:pathLst>
              <a:path w="1114425" h="533400">
                <a:moveTo>
                  <a:pt x="76202" y="0"/>
                </a:moveTo>
                <a:lnTo>
                  <a:pt x="1038223" y="0"/>
                </a:lnTo>
                <a:cubicBezTo>
                  <a:pt x="1080308" y="0"/>
                  <a:pt x="1114425" y="34117"/>
                  <a:pt x="1114425" y="76202"/>
                </a:cubicBezTo>
                <a:lnTo>
                  <a:pt x="1114425" y="457198"/>
                </a:lnTo>
                <a:cubicBezTo>
                  <a:pt x="1114425" y="499255"/>
                  <a:pt x="1080280" y="533400"/>
                  <a:pt x="10382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352455" y="21526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内短路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57217" y="2381250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电压骤降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75620" y="2800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D8B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00050" y="3105150"/>
            <a:ext cx="6143625" cy="1714500"/>
          </a:xfrm>
          <a:custGeom>
            <a:avLst/>
            <a:gdLst/>
            <a:ahLst/>
            <a:cxnLst/>
            <a:rect l="l" t="t" r="r" b="b"/>
            <a:pathLst>
              <a:path w="6143625" h="1714500">
                <a:moveTo>
                  <a:pt x="0" y="0"/>
                </a:moveTo>
                <a:lnTo>
                  <a:pt x="6029319" y="0"/>
                </a:lnTo>
                <a:cubicBezTo>
                  <a:pt x="6092449" y="0"/>
                  <a:pt x="6143625" y="51176"/>
                  <a:pt x="6143625" y="114306"/>
                </a:cubicBezTo>
                <a:lnTo>
                  <a:pt x="6143625" y="1600194"/>
                </a:lnTo>
                <a:cubicBezTo>
                  <a:pt x="6143625" y="1663324"/>
                  <a:pt x="6092449" y="1714500"/>
                  <a:pt x="6029319" y="1714500"/>
                </a:cubicBez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  <a:lumOff val="25000"/>
                  <a:alpha val="38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7" name="Shape 25"/>
          <p:cNvSpPr/>
          <p:nvPr/>
        </p:nvSpPr>
        <p:spPr>
          <a:xfrm>
            <a:off x="400050" y="310515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33400" y="3219450"/>
            <a:ext cx="15687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2">
                    <a:lumMod val="50000"/>
                    <a:lumOff val="50000"/>
                  </a:scheme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2: 微观机理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32140" y="3219450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532140" y="3219450"/>
            <a:ext cx="9620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技术可识别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33400" y="3562350"/>
            <a:ext cx="2905125" cy="533400"/>
          </a:xfrm>
          <a:custGeom>
            <a:avLst/>
            <a:gdLst/>
            <a:ahLst/>
            <a:cxnLst/>
            <a:rect l="l" t="t" r="r" b="b"/>
            <a:pathLst>
              <a:path w="2905125" h="533400">
                <a:moveTo>
                  <a:pt x="76202" y="0"/>
                </a:moveTo>
                <a:lnTo>
                  <a:pt x="2828923" y="0"/>
                </a:lnTo>
                <a:cubicBezTo>
                  <a:pt x="2871008" y="0"/>
                  <a:pt x="2905125" y="34117"/>
                  <a:pt x="2905125" y="76202"/>
                </a:cubicBezTo>
                <a:lnTo>
                  <a:pt x="2905125" y="457198"/>
                </a:lnTo>
                <a:cubicBezTo>
                  <a:pt x="2905125" y="499283"/>
                  <a:pt x="2871008" y="533400"/>
                  <a:pt x="28289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09600" y="3638550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析锂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006725" y="3638550"/>
            <a:ext cx="361950" cy="190500"/>
          </a:xfrm>
          <a:custGeom>
            <a:avLst/>
            <a:gdLst/>
            <a:ahLst/>
            <a:cxnLst/>
            <a:rect l="l" t="t" r="r" b="b"/>
            <a:pathLst>
              <a:path w="361950" h="1905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152400"/>
                </a:lnTo>
                <a:cubicBezTo>
                  <a:pt x="361950" y="173428"/>
                  <a:pt x="344878" y="190500"/>
                  <a:pt x="3238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006725" y="3638550"/>
            <a:ext cx="4191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386715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快充/低温/表面/体相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18495" y="3562350"/>
            <a:ext cx="2905125" cy="533400"/>
          </a:xfrm>
          <a:custGeom>
            <a:avLst/>
            <a:gdLst/>
            <a:ahLst/>
            <a:cxnLst/>
            <a:rect l="l" t="t" r="r" b="b"/>
            <a:pathLst>
              <a:path w="2905125" h="533400">
                <a:moveTo>
                  <a:pt x="76202" y="0"/>
                </a:moveTo>
                <a:lnTo>
                  <a:pt x="2828923" y="0"/>
                </a:lnTo>
                <a:cubicBezTo>
                  <a:pt x="2871008" y="0"/>
                  <a:pt x="2905125" y="34117"/>
                  <a:pt x="2905125" y="76202"/>
                </a:cubicBezTo>
                <a:lnTo>
                  <a:pt x="2905125" y="457198"/>
                </a:lnTo>
                <a:cubicBezTo>
                  <a:pt x="2905125" y="499283"/>
                  <a:pt x="2871008" y="533400"/>
                  <a:pt x="28289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594695" y="36385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内短路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68603" y="3638550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152400"/>
                </a:lnTo>
                <a:cubicBezTo>
                  <a:pt x="381000" y="173428"/>
                  <a:pt x="363928" y="190500"/>
                  <a:pt x="342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968603" y="3638550"/>
            <a:ext cx="4381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55%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94695" y="386715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金属颗粒/枝晶/隔膜/SEI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3400" y="4171950"/>
            <a:ext cx="2905125" cy="533400"/>
          </a:xfrm>
          <a:custGeom>
            <a:avLst/>
            <a:gdLst/>
            <a:ahLst/>
            <a:cxnLst/>
            <a:rect l="l" t="t" r="r" b="b"/>
            <a:pathLst>
              <a:path w="2905125" h="533400">
                <a:moveTo>
                  <a:pt x="76202" y="0"/>
                </a:moveTo>
                <a:lnTo>
                  <a:pt x="2828923" y="0"/>
                </a:lnTo>
                <a:cubicBezTo>
                  <a:pt x="2871008" y="0"/>
                  <a:pt x="2905125" y="34117"/>
                  <a:pt x="2905125" y="76202"/>
                </a:cubicBezTo>
                <a:lnTo>
                  <a:pt x="2905125" y="457198"/>
                </a:lnTo>
                <a:cubicBezTo>
                  <a:pt x="2905125" y="499283"/>
                  <a:pt x="2871008" y="533400"/>
                  <a:pt x="28289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09600" y="42481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电解液分解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007816" y="4248150"/>
            <a:ext cx="361950" cy="190500"/>
          </a:xfrm>
          <a:custGeom>
            <a:avLst/>
            <a:gdLst/>
            <a:ahLst/>
            <a:cxnLst/>
            <a:rect l="l" t="t" r="r" b="b"/>
            <a:pathLst>
              <a:path w="361950" h="190500">
                <a:moveTo>
                  <a:pt x="38100" y="0"/>
                </a:moveTo>
                <a:lnTo>
                  <a:pt x="323850" y="0"/>
                </a:lnTo>
                <a:cubicBezTo>
                  <a:pt x="344878" y="0"/>
                  <a:pt x="361950" y="17072"/>
                  <a:pt x="361950" y="38100"/>
                </a:cubicBezTo>
                <a:lnTo>
                  <a:pt x="361950" y="152400"/>
                </a:lnTo>
                <a:cubicBezTo>
                  <a:pt x="361950" y="173428"/>
                  <a:pt x="344878" y="190500"/>
                  <a:pt x="3238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3007816" y="4248150"/>
            <a:ext cx="4191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9600" y="447675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过充/高温/SEI生长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518495" y="4171950"/>
            <a:ext cx="2905125" cy="533400"/>
          </a:xfrm>
          <a:custGeom>
            <a:avLst/>
            <a:gdLst/>
            <a:ahLst/>
            <a:cxnLst/>
            <a:rect l="l" t="t" r="r" b="b"/>
            <a:pathLst>
              <a:path w="2905125" h="533400">
                <a:moveTo>
                  <a:pt x="76202" y="0"/>
                </a:moveTo>
                <a:lnTo>
                  <a:pt x="2828923" y="0"/>
                </a:lnTo>
                <a:cubicBezTo>
                  <a:pt x="2871008" y="0"/>
                  <a:pt x="2905125" y="34117"/>
                  <a:pt x="2905125" y="76202"/>
                </a:cubicBezTo>
                <a:lnTo>
                  <a:pt x="2905125" y="457198"/>
                </a:lnTo>
                <a:cubicBezTo>
                  <a:pt x="2905125" y="499283"/>
                  <a:pt x="2871008" y="533400"/>
                  <a:pt x="28289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3594695" y="42481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活性物质损失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000949" y="4248150"/>
            <a:ext cx="352425" cy="190500"/>
          </a:xfrm>
          <a:custGeom>
            <a:avLst/>
            <a:gdLst/>
            <a:ahLst/>
            <a:cxnLst/>
            <a:rect l="l" t="t" r="r" b="b"/>
            <a:pathLst>
              <a:path w="352425" h="190500">
                <a:moveTo>
                  <a:pt x="38100" y="0"/>
                </a:moveTo>
                <a:lnTo>
                  <a:pt x="314325" y="0"/>
                </a:lnTo>
                <a:cubicBezTo>
                  <a:pt x="335353" y="0"/>
                  <a:pt x="352425" y="17072"/>
                  <a:pt x="352425" y="38100"/>
                </a:cubicBezTo>
                <a:lnTo>
                  <a:pt x="352425" y="152400"/>
                </a:lnTo>
                <a:cubicBezTo>
                  <a:pt x="352425" y="173428"/>
                  <a:pt x="335353" y="190500"/>
                  <a:pt x="3143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000949" y="4248150"/>
            <a:ext cx="4095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594695" y="447675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正极坍塌/负极剥离/腐蚀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375620" y="4895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D8B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400050" y="5200649"/>
            <a:ext cx="6143625" cy="1193275"/>
          </a:xfrm>
          <a:custGeom>
            <a:avLst/>
            <a:gdLst/>
            <a:ahLst/>
            <a:cxnLst/>
            <a:rect l="l" t="t" r="r" b="b"/>
            <a:pathLst>
              <a:path w="6143625" h="1104900">
                <a:moveTo>
                  <a:pt x="0" y="0"/>
                </a:moveTo>
                <a:lnTo>
                  <a:pt x="6029323" y="0"/>
                </a:lnTo>
                <a:cubicBezTo>
                  <a:pt x="6092450" y="0"/>
                  <a:pt x="6143625" y="51175"/>
                  <a:pt x="6143625" y="114302"/>
                </a:cubicBezTo>
                <a:lnTo>
                  <a:pt x="6143625" y="990598"/>
                </a:lnTo>
                <a:cubicBezTo>
                  <a:pt x="6143625" y="1053725"/>
                  <a:pt x="6092450" y="1104900"/>
                  <a:pt x="6029323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30000"/>
                </a:srgbClr>
              </a:gs>
              <a:gs pos="100000">
                <a:srgbClr val="5F6B7A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400050" y="520065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33400" y="5314950"/>
            <a:ext cx="1492548" cy="27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F6B7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3: 根本原因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65490" y="53149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665490" y="5314950"/>
            <a:ext cx="828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预防层面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33400" y="5657850"/>
            <a:ext cx="1419225" cy="533400"/>
          </a:xfrm>
          <a:custGeom>
            <a:avLst/>
            <a:gdLst/>
            <a:ahLst/>
            <a:cxnLst/>
            <a:rect l="l" t="t" r="r" b="b"/>
            <a:pathLst>
              <a:path w="1419225" h="533400">
                <a:moveTo>
                  <a:pt x="76202" y="0"/>
                </a:moveTo>
                <a:lnTo>
                  <a:pt x="1343023" y="0"/>
                </a:lnTo>
                <a:cubicBezTo>
                  <a:pt x="1385108" y="0"/>
                  <a:pt x="1419225" y="34117"/>
                  <a:pt x="1419225" y="76202"/>
                </a:cubicBezTo>
                <a:lnTo>
                  <a:pt x="1419225" y="457198"/>
                </a:lnTo>
                <a:cubicBezTo>
                  <a:pt x="1419225" y="499255"/>
                  <a:pt x="1385080" y="533400"/>
                  <a:pt x="13430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09600" y="57340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原材料缺陷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09600" y="5962650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颗粒度/杂质/水分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025948" y="5657850"/>
            <a:ext cx="1419225" cy="533400"/>
          </a:xfrm>
          <a:custGeom>
            <a:avLst/>
            <a:gdLst/>
            <a:ahLst/>
            <a:cxnLst/>
            <a:rect l="l" t="t" r="r" b="b"/>
            <a:pathLst>
              <a:path w="1419225" h="533400">
                <a:moveTo>
                  <a:pt x="76202" y="0"/>
                </a:moveTo>
                <a:lnTo>
                  <a:pt x="1343023" y="0"/>
                </a:lnTo>
                <a:cubicBezTo>
                  <a:pt x="1385108" y="0"/>
                  <a:pt x="1419225" y="34117"/>
                  <a:pt x="1419225" y="76202"/>
                </a:cubicBezTo>
                <a:lnTo>
                  <a:pt x="1419225" y="457198"/>
                </a:lnTo>
                <a:cubicBezTo>
                  <a:pt x="1419225" y="499255"/>
                  <a:pt x="1385080" y="533400"/>
                  <a:pt x="13430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2102148" y="57340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工艺参数漂移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2102148" y="5962650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涂布/压实/焊接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518495" y="5657850"/>
            <a:ext cx="1419225" cy="533400"/>
          </a:xfrm>
          <a:custGeom>
            <a:avLst/>
            <a:gdLst/>
            <a:ahLst/>
            <a:cxnLst/>
            <a:rect l="l" t="t" r="r" b="b"/>
            <a:pathLst>
              <a:path w="1419225" h="533400">
                <a:moveTo>
                  <a:pt x="76202" y="0"/>
                </a:moveTo>
                <a:lnTo>
                  <a:pt x="1343023" y="0"/>
                </a:lnTo>
                <a:cubicBezTo>
                  <a:pt x="1385108" y="0"/>
                  <a:pt x="1419225" y="34117"/>
                  <a:pt x="1419225" y="76202"/>
                </a:cubicBezTo>
                <a:lnTo>
                  <a:pt x="1419225" y="457198"/>
                </a:lnTo>
                <a:cubicBezTo>
                  <a:pt x="1419225" y="499255"/>
                  <a:pt x="1385080" y="533400"/>
                  <a:pt x="13430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3594695" y="57340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设计裕度不足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594695" y="5962650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过量系数/隔膜厚度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011043" y="5657850"/>
            <a:ext cx="1419225" cy="533400"/>
          </a:xfrm>
          <a:custGeom>
            <a:avLst/>
            <a:gdLst/>
            <a:ahLst/>
            <a:cxnLst/>
            <a:rect l="l" t="t" r="r" b="b"/>
            <a:pathLst>
              <a:path w="1419225" h="533400">
                <a:moveTo>
                  <a:pt x="76202" y="0"/>
                </a:moveTo>
                <a:lnTo>
                  <a:pt x="1343023" y="0"/>
                </a:lnTo>
                <a:cubicBezTo>
                  <a:pt x="1385108" y="0"/>
                  <a:pt x="1419225" y="34117"/>
                  <a:pt x="1419225" y="76202"/>
                </a:cubicBezTo>
                <a:lnTo>
                  <a:pt x="1419225" y="457198"/>
                </a:lnTo>
                <a:cubicBezTo>
                  <a:pt x="1419225" y="499255"/>
                  <a:pt x="1385080" y="533400"/>
                  <a:pt x="13430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5087243" y="57340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使用工况恶劣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087243" y="5962650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过充/低温/高倍率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773565" y="1619250"/>
            <a:ext cx="5035550" cy="3124200"/>
          </a:xfrm>
          <a:custGeom>
            <a:avLst/>
            <a:gdLst/>
            <a:ahLst/>
            <a:cxnLst/>
            <a:rect l="l" t="t" r="r" b="b"/>
            <a:pathLst>
              <a:path w="5035550" h="3292475">
                <a:moveTo>
                  <a:pt x="114315" y="0"/>
                </a:moveTo>
                <a:lnTo>
                  <a:pt x="4921235" y="0"/>
                </a:lnTo>
                <a:cubicBezTo>
                  <a:pt x="4984370" y="0"/>
                  <a:pt x="5035550" y="51180"/>
                  <a:pt x="5035550" y="114315"/>
                </a:cubicBezTo>
                <a:lnTo>
                  <a:pt x="5035550" y="3178160"/>
                </a:lnTo>
                <a:cubicBezTo>
                  <a:pt x="5035550" y="3241295"/>
                  <a:pt x="4984370" y="3292475"/>
                  <a:pt x="4921235" y="3292475"/>
                </a:cubicBezTo>
                <a:lnTo>
                  <a:pt x="114315" y="3292475"/>
                </a:lnTo>
                <a:cubicBezTo>
                  <a:pt x="51180" y="3292475"/>
                  <a:pt x="0" y="3241295"/>
                  <a:pt x="0" y="3178160"/>
                </a:cubicBezTo>
                <a:lnTo>
                  <a:pt x="0" y="114315"/>
                </a:lnTo>
                <a:cubicBezTo>
                  <a:pt x="0" y="51180"/>
                  <a:pt x="51180" y="0"/>
                  <a:pt x="114315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6967240" y="1778001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分类体系核心价值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967240" y="22939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7055346" y="23796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7386340" y="2274889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精准诊断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386340" y="2522539"/>
            <a:ext cx="30384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从表象到根因的逐层追溯,实现失效模式的精准定位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967240" y="283924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7055346" y="29249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7386340" y="2820195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预防为主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386340" y="3067845"/>
            <a:ext cx="30384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在根本原因层面建立预防机制,从源头降低失效风险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967240" y="33845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7047012" y="3470277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7386340" y="3365502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系统关联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386340" y="3613152"/>
            <a:ext cx="2771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建立三级之间的因果关系网络,支持系统性分析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967240" y="39298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7047012" y="401558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3454" y="62508"/>
                </a:moveTo>
                <a:lnTo>
                  <a:pt x="87615" y="62508"/>
                </a:lnTo>
                <a:cubicBezTo>
                  <a:pt x="83005" y="62508"/>
                  <a:pt x="79281" y="58783"/>
                  <a:pt x="79281" y="54173"/>
                </a:cubicBezTo>
                <a:lnTo>
                  <a:pt x="79281" y="8334"/>
                </a:lnTo>
                <a:cubicBezTo>
                  <a:pt x="79281" y="3724"/>
                  <a:pt x="83031" y="-52"/>
                  <a:pt x="87589" y="547"/>
                </a:cubicBezTo>
                <a:cubicBezTo>
                  <a:pt x="115457" y="4245"/>
                  <a:pt x="137543" y="26331"/>
                  <a:pt x="141242" y="54199"/>
                </a:cubicBezTo>
                <a:cubicBezTo>
                  <a:pt x="141841" y="58757"/>
                  <a:pt x="138064" y="62508"/>
                  <a:pt x="133454" y="62508"/>
                </a:cubicBezTo>
                <a:close/>
                <a:moveTo>
                  <a:pt x="57976" y="9689"/>
                </a:moveTo>
                <a:cubicBezTo>
                  <a:pt x="62690" y="8699"/>
                  <a:pt x="66779" y="12554"/>
                  <a:pt x="66779" y="17372"/>
                </a:cubicBezTo>
                <a:lnTo>
                  <a:pt x="66779" y="68759"/>
                </a:lnTo>
                <a:cubicBezTo>
                  <a:pt x="66779" y="70217"/>
                  <a:pt x="67300" y="71624"/>
                  <a:pt x="68212" y="72743"/>
                </a:cubicBezTo>
                <a:lnTo>
                  <a:pt x="102617" y="114259"/>
                </a:lnTo>
                <a:cubicBezTo>
                  <a:pt x="105664" y="117931"/>
                  <a:pt x="105013" y="123479"/>
                  <a:pt x="100820" y="125745"/>
                </a:cubicBezTo>
                <a:cubicBezTo>
                  <a:pt x="91939" y="130589"/>
                  <a:pt x="81755" y="133350"/>
                  <a:pt x="70946" y="133350"/>
                </a:cubicBezTo>
                <a:cubicBezTo>
                  <a:pt x="36437" y="133350"/>
                  <a:pt x="8439" y="105352"/>
                  <a:pt x="8439" y="70842"/>
                </a:cubicBezTo>
                <a:cubicBezTo>
                  <a:pt x="8439" y="40760"/>
                  <a:pt x="29665" y="15653"/>
                  <a:pt x="57976" y="9689"/>
                </a:cubicBezTo>
                <a:close/>
                <a:moveTo>
                  <a:pt x="124443" y="75009"/>
                </a:moveTo>
                <a:lnTo>
                  <a:pt x="141111" y="75009"/>
                </a:lnTo>
                <a:cubicBezTo>
                  <a:pt x="145930" y="75009"/>
                  <a:pt x="149784" y="79098"/>
                  <a:pt x="148795" y="83813"/>
                </a:cubicBezTo>
                <a:cubicBezTo>
                  <a:pt x="146138" y="96418"/>
                  <a:pt x="139679" y="107618"/>
                  <a:pt x="130667" y="116160"/>
                </a:cubicBezTo>
                <a:cubicBezTo>
                  <a:pt x="127464" y="119208"/>
                  <a:pt x="122437" y="118556"/>
                  <a:pt x="119624" y="115145"/>
                </a:cubicBezTo>
                <a:lnTo>
                  <a:pt x="97642" y="88657"/>
                </a:lnTo>
                <a:cubicBezTo>
                  <a:pt x="93137" y="83214"/>
                  <a:pt x="97017" y="75009"/>
                  <a:pt x="104049" y="75009"/>
                </a:cubicBezTo>
                <a:lnTo>
                  <a:pt x="124417" y="75009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7386340" y="3910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数据驱动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386340" y="4158458"/>
            <a:ext cx="2733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各级别占比数据支撑算法优化和资源分配决策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773565" y="4983956"/>
            <a:ext cx="5035550" cy="1409968"/>
          </a:xfrm>
          <a:custGeom>
            <a:avLst/>
            <a:gdLst/>
            <a:ahLst/>
            <a:cxnLst/>
            <a:rect l="l" t="t" r="r" b="b"/>
            <a:pathLst>
              <a:path w="5035550" h="1568450">
                <a:moveTo>
                  <a:pt x="114293" y="0"/>
                </a:moveTo>
                <a:lnTo>
                  <a:pt x="4921257" y="0"/>
                </a:lnTo>
                <a:cubicBezTo>
                  <a:pt x="4984337" y="0"/>
                  <a:pt x="5035550" y="51213"/>
                  <a:pt x="5035550" y="114293"/>
                </a:cubicBezTo>
                <a:lnTo>
                  <a:pt x="5035550" y="1454157"/>
                </a:lnTo>
                <a:cubicBezTo>
                  <a:pt x="5035550" y="1517237"/>
                  <a:pt x="4984337" y="1568450"/>
                  <a:pt x="4921257" y="1568450"/>
                </a:cubicBezTo>
                <a:lnTo>
                  <a:pt x="114293" y="1568450"/>
                </a:lnTo>
                <a:cubicBezTo>
                  <a:pt x="51213" y="1568450"/>
                  <a:pt x="0" y="1517237"/>
                  <a:pt x="0" y="145415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6967240" y="5099052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6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关键数据指标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967240" y="5480052"/>
            <a:ext cx="2266950" cy="800100"/>
          </a:xfrm>
          <a:custGeom>
            <a:avLst/>
            <a:gdLst/>
            <a:ahLst/>
            <a:cxnLst/>
            <a:rect l="l" t="t" r="r" b="b"/>
            <a:pathLst>
              <a:path w="2266950" h="800100">
                <a:moveTo>
                  <a:pt x="76202" y="0"/>
                </a:moveTo>
                <a:lnTo>
                  <a:pt x="2190748" y="0"/>
                </a:lnTo>
                <a:cubicBezTo>
                  <a:pt x="2232833" y="0"/>
                  <a:pt x="2266950" y="34117"/>
                  <a:pt x="2266950" y="76202"/>
                </a:cubicBezTo>
                <a:lnTo>
                  <a:pt x="2266950" y="723898"/>
                </a:lnTo>
                <a:cubicBezTo>
                  <a:pt x="2266950" y="765983"/>
                  <a:pt x="2232833" y="800100"/>
                  <a:pt x="21907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8"/>
          <p:cNvSpPr/>
          <p:nvPr/>
        </p:nvSpPr>
        <p:spPr>
          <a:xfrm>
            <a:off x="7010102" y="5594352"/>
            <a:ext cx="2181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B7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7048202" y="5975352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失效类型覆盖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9347796" y="5480052"/>
            <a:ext cx="2266950" cy="800100"/>
          </a:xfrm>
          <a:custGeom>
            <a:avLst/>
            <a:gdLst/>
            <a:ahLst/>
            <a:cxnLst/>
            <a:rect l="l" t="t" r="r" b="b"/>
            <a:pathLst>
              <a:path w="2266950" h="800100">
                <a:moveTo>
                  <a:pt x="76202" y="0"/>
                </a:moveTo>
                <a:lnTo>
                  <a:pt x="2190748" y="0"/>
                </a:lnTo>
                <a:cubicBezTo>
                  <a:pt x="2232833" y="0"/>
                  <a:pt x="2266950" y="34117"/>
                  <a:pt x="2266950" y="76202"/>
                </a:cubicBezTo>
                <a:lnTo>
                  <a:pt x="2266950" y="723898"/>
                </a:lnTo>
                <a:cubicBezTo>
                  <a:pt x="2266950" y="765983"/>
                  <a:pt x="2232833" y="800100"/>
                  <a:pt x="21907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9390658" y="5594352"/>
            <a:ext cx="2181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86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55%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9428758" y="5975352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内短路占比最高</a:t>
            </a:r>
            <a:endParaRPr lang="en-US" sz="1600" dirty="0"/>
          </a:p>
        </p:txBody>
      </p:sp>
      <p:sp>
        <p:nvSpPr>
          <p:cNvPr id="102" name="Shape 0">
            <a:extLst>
              <a:ext uri="{FF2B5EF4-FFF2-40B4-BE49-F238E27FC236}">
                <a16:creationId xmlns:a16="http://schemas.microsoft.com/office/drawing/2014/main" id="{8F638878-BEF4-4C0C-E66C-3D0FF5D26130}"/>
              </a:ext>
            </a:extLst>
          </p:cNvPr>
          <p:cNvSpPr/>
          <p:nvPr/>
        </p:nvSpPr>
        <p:spPr>
          <a:xfrm>
            <a:off x="352078" y="354962"/>
            <a:ext cx="2162876" cy="278873"/>
          </a:xfrm>
          <a:custGeom>
            <a:avLst/>
            <a:gdLst/>
            <a:ahLst/>
            <a:cxnLst/>
            <a:rect l="l" t="t" r="r" b="b"/>
            <a:pathLst>
              <a:path w="1586093" h="278873">
                <a:moveTo>
                  <a:pt x="34859" y="0"/>
                </a:moveTo>
                <a:lnTo>
                  <a:pt x="1551234" y="0"/>
                </a:lnTo>
                <a:cubicBezTo>
                  <a:pt x="1570486" y="0"/>
                  <a:pt x="1586093" y="15607"/>
                  <a:pt x="1586093" y="34859"/>
                </a:cubicBezTo>
                <a:lnTo>
                  <a:pt x="1586093" y="244014"/>
                </a:lnTo>
                <a:cubicBezTo>
                  <a:pt x="1586093" y="263266"/>
                  <a:pt x="1570486" y="278873"/>
                  <a:pt x="1551234" y="278873"/>
                </a:cubicBezTo>
                <a:lnTo>
                  <a:pt x="34859" y="278873"/>
                </a:lnTo>
                <a:cubicBezTo>
                  <a:pt x="15607" y="278873"/>
                  <a:pt x="0" y="263266"/>
                  <a:pt x="0" y="24401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1">
            <a:extLst>
              <a:ext uri="{FF2B5EF4-FFF2-40B4-BE49-F238E27FC236}">
                <a16:creationId xmlns:a16="http://schemas.microsoft.com/office/drawing/2014/main" id="{F0901CD6-B8AB-D01A-C7AB-A035B3C267AB}"/>
              </a:ext>
            </a:extLst>
          </p:cNvPr>
          <p:cNvSpPr/>
          <p:nvPr/>
        </p:nvSpPr>
        <p:spPr>
          <a:xfrm>
            <a:off x="453168" y="432256"/>
            <a:ext cx="1732623" cy="12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kern="0" spc="4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ADVANCED INSIGHTS</a:t>
            </a:r>
            <a:endParaRPr lang="en-US" sz="1600" dirty="0"/>
          </a:p>
        </p:txBody>
      </p:sp>
      <p:sp>
        <p:nvSpPr>
          <p:cNvPr id="104" name="Shape 3">
            <a:extLst>
              <a:ext uri="{FF2B5EF4-FFF2-40B4-BE49-F238E27FC236}">
                <a16:creationId xmlns:a16="http://schemas.microsoft.com/office/drawing/2014/main" id="{829A991B-42B0-08EE-519A-D7BD0EE60181}"/>
              </a:ext>
            </a:extLst>
          </p:cNvPr>
          <p:cNvSpPr/>
          <p:nvPr/>
        </p:nvSpPr>
        <p:spPr>
          <a:xfrm>
            <a:off x="348592" y="1150353"/>
            <a:ext cx="697184" cy="34859"/>
          </a:xfrm>
          <a:custGeom>
            <a:avLst/>
            <a:gdLst/>
            <a:ahLst/>
            <a:cxnLst/>
            <a:rect l="l" t="t" r="r" b="b"/>
            <a:pathLst>
              <a:path w="697184" h="34859">
                <a:moveTo>
                  <a:pt x="0" y="0"/>
                </a:moveTo>
                <a:lnTo>
                  <a:pt x="697184" y="0"/>
                </a:lnTo>
                <a:lnTo>
                  <a:pt x="697184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2">
            <a:extLst>
              <a:ext uri="{FF2B5EF4-FFF2-40B4-BE49-F238E27FC236}">
                <a16:creationId xmlns:a16="http://schemas.microsoft.com/office/drawing/2014/main" id="{B2B9FD98-036F-31C2-F1B6-A04FE644CF15}"/>
              </a:ext>
            </a:extLst>
          </p:cNvPr>
          <p:cNvSpPr/>
          <p:nvPr/>
        </p:nvSpPr>
        <p:spPr>
          <a:xfrm>
            <a:off x="348592" y="697184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400" b="1" dirty="0" err="1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失效模式金字塔:三级分类体系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Image 0" descr="https://kimi-img.moonshot.cn/pub/slides/slides_tmpl/image/25-09-04-11:32:05-d2sggde1bb2p4onbok20.jpg">
            <a:extLst>
              <a:ext uri="{FF2B5EF4-FFF2-40B4-BE49-F238E27FC236}">
                <a16:creationId xmlns:a16="http://schemas.microsoft.com/office/drawing/2014/main" id="{26D355EB-2143-F612-38AC-2E4343D9D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84175" y="1184275"/>
            <a:ext cx="5654675" cy="2292350"/>
          </a:xfrm>
          <a:custGeom>
            <a:avLst/>
            <a:gdLst/>
            <a:ahLst/>
            <a:cxnLst/>
            <a:rect l="l" t="t" r="r" b="b"/>
            <a:pathLst>
              <a:path w="5654675" h="2292350">
                <a:moveTo>
                  <a:pt x="114297" y="0"/>
                </a:moveTo>
                <a:lnTo>
                  <a:pt x="5540378" y="0"/>
                </a:lnTo>
                <a:cubicBezTo>
                  <a:pt x="5603503" y="0"/>
                  <a:pt x="5654675" y="51172"/>
                  <a:pt x="5654675" y="114297"/>
                </a:cubicBezTo>
                <a:lnTo>
                  <a:pt x="5654675" y="2178053"/>
                </a:lnTo>
                <a:cubicBezTo>
                  <a:pt x="5654675" y="2241178"/>
                  <a:pt x="5603503" y="2292350"/>
                  <a:pt x="5540378" y="2292350"/>
                </a:cubicBezTo>
                <a:lnTo>
                  <a:pt x="114297" y="2292350"/>
                </a:lnTo>
                <a:cubicBezTo>
                  <a:pt x="51172" y="2292350"/>
                  <a:pt x="0" y="2241178"/>
                  <a:pt x="0" y="21780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9750" y="13398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5475" y="14160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118705"/>
                </a:moveTo>
                <a:cubicBezTo>
                  <a:pt x="63163" y="120223"/>
                  <a:pt x="59710" y="121593"/>
                  <a:pt x="56287" y="122724"/>
                </a:cubicBezTo>
                <a:cubicBezTo>
                  <a:pt x="61258" y="132784"/>
                  <a:pt x="65514" y="133350"/>
                  <a:pt x="66675" y="133350"/>
                </a:cubicBezTo>
                <a:cubicBezTo>
                  <a:pt x="67836" y="133350"/>
                  <a:pt x="72063" y="132784"/>
                  <a:pt x="77063" y="122724"/>
                </a:cubicBezTo>
                <a:cubicBezTo>
                  <a:pt x="73670" y="121563"/>
                  <a:pt x="70187" y="120223"/>
                  <a:pt x="66675" y="118705"/>
                </a:cubicBezTo>
                <a:close/>
                <a:moveTo>
                  <a:pt x="123230" y="76200"/>
                </a:moveTo>
                <a:cubicBezTo>
                  <a:pt x="133052" y="89654"/>
                  <a:pt x="136416" y="103257"/>
                  <a:pt x="130254" y="114300"/>
                </a:cubicBezTo>
                <a:cubicBezTo>
                  <a:pt x="124242" y="125105"/>
                  <a:pt x="111651" y="128974"/>
                  <a:pt x="95964" y="127159"/>
                </a:cubicBezTo>
                <a:cubicBezTo>
                  <a:pt x="89416" y="142667"/>
                  <a:pt x="79385" y="152400"/>
                  <a:pt x="66675" y="152400"/>
                </a:cubicBezTo>
                <a:cubicBezTo>
                  <a:pt x="53965" y="152400"/>
                  <a:pt x="43934" y="142667"/>
                  <a:pt x="37386" y="127159"/>
                </a:cubicBezTo>
                <a:cubicBezTo>
                  <a:pt x="21699" y="128974"/>
                  <a:pt x="9108" y="125105"/>
                  <a:pt x="3096" y="114300"/>
                </a:cubicBezTo>
                <a:cubicBezTo>
                  <a:pt x="-3066" y="103257"/>
                  <a:pt x="298" y="89654"/>
                  <a:pt x="10120" y="76200"/>
                </a:cubicBezTo>
                <a:cubicBezTo>
                  <a:pt x="298" y="62746"/>
                  <a:pt x="-3066" y="49143"/>
                  <a:pt x="3096" y="38100"/>
                </a:cubicBezTo>
                <a:cubicBezTo>
                  <a:pt x="9108" y="27295"/>
                  <a:pt x="21699" y="23426"/>
                  <a:pt x="37386" y="25241"/>
                </a:cubicBezTo>
                <a:cubicBezTo>
                  <a:pt x="43934" y="9733"/>
                  <a:pt x="53935" y="0"/>
                  <a:pt x="66675" y="0"/>
                </a:cubicBezTo>
                <a:cubicBezTo>
                  <a:pt x="79415" y="0"/>
                  <a:pt x="89416" y="9733"/>
                  <a:pt x="95964" y="25241"/>
                </a:cubicBezTo>
                <a:cubicBezTo>
                  <a:pt x="111651" y="23426"/>
                  <a:pt x="124242" y="27265"/>
                  <a:pt x="130254" y="38100"/>
                </a:cubicBezTo>
                <a:cubicBezTo>
                  <a:pt x="136416" y="49143"/>
                  <a:pt x="133052" y="62746"/>
                  <a:pt x="123230" y="76200"/>
                </a:cubicBezTo>
                <a:close/>
                <a:moveTo>
                  <a:pt x="103644" y="96262"/>
                </a:moveTo>
                <a:cubicBezTo>
                  <a:pt x="103138" y="100489"/>
                  <a:pt x="102483" y="104596"/>
                  <a:pt x="101650" y="108525"/>
                </a:cubicBezTo>
                <a:cubicBezTo>
                  <a:pt x="111115" y="108942"/>
                  <a:pt x="113139" y="105936"/>
                  <a:pt x="113615" y="105043"/>
                </a:cubicBezTo>
                <a:cubicBezTo>
                  <a:pt x="114300" y="103793"/>
                  <a:pt x="115699" y="99715"/>
                  <a:pt x="110073" y="90726"/>
                </a:cubicBezTo>
                <a:cubicBezTo>
                  <a:pt x="108049" y="92601"/>
                  <a:pt x="105906" y="94446"/>
                  <a:pt x="103644" y="96262"/>
                </a:cubicBezTo>
                <a:close/>
                <a:moveTo>
                  <a:pt x="101650" y="43904"/>
                </a:moveTo>
                <a:cubicBezTo>
                  <a:pt x="102483" y="47804"/>
                  <a:pt x="103138" y="51911"/>
                  <a:pt x="103644" y="56168"/>
                </a:cubicBezTo>
                <a:cubicBezTo>
                  <a:pt x="105906" y="57983"/>
                  <a:pt x="108049" y="59829"/>
                  <a:pt x="110073" y="61704"/>
                </a:cubicBezTo>
                <a:cubicBezTo>
                  <a:pt x="115699" y="52715"/>
                  <a:pt x="114300" y="48607"/>
                  <a:pt x="113615" y="47387"/>
                </a:cubicBezTo>
                <a:cubicBezTo>
                  <a:pt x="113139" y="46524"/>
                  <a:pt x="111115" y="43517"/>
                  <a:pt x="101650" y="43904"/>
                </a:cubicBezTo>
                <a:close/>
                <a:moveTo>
                  <a:pt x="77063" y="29676"/>
                </a:moveTo>
                <a:cubicBezTo>
                  <a:pt x="72063" y="19616"/>
                  <a:pt x="67836" y="19050"/>
                  <a:pt x="66675" y="19050"/>
                </a:cubicBezTo>
                <a:cubicBezTo>
                  <a:pt x="65514" y="19050"/>
                  <a:pt x="61287" y="19616"/>
                  <a:pt x="56287" y="29676"/>
                </a:cubicBezTo>
                <a:cubicBezTo>
                  <a:pt x="59680" y="30837"/>
                  <a:pt x="63163" y="32177"/>
                  <a:pt x="66675" y="33695"/>
                </a:cubicBezTo>
                <a:cubicBezTo>
                  <a:pt x="70187" y="32177"/>
                  <a:pt x="73640" y="30807"/>
                  <a:pt x="77063" y="29676"/>
                </a:cubicBezTo>
                <a:close/>
                <a:moveTo>
                  <a:pt x="29736" y="56138"/>
                </a:moveTo>
                <a:cubicBezTo>
                  <a:pt x="30242" y="51881"/>
                  <a:pt x="30897" y="47804"/>
                  <a:pt x="31730" y="43875"/>
                </a:cubicBezTo>
                <a:cubicBezTo>
                  <a:pt x="22265" y="43458"/>
                  <a:pt x="20241" y="46464"/>
                  <a:pt x="19764" y="47357"/>
                </a:cubicBezTo>
                <a:cubicBezTo>
                  <a:pt x="19080" y="48607"/>
                  <a:pt x="17681" y="52685"/>
                  <a:pt x="23306" y="61674"/>
                </a:cubicBezTo>
                <a:cubicBezTo>
                  <a:pt x="25331" y="59799"/>
                  <a:pt x="27474" y="57954"/>
                  <a:pt x="29736" y="56138"/>
                </a:cubicBezTo>
                <a:close/>
                <a:moveTo>
                  <a:pt x="23277" y="90726"/>
                </a:moveTo>
                <a:cubicBezTo>
                  <a:pt x="17651" y="99715"/>
                  <a:pt x="19050" y="103823"/>
                  <a:pt x="19735" y="105043"/>
                </a:cubicBezTo>
                <a:cubicBezTo>
                  <a:pt x="20211" y="105906"/>
                  <a:pt x="22235" y="108912"/>
                  <a:pt x="31700" y="108525"/>
                </a:cubicBezTo>
                <a:cubicBezTo>
                  <a:pt x="30867" y="104626"/>
                  <a:pt x="30212" y="100519"/>
                  <a:pt x="29706" y="96262"/>
                </a:cubicBezTo>
                <a:cubicBezTo>
                  <a:pt x="27444" y="94446"/>
                  <a:pt x="25301" y="92601"/>
                  <a:pt x="23277" y="90726"/>
                </a:cubicBezTo>
                <a:close/>
                <a:moveTo>
                  <a:pt x="90488" y="76200"/>
                </a:moveTo>
                <a:cubicBezTo>
                  <a:pt x="90488" y="63058"/>
                  <a:pt x="79817" y="52388"/>
                  <a:pt x="66675" y="52388"/>
                </a:cubicBezTo>
                <a:cubicBezTo>
                  <a:pt x="53533" y="52388"/>
                  <a:pt x="42863" y="63058"/>
                  <a:pt x="42863" y="76200"/>
                </a:cubicBezTo>
                <a:cubicBezTo>
                  <a:pt x="42863" y="89342"/>
                  <a:pt x="53533" y="100013"/>
                  <a:pt x="66675" y="100013"/>
                </a:cubicBezTo>
                <a:cubicBezTo>
                  <a:pt x="79817" y="100013"/>
                  <a:pt x="90488" y="89342"/>
                  <a:pt x="90488" y="76200"/>
                </a:cubicBezTo>
                <a:close/>
                <a:moveTo>
                  <a:pt x="66675" y="66675"/>
                </a:moveTo>
                <a:cubicBezTo>
                  <a:pt x="71932" y="66675"/>
                  <a:pt x="76200" y="70943"/>
                  <a:pt x="76200" y="76200"/>
                </a:cubicBezTo>
                <a:cubicBezTo>
                  <a:pt x="76200" y="81457"/>
                  <a:pt x="71932" y="85725"/>
                  <a:pt x="66675" y="85725"/>
                </a:cubicBezTo>
                <a:cubicBezTo>
                  <a:pt x="61418" y="85725"/>
                  <a:pt x="57150" y="81457"/>
                  <a:pt x="57150" y="76200"/>
                </a:cubicBezTo>
                <a:cubicBezTo>
                  <a:pt x="57150" y="70943"/>
                  <a:pt x="61418" y="66675"/>
                  <a:pt x="66675" y="66675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0750" y="1358901"/>
            <a:ext cx="36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析锂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51773" y="1358901"/>
            <a:ext cx="428625" cy="266700"/>
          </a:xfrm>
          <a:custGeom>
            <a:avLst/>
            <a:gdLst/>
            <a:ahLst/>
            <a:cxnLst/>
            <a:rect l="l" t="t" r="r" b="b"/>
            <a:pathLst>
              <a:path w="428625" h="266700">
                <a:moveTo>
                  <a:pt x="76199" y="0"/>
                </a:moveTo>
                <a:lnTo>
                  <a:pt x="352426" y="0"/>
                </a:lnTo>
                <a:cubicBezTo>
                  <a:pt x="394481" y="0"/>
                  <a:pt x="428625" y="34144"/>
                  <a:pt x="428625" y="76199"/>
                </a:cubicBezTo>
                <a:lnTo>
                  <a:pt x="428625" y="190501"/>
                </a:lnTo>
                <a:cubicBezTo>
                  <a:pt x="428625" y="232556"/>
                  <a:pt x="394481" y="266700"/>
                  <a:pt x="3524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51773" y="1358901"/>
            <a:ext cx="504825" cy="2667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750" y="1720851"/>
            <a:ext cx="5419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Lithium Plating - 锂离子在负极表面还原为金属锂,导致容量损失和内短路风险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50" y="2006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96900" y="2082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8325" y="2082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" y="206375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快充析锂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02635" y="2063751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可逆80%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750" y="2387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96900" y="2463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8325" y="2463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" y="244475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低温析锂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6603" y="2444751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可逆50%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9750" y="2768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96900" y="2844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8325" y="2844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" y="282575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表面析锂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47469" y="2825751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SEI膜破裂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750" y="3149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96900" y="3225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68325" y="3225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" y="320675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体相析锂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3350" y="320675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嵌锂不均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56325" y="1184275"/>
            <a:ext cx="5654675" cy="2292350"/>
          </a:xfrm>
          <a:custGeom>
            <a:avLst/>
            <a:gdLst/>
            <a:ahLst/>
            <a:cxnLst/>
            <a:rect l="l" t="t" r="r" b="b"/>
            <a:pathLst>
              <a:path w="5654675" h="2292350">
                <a:moveTo>
                  <a:pt x="114297" y="0"/>
                </a:moveTo>
                <a:lnTo>
                  <a:pt x="5540378" y="0"/>
                </a:lnTo>
                <a:cubicBezTo>
                  <a:pt x="5603503" y="0"/>
                  <a:pt x="5654675" y="51172"/>
                  <a:pt x="5654675" y="114297"/>
                </a:cubicBezTo>
                <a:lnTo>
                  <a:pt x="5654675" y="2178053"/>
                </a:lnTo>
                <a:cubicBezTo>
                  <a:pt x="5654675" y="2241178"/>
                  <a:pt x="5603503" y="2292350"/>
                  <a:pt x="5540378" y="2292350"/>
                </a:cubicBezTo>
                <a:lnTo>
                  <a:pt x="114297" y="2292350"/>
                </a:lnTo>
                <a:cubicBezTo>
                  <a:pt x="51172" y="2292350"/>
                  <a:pt x="0" y="2241178"/>
                  <a:pt x="0" y="21780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311900" y="13398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397625" y="14160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692900" y="1358901"/>
            <a:ext cx="781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内短路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92868" y="1358901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76199" y="0"/>
                </a:moveTo>
                <a:lnTo>
                  <a:pt x="381001" y="0"/>
                </a:lnTo>
                <a:cubicBezTo>
                  <a:pt x="423056" y="0"/>
                  <a:pt x="457200" y="34144"/>
                  <a:pt x="457200" y="76199"/>
                </a:cubicBezTo>
                <a:lnTo>
                  <a:pt x="457200" y="190501"/>
                </a:lnTo>
                <a:cubicBezTo>
                  <a:pt x="457200" y="232556"/>
                  <a:pt x="423056" y="266700"/>
                  <a:pt x="3810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192868" y="1358901"/>
            <a:ext cx="533400" cy="2667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11900" y="1720851"/>
            <a:ext cx="5419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Internal Short Circuit - 正负极直接接触导致异常放电,是最危险的失效模式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1900" y="2006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369050" y="2082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340475" y="2082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35750" y="2063751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金属颗粒短路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896105" y="2063751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252200" y="2101851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252200" y="2101851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一代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11900" y="2387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369050" y="2463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340475" y="2463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2B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35750" y="2444751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锂枝晶穿刺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874376" y="2444751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252200" y="2482851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252200" y="2482851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二代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1900" y="2768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369050" y="2844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340475" y="2844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2C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635750" y="2825751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隔膜热收缩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72007" y="2825751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7%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252200" y="2863851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252200" y="2863851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一代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11900" y="3149601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6369050" y="3225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340475" y="322580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35750" y="3206751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SEI膜破裂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960001" y="3206751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5%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252200" y="3244851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252200" y="3244851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三代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4175" y="3597277"/>
            <a:ext cx="5654675" cy="2082800"/>
          </a:xfrm>
          <a:custGeom>
            <a:avLst/>
            <a:gdLst/>
            <a:ahLst/>
            <a:cxnLst/>
            <a:rect l="l" t="t" r="r" b="b"/>
            <a:pathLst>
              <a:path w="5654675" h="2082800">
                <a:moveTo>
                  <a:pt x="114304" y="0"/>
                </a:moveTo>
                <a:lnTo>
                  <a:pt x="5540371" y="0"/>
                </a:lnTo>
                <a:cubicBezTo>
                  <a:pt x="5603457" y="0"/>
                  <a:pt x="5654675" y="51218"/>
                  <a:pt x="5654675" y="114304"/>
                </a:cubicBezTo>
                <a:lnTo>
                  <a:pt x="5654675" y="1968496"/>
                </a:lnTo>
                <a:cubicBezTo>
                  <a:pt x="5654675" y="2031624"/>
                  <a:pt x="5603499" y="2082800"/>
                  <a:pt x="5540371" y="2082800"/>
                </a:cubicBezTo>
                <a:lnTo>
                  <a:pt x="114304" y="2082800"/>
                </a:lnTo>
                <a:cubicBezTo>
                  <a:pt x="51176" y="2082800"/>
                  <a:pt x="0" y="2031624"/>
                  <a:pt x="0" y="196849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539750" y="3752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bg1">
              <a:lumMod val="95000"/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625475" y="3829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920750" y="3771900"/>
            <a:ext cx="1250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电解液分解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453162" y="3771900"/>
            <a:ext cx="428625" cy="266700"/>
          </a:xfrm>
          <a:custGeom>
            <a:avLst/>
            <a:gdLst/>
            <a:ahLst/>
            <a:cxnLst/>
            <a:rect l="l" t="t" r="r" b="b"/>
            <a:pathLst>
              <a:path w="428625" h="266700">
                <a:moveTo>
                  <a:pt x="76199" y="0"/>
                </a:moveTo>
                <a:lnTo>
                  <a:pt x="352426" y="0"/>
                </a:lnTo>
                <a:cubicBezTo>
                  <a:pt x="394481" y="0"/>
                  <a:pt x="428625" y="34144"/>
                  <a:pt x="428625" y="76199"/>
                </a:cubicBezTo>
                <a:lnTo>
                  <a:pt x="428625" y="190501"/>
                </a:lnTo>
                <a:cubicBezTo>
                  <a:pt x="428625" y="232556"/>
                  <a:pt x="394481" y="266700"/>
                  <a:pt x="3524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5453162" y="3771900"/>
            <a:ext cx="504825" cy="2667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39750" y="4133850"/>
            <a:ext cx="5419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Gas Evolution - 电解液在高电压或高温下分解产生气体,导致鼓胀和性能衰减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9750" y="4419600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596900" y="4495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568325" y="44958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3A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63600" y="44767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过充分解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4992787" y="447675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&gt;4.3V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480050" y="4514850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5480050" y="4514850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一代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539750" y="4800600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596900" y="4876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568325" y="48768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3B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63600" y="48577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高温分解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4956969" y="4857750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&gt;60°C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5480050" y="4895850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5480050" y="4895850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二代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539750" y="5181600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596900" y="5257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8"/>
          <p:cNvSpPr/>
          <p:nvPr/>
        </p:nvSpPr>
        <p:spPr>
          <a:xfrm>
            <a:off x="568325" y="52578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3C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63600" y="5238750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SEI膜持续生长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5480050" y="5276850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5480050" y="5276850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二代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6156325" y="3597277"/>
            <a:ext cx="5654675" cy="2082800"/>
          </a:xfrm>
          <a:custGeom>
            <a:avLst/>
            <a:gdLst/>
            <a:ahLst/>
            <a:cxnLst/>
            <a:rect l="l" t="t" r="r" b="b"/>
            <a:pathLst>
              <a:path w="5654675" h="2082800">
                <a:moveTo>
                  <a:pt x="114304" y="0"/>
                </a:moveTo>
                <a:lnTo>
                  <a:pt x="5540371" y="0"/>
                </a:lnTo>
                <a:cubicBezTo>
                  <a:pt x="5603457" y="0"/>
                  <a:pt x="5654675" y="51218"/>
                  <a:pt x="5654675" y="114304"/>
                </a:cubicBezTo>
                <a:lnTo>
                  <a:pt x="5654675" y="1968496"/>
                </a:lnTo>
                <a:cubicBezTo>
                  <a:pt x="5654675" y="2031624"/>
                  <a:pt x="5603499" y="2082800"/>
                  <a:pt x="5540371" y="2082800"/>
                </a:cubicBezTo>
                <a:lnTo>
                  <a:pt x="114304" y="2082800"/>
                </a:lnTo>
                <a:cubicBezTo>
                  <a:pt x="51176" y="2082800"/>
                  <a:pt x="0" y="2031624"/>
                  <a:pt x="0" y="196849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hape 93"/>
          <p:cNvSpPr/>
          <p:nvPr/>
        </p:nvSpPr>
        <p:spPr>
          <a:xfrm>
            <a:off x="6311900" y="3752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>
            <a:off x="6388100" y="3829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7" name="Text 95"/>
          <p:cNvSpPr/>
          <p:nvPr/>
        </p:nvSpPr>
        <p:spPr>
          <a:xfrm>
            <a:off x="6692900" y="3771900"/>
            <a:ext cx="1292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活性物质损失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11236028" y="3771900"/>
            <a:ext cx="419100" cy="266700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76199" y="0"/>
                </a:moveTo>
                <a:lnTo>
                  <a:pt x="342901" y="0"/>
                </a:lnTo>
                <a:cubicBezTo>
                  <a:pt x="384956" y="0"/>
                  <a:pt x="419100" y="34144"/>
                  <a:pt x="419100" y="76199"/>
                </a:cubicBezTo>
                <a:lnTo>
                  <a:pt x="419100" y="190501"/>
                </a:lnTo>
                <a:cubicBezTo>
                  <a:pt x="419100" y="232556"/>
                  <a:pt x="384956" y="266700"/>
                  <a:pt x="3429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9" name="Text 97"/>
          <p:cNvSpPr/>
          <p:nvPr/>
        </p:nvSpPr>
        <p:spPr>
          <a:xfrm>
            <a:off x="11236028" y="3771900"/>
            <a:ext cx="495300" cy="2667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17%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6311900" y="4133850"/>
            <a:ext cx="5419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 Degradation - 正负极材料结构破坏或失活,导致容量不可逆衰减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6311900" y="4419600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100"/>
          <p:cNvSpPr/>
          <p:nvPr/>
        </p:nvSpPr>
        <p:spPr>
          <a:xfrm>
            <a:off x="6369050" y="4495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101"/>
          <p:cNvSpPr/>
          <p:nvPr/>
        </p:nvSpPr>
        <p:spPr>
          <a:xfrm>
            <a:off x="6340475" y="44958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4A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6635750" y="44767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正极结构坍塌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11252200" y="4514850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6" name="Text 104"/>
          <p:cNvSpPr/>
          <p:nvPr/>
        </p:nvSpPr>
        <p:spPr>
          <a:xfrm>
            <a:off x="11252200" y="4514850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二代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6311900" y="4800600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8" name="Shape 106"/>
          <p:cNvSpPr/>
          <p:nvPr/>
        </p:nvSpPr>
        <p:spPr>
          <a:xfrm>
            <a:off x="6369050" y="4876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107"/>
          <p:cNvSpPr/>
          <p:nvPr/>
        </p:nvSpPr>
        <p:spPr>
          <a:xfrm>
            <a:off x="6340475" y="48768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4B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6635750" y="485775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负极剥离</a:t>
            </a:r>
            <a:endParaRPr lang="en-US" sz="1600" dirty="0"/>
          </a:p>
        </p:txBody>
      </p:sp>
      <p:sp>
        <p:nvSpPr>
          <p:cNvPr id="111" name="Shape 109"/>
          <p:cNvSpPr/>
          <p:nvPr/>
        </p:nvSpPr>
        <p:spPr>
          <a:xfrm>
            <a:off x="11252200" y="4895850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2" name="Text 110"/>
          <p:cNvSpPr/>
          <p:nvPr/>
        </p:nvSpPr>
        <p:spPr>
          <a:xfrm>
            <a:off x="11252200" y="4895850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三代</a:t>
            </a:r>
            <a:endParaRPr lang="en-US" sz="1600" dirty="0"/>
          </a:p>
        </p:txBody>
      </p:sp>
      <p:sp>
        <p:nvSpPr>
          <p:cNvPr id="113" name="Shape 111"/>
          <p:cNvSpPr/>
          <p:nvPr/>
        </p:nvSpPr>
        <p:spPr>
          <a:xfrm>
            <a:off x="6311900" y="5181600"/>
            <a:ext cx="5343525" cy="342900"/>
          </a:xfrm>
          <a:custGeom>
            <a:avLst/>
            <a:gdLst/>
            <a:ahLst/>
            <a:cxnLst/>
            <a:rect l="l" t="t" r="r" b="b"/>
            <a:pathLst>
              <a:path w="5343525" h="342900">
                <a:moveTo>
                  <a:pt x="76199" y="0"/>
                </a:moveTo>
                <a:lnTo>
                  <a:pt x="5267326" y="0"/>
                </a:lnTo>
                <a:cubicBezTo>
                  <a:pt x="5309409" y="0"/>
                  <a:pt x="5343525" y="34116"/>
                  <a:pt x="5343525" y="76199"/>
                </a:cubicBezTo>
                <a:lnTo>
                  <a:pt x="5343525" y="266701"/>
                </a:lnTo>
                <a:cubicBezTo>
                  <a:pt x="5343525" y="308784"/>
                  <a:pt x="5309409" y="342900"/>
                  <a:pt x="5267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4" name="Shape 112"/>
          <p:cNvSpPr/>
          <p:nvPr/>
        </p:nvSpPr>
        <p:spPr>
          <a:xfrm>
            <a:off x="6369050" y="5257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5" name="Text 113"/>
          <p:cNvSpPr/>
          <p:nvPr/>
        </p:nvSpPr>
        <p:spPr>
          <a:xfrm>
            <a:off x="6340475" y="52578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4C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6635750" y="52387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集流体腐蚀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11252200" y="5276850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8100" y="0"/>
                </a:moveTo>
                <a:lnTo>
                  <a:pt x="304800" y="0"/>
                </a:lnTo>
                <a:cubicBezTo>
                  <a:pt x="325828" y="0"/>
                  <a:pt x="342900" y="17072"/>
                  <a:pt x="342900" y="38100"/>
                </a:cubicBezTo>
                <a:lnTo>
                  <a:pt x="342900" y="114300"/>
                </a:lnTo>
                <a:cubicBezTo>
                  <a:pt x="342900" y="135328"/>
                  <a:pt x="325828" y="152400"/>
                  <a:pt x="304800" y="152400"/>
                </a:cubicBezTo>
                <a:lnTo>
                  <a:pt x="38100" y="152400"/>
                </a:lnTo>
                <a:cubicBezTo>
                  <a:pt x="17072" y="152400"/>
                  <a:pt x="0" y="135328"/>
                  <a:pt x="0" y="114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8" name="Text 116"/>
          <p:cNvSpPr/>
          <p:nvPr/>
        </p:nvSpPr>
        <p:spPr>
          <a:xfrm>
            <a:off x="11252200" y="5276850"/>
            <a:ext cx="400050" cy="152400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三代</a:t>
            </a:r>
            <a:endParaRPr lang="en-US" sz="1600" dirty="0"/>
          </a:p>
        </p:txBody>
      </p:sp>
      <p:sp>
        <p:nvSpPr>
          <p:cNvPr id="119" name="Shape 117"/>
          <p:cNvSpPr/>
          <p:nvPr/>
        </p:nvSpPr>
        <p:spPr>
          <a:xfrm>
            <a:off x="384175" y="5762626"/>
            <a:ext cx="11426825" cy="711200"/>
          </a:xfrm>
          <a:custGeom>
            <a:avLst/>
            <a:gdLst/>
            <a:ahLst/>
            <a:cxnLst/>
            <a:rect l="l" t="t" r="r" b="b"/>
            <a:pathLst>
              <a:path w="11426825" h="711200">
                <a:moveTo>
                  <a:pt x="114297" y="0"/>
                </a:moveTo>
                <a:lnTo>
                  <a:pt x="11312528" y="0"/>
                </a:lnTo>
                <a:cubicBezTo>
                  <a:pt x="11375653" y="0"/>
                  <a:pt x="11426825" y="51172"/>
                  <a:pt x="11426825" y="114297"/>
                </a:cubicBezTo>
                <a:lnTo>
                  <a:pt x="11426825" y="596903"/>
                </a:lnTo>
                <a:cubicBezTo>
                  <a:pt x="11426825" y="660028"/>
                  <a:pt x="11375653" y="711200"/>
                  <a:pt x="11312528" y="711200"/>
                </a:cubicBezTo>
                <a:lnTo>
                  <a:pt x="114297" y="711200"/>
                </a:lnTo>
                <a:cubicBezTo>
                  <a:pt x="51215" y="711200"/>
                  <a:pt x="0" y="659985"/>
                  <a:pt x="0" y="59690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Shape 118"/>
          <p:cNvSpPr/>
          <p:nvPr/>
        </p:nvSpPr>
        <p:spPr>
          <a:xfrm>
            <a:off x="525463" y="603250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0"/>
                </a:moveTo>
                <a:cubicBezTo>
                  <a:pt x="50062" y="0"/>
                  <a:pt x="42863" y="7200"/>
                  <a:pt x="42863" y="16073"/>
                </a:cubicBezTo>
                <a:lnTo>
                  <a:pt x="42863" y="85725"/>
                </a:lnTo>
                <a:cubicBezTo>
                  <a:pt x="42863" y="94599"/>
                  <a:pt x="50062" y="101798"/>
                  <a:pt x="58936" y="101798"/>
                </a:cubicBezTo>
                <a:lnTo>
                  <a:pt x="80367" y="101798"/>
                </a:lnTo>
                <a:cubicBezTo>
                  <a:pt x="89241" y="101798"/>
                  <a:pt x="96441" y="94599"/>
                  <a:pt x="96441" y="85725"/>
                </a:cubicBezTo>
                <a:lnTo>
                  <a:pt x="96441" y="64294"/>
                </a:lnTo>
                <a:lnTo>
                  <a:pt x="107156" y="64294"/>
                </a:lnTo>
                <a:cubicBezTo>
                  <a:pt x="130831" y="64294"/>
                  <a:pt x="150019" y="83481"/>
                  <a:pt x="150019" y="107156"/>
                </a:cubicBezTo>
                <a:cubicBezTo>
                  <a:pt x="150019" y="130831"/>
                  <a:pt x="130831" y="150019"/>
                  <a:pt x="107156" y="150019"/>
                </a:cubicBezTo>
                <a:lnTo>
                  <a:pt x="10716" y="150019"/>
                </a:lnTo>
                <a:cubicBezTo>
                  <a:pt x="4789" y="150019"/>
                  <a:pt x="0" y="154807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4807"/>
                  <a:pt x="166661" y="150019"/>
                  <a:pt x="160734" y="150019"/>
                </a:cubicBezTo>
                <a:lnTo>
                  <a:pt x="155075" y="150019"/>
                </a:lnTo>
                <a:cubicBezTo>
                  <a:pt x="165255" y="138633"/>
                  <a:pt x="171450" y="123632"/>
                  <a:pt x="171450" y="107156"/>
                </a:cubicBezTo>
                <a:cubicBezTo>
                  <a:pt x="171450" y="71661"/>
                  <a:pt x="142652" y="42863"/>
                  <a:pt x="107156" y="42863"/>
                </a:cubicBezTo>
                <a:lnTo>
                  <a:pt x="96441" y="42863"/>
                </a:lnTo>
                <a:lnTo>
                  <a:pt x="96441" y="16073"/>
                </a:lnTo>
                <a:cubicBezTo>
                  <a:pt x="96441" y="7200"/>
                  <a:pt x="89241" y="0"/>
                  <a:pt x="80367" y="0"/>
                </a:cubicBezTo>
                <a:lnTo>
                  <a:pt x="58936" y="0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99120" y="133945"/>
                </a:lnTo>
                <a:cubicBezTo>
                  <a:pt x="103573" y="133945"/>
                  <a:pt x="107156" y="130362"/>
                  <a:pt x="107156" y="125909"/>
                </a:cubicBezTo>
                <a:cubicBezTo>
                  <a:pt x="107156" y="121455"/>
                  <a:pt x="103573" y="117872"/>
                  <a:pt x="99120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3D8B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1" name="Text 119"/>
          <p:cNvSpPr/>
          <p:nvPr/>
        </p:nvSpPr>
        <p:spPr>
          <a:xfrm>
            <a:off x="830263" y="5880102"/>
            <a:ext cx="893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检测方法演进</a:t>
            </a:r>
            <a:endParaRPr lang="en-US" sz="1600" dirty="0"/>
          </a:p>
        </p:txBody>
      </p:sp>
      <p:sp>
        <p:nvSpPr>
          <p:cNvPr id="122" name="Text 120"/>
          <p:cNvSpPr/>
          <p:nvPr/>
        </p:nvSpPr>
        <p:spPr>
          <a:xfrm>
            <a:off x="830263" y="6127752"/>
            <a:ext cx="893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ICA峰值漂移 · EIS阻抗谱 · 数字孪生 · 温度场重建 · 自放电速率监测</a:t>
            </a:r>
            <a:endParaRPr lang="en-US" sz="1600" dirty="0"/>
          </a:p>
        </p:txBody>
      </p:sp>
      <p:sp>
        <p:nvSpPr>
          <p:cNvPr id="123" name="Text 121"/>
          <p:cNvSpPr/>
          <p:nvPr/>
        </p:nvSpPr>
        <p:spPr>
          <a:xfrm>
            <a:off x="9245938" y="5889627"/>
            <a:ext cx="61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D8B7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一代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9255463" y="6156327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统计特征</a:t>
            </a:r>
            <a:endParaRPr lang="en-US" sz="1600" dirty="0"/>
          </a:p>
        </p:txBody>
      </p:sp>
      <p:sp>
        <p:nvSpPr>
          <p:cNvPr id="125" name="Text 123"/>
          <p:cNvSpPr/>
          <p:nvPr/>
        </p:nvSpPr>
        <p:spPr>
          <a:xfrm>
            <a:off x="10217051" y="5889627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C9A86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二代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10226576" y="6156327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电化学特征</a:t>
            </a:r>
            <a:endParaRPr lang="en-US" sz="1600" dirty="0"/>
          </a:p>
        </p:txBody>
      </p:sp>
      <p:sp>
        <p:nvSpPr>
          <p:cNvPr id="127" name="Text 125"/>
          <p:cNvSpPr/>
          <p:nvPr/>
        </p:nvSpPr>
        <p:spPr>
          <a:xfrm>
            <a:off x="11261428" y="5889627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5F6B7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三代</a:t>
            </a:r>
            <a:endParaRPr lang="en-US" sz="1600" dirty="0"/>
          </a:p>
        </p:txBody>
      </p:sp>
      <p:sp>
        <p:nvSpPr>
          <p:cNvPr id="128" name="Text 126"/>
          <p:cNvSpPr/>
          <p:nvPr/>
        </p:nvSpPr>
        <p:spPr>
          <a:xfrm>
            <a:off x="11270953" y="6156327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AI融合</a:t>
            </a:r>
            <a:endParaRPr lang="en-US" sz="1600" dirty="0"/>
          </a:p>
        </p:txBody>
      </p:sp>
      <p:sp>
        <p:nvSpPr>
          <p:cNvPr id="131" name="等腰三角形 130">
            <a:extLst>
              <a:ext uri="{FF2B5EF4-FFF2-40B4-BE49-F238E27FC236}">
                <a16:creationId xmlns:a16="http://schemas.microsoft.com/office/drawing/2014/main" id="{449AD1F2-C2E2-E82F-E759-91BF574464E5}"/>
              </a:ext>
            </a:extLst>
          </p:cNvPr>
          <p:cNvSpPr/>
          <p:nvPr/>
        </p:nvSpPr>
        <p:spPr>
          <a:xfrm rot="5400000">
            <a:off x="9976302" y="6056590"/>
            <a:ext cx="165096" cy="142324"/>
          </a:xfrm>
          <a:prstGeom prst="triangle">
            <a:avLst/>
          </a:prstGeom>
          <a:solidFill>
            <a:srgbClr val="FFFFFF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等腰三角形 131">
            <a:extLst>
              <a:ext uri="{FF2B5EF4-FFF2-40B4-BE49-F238E27FC236}">
                <a16:creationId xmlns:a16="http://schemas.microsoft.com/office/drawing/2014/main" id="{07D6D638-04B2-5F67-6313-B3F338E0F629}"/>
              </a:ext>
            </a:extLst>
          </p:cNvPr>
          <p:cNvSpPr/>
          <p:nvPr/>
        </p:nvSpPr>
        <p:spPr>
          <a:xfrm rot="5400000">
            <a:off x="11025090" y="6056590"/>
            <a:ext cx="165096" cy="142324"/>
          </a:xfrm>
          <a:prstGeom prst="triangle">
            <a:avLst/>
          </a:prstGeom>
          <a:solidFill>
            <a:srgbClr val="FFFFFF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Shape 0">
            <a:extLst>
              <a:ext uri="{FF2B5EF4-FFF2-40B4-BE49-F238E27FC236}">
                <a16:creationId xmlns:a16="http://schemas.microsoft.com/office/drawing/2014/main" id="{11B64774-EB82-D2A3-E2EA-9B9056428719}"/>
              </a:ext>
            </a:extLst>
          </p:cNvPr>
          <p:cNvSpPr/>
          <p:nvPr/>
        </p:nvSpPr>
        <p:spPr>
          <a:xfrm>
            <a:off x="352078" y="354962"/>
            <a:ext cx="2162876" cy="278873"/>
          </a:xfrm>
          <a:custGeom>
            <a:avLst/>
            <a:gdLst/>
            <a:ahLst/>
            <a:cxnLst/>
            <a:rect l="l" t="t" r="r" b="b"/>
            <a:pathLst>
              <a:path w="1586093" h="278873">
                <a:moveTo>
                  <a:pt x="34859" y="0"/>
                </a:moveTo>
                <a:lnTo>
                  <a:pt x="1551234" y="0"/>
                </a:lnTo>
                <a:cubicBezTo>
                  <a:pt x="1570486" y="0"/>
                  <a:pt x="1586093" y="15607"/>
                  <a:pt x="1586093" y="34859"/>
                </a:cubicBezTo>
                <a:lnTo>
                  <a:pt x="1586093" y="244014"/>
                </a:lnTo>
                <a:cubicBezTo>
                  <a:pt x="1586093" y="263266"/>
                  <a:pt x="1570486" y="278873"/>
                  <a:pt x="1551234" y="278873"/>
                </a:cubicBezTo>
                <a:lnTo>
                  <a:pt x="34859" y="278873"/>
                </a:lnTo>
                <a:cubicBezTo>
                  <a:pt x="15607" y="278873"/>
                  <a:pt x="0" y="263266"/>
                  <a:pt x="0" y="24401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3" name="Text 1">
            <a:extLst>
              <a:ext uri="{FF2B5EF4-FFF2-40B4-BE49-F238E27FC236}">
                <a16:creationId xmlns:a16="http://schemas.microsoft.com/office/drawing/2014/main" id="{EFB97F76-9AD0-8DEC-2602-AFF02D86753C}"/>
              </a:ext>
            </a:extLst>
          </p:cNvPr>
          <p:cNvSpPr/>
          <p:nvPr/>
        </p:nvSpPr>
        <p:spPr>
          <a:xfrm>
            <a:off x="453168" y="432256"/>
            <a:ext cx="1732623" cy="12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kern="0" spc="4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ADVANCED INSIGHTS</a:t>
            </a:r>
            <a:endParaRPr lang="en-US" sz="1600" dirty="0"/>
          </a:p>
        </p:txBody>
      </p:sp>
      <p:sp>
        <p:nvSpPr>
          <p:cNvPr id="134" name="Shape 3">
            <a:extLst>
              <a:ext uri="{FF2B5EF4-FFF2-40B4-BE49-F238E27FC236}">
                <a16:creationId xmlns:a16="http://schemas.microsoft.com/office/drawing/2014/main" id="{B52A01AC-CB9C-ED7B-920E-A5DB14F9AED5}"/>
              </a:ext>
            </a:extLst>
          </p:cNvPr>
          <p:cNvSpPr/>
          <p:nvPr/>
        </p:nvSpPr>
        <p:spPr>
          <a:xfrm>
            <a:off x="348592" y="1150353"/>
            <a:ext cx="697184" cy="34859"/>
          </a:xfrm>
          <a:custGeom>
            <a:avLst/>
            <a:gdLst/>
            <a:ahLst/>
            <a:cxnLst/>
            <a:rect l="l" t="t" r="r" b="b"/>
            <a:pathLst>
              <a:path w="697184" h="34859">
                <a:moveTo>
                  <a:pt x="0" y="0"/>
                </a:moveTo>
                <a:lnTo>
                  <a:pt x="697184" y="0"/>
                </a:lnTo>
                <a:lnTo>
                  <a:pt x="697184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5" name="Text 2">
            <a:extLst>
              <a:ext uri="{FF2B5EF4-FFF2-40B4-BE49-F238E27FC236}">
                <a16:creationId xmlns:a16="http://schemas.microsoft.com/office/drawing/2014/main" id="{C3E52888-4C2A-A757-1C30-DFAD1D60C184}"/>
              </a:ext>
            </a:extLst>
          </p:cNvPr>
          <p:cNvSpPr/>
          <p:nvPr/>
        </p:nvSpPr>
        <p:spPr>
          <a:xfrm>
            <a:off x="348592" y="697184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2400" b="1" dirty="0" err="1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微观机理深度解析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https://kimi-img.moonshot.cn/pub/slides/slides_tmpl/image/25-09-04-11:32:05-d2sggde1bb2p4onbok20.jpg">
            <a:extLst>
              <a:ext uri="{FF2B5EF4-FFF2-40B4-BE49-F238E27FC236}">
                <a16:creationId xmlns:a16="http://schemas.microsoft.com/office/drawing/2014/main" id="{13CF0DC4-000A-57B5-9DEB-33C137DEC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56336" y="1275154"/>
            <a:ext cx="6799838" cy="3363107"/>
          </a:xfrm>
          <a:custGeom>
            <a:avLst/>
            <a:gdLst/>
            <a:ahLst/>
            <a:cxnLst/>
            <a:rect l="l" t="t" r="r" b="b"/>
            <a:pathLst>
              <a:path w="6799838" h="3363107">
                <a:moveTo>
                  <a:pt x="106005" y="0"/>
                </a:moveTo>
                <a:lnTo>
                  <a:pt x="6693833" y="0"/>
                </a:lnTo>
                <a:cubicBezTo>
                  <a:pt x="6752378" y="0"/>
                  <a:pt x="6799838" y="47460"/>
                  <a:pt x="6799838" y="106005"/>
                </a:cubicBezTo>
                <a:lnTo>
                  <a:pt x="6799838" y="3257102"/>
                </a:lnTo>
                <a:cubicBezTo>
                  <a:pt x="6799838" y="3315647"/>
                  <a:pt x="6752378" y="3363107"/>
                  <a:pt x="6693833" y="3363107"/>
                </a:cubicBezTo>
                <a:lnTo>
                  <a:pt x="106005" y="3363107"/>
                </a:lnTo>
                <a:cubicBezTo>
                  <a:pt x="47460" y="3363107"/>
                  <a:pt x="0" y="3315647"/>
                  <a:pt x="0" y="3257102"/>
                </a:cubicBezTo>
                <a:lnTo>
                  <a:pt x="0" y="106005"/>
                </a:lnTo>
                <a:cubicBezTo>
                  <a:pt x="0" y="47499"/>
                  <a:pt x="47499" y="0"/>
                  <a:pt x="106005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2725" y="1463632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0" y="24848"/>
                </a:moveTo>
                <a:cubicBezTo>
                  <a:pt x="0" y="16617"/>
                  <a:pt x="6678" y="9939"/>
                  <a:pt x="14909" y="9939"/>
                </a:cubicBezTo>
                <a:lnTo>
                  <a:pt x="44726" y="9939"/>
                </a:lnTo>
                <a:cubicBezTo>
                  <a:pt x="52957" y="9939"/>
                  <a:pt x="59635" y="16617"/>
                  <a:pt x="59635" y="24848"/>
                </a:cubicBezTo>
                <a:lnTo>
                  <a:pt x="59635" y="29817"/>
                </a:lnTo>
                <a:lnTo>
                  <a:pt x="99391" y="29817"/>
                </a:lnTo>
                <a:lnTo>
                  <a:pt x="99391" y="24848"/>
                </a:lnTo>
                <a:cubicBezTo>
                  <a:pt x="99391" y="16617"/>
                  <a:pt x="106069" y="9939"/>
                  <a:pt x="114300" y="9939"/>
                </a:cubicBezTo>
                <a:lnTo>
                  <a:pt x="144117" y="9939"/>
                </a:lnTo>
                <a:cubicBezTo>
                  <a:pt x="152348" y="9939"/>
                  <a:pt x="159026" y="16617"/>
                  <a:pt x="159026" y="24848"/>
                </a:cubicBezTo>
                <a:lnTo>
                  <a:pt x="159026" y="54665"/>
                </a:lnTo>
                <a:cubicBezTo>
                  <a:pt x="159026" y="62896"/>
                  <a:pt x="152348" y="69574"/>
                  <a:pt x="144117" y="69574"/>
                </a:cubicBezTo>
                <a:lnTo>
                  <a:pt x="114300" y="69574"/>
                </a:lnTo>
                <a:cubicBezTo>
                  <a:pt x="106069" y="69574"/>
                  <a:pt x="99391" y="62896"/>
                  <a:pt x="99391" y="54665"/>
                </a:cubicBezTo>
                <a:lnTo>
                  <a:pt x="99391" y="49696"/>
                </a:lnTo>
                <a:lnTo>
                  <a:pt x="59635" y="49696"/>
                </a:lnTo>
                <a:lnTo>
                  <a:pt x="59635" y="54665"/>
                </a:lnTo>
                <a:cubicBezTo>
                  <a:pt x="59635" y="56933"/>
                  <a:pt x="59107" y="59107"/>
                  <a:pt x="58206" y="61032"/>
                </a:cubicBezTo>
                <a:lnTo>
                  <a:pt x="79513" y="89452"/>
                </a:lnTo>
                <a:lnTo>
                  <a:pt x="104361" y="89452"/>
                </a:lnTo>
                <a:cubicBezTo>
                  <a:pt x="112592" y="89452"/>
                  <a:pt x="119270" y="96130"/>
                  <a:pt x="119270" y="104361"/>
                </a:cubicBezTo>
                <a:lnTo>
                  <a:pt x="119270" y="134178"/>
                </a:lnTo>
                <a:cubicBezTo>
                  <a:pt x="119270" y="142409"/>
                  <a:pt x="112592" y="149087"/>
                  <a:pt x="104361" y="149087"/>
                </a:cubicBezTo>
                <a:lnTo>
                  <a:pt x="74543" y="149087"/>
                </a:lnTo>
                <a:cubicBezTo>
                  <a:pt x="66313" y="149087"/>
                  <a:pt x="59635" y="142409"/>
                  <a:pt x="59635" y="134178"/>
                </a:cubicBezTo>
                <a:lnTo>
                  <a:pt x="59635" y="104361"/>
                </a:lnTo>
                <a:cubicBezTo>
                  <a:pt x="59635" y="102094"/>
                  <a:pt x="60163" y="99919"/>
                  <a:pt x="61064" y="97994"/>
                </a:cubicBezTo>
                <a:lnTo>
                  <a:pt x="39757" y="69574"/>
                </a:lnTo>
                <a:lnTo>
                  <a:pt x="14909" y="69574"/>
                </a:lnTo>
                <a:cubicBezTo>
                  <a:pt x="6678" y="69574"/>
                  <a:pt x="0" y="62896"/>
                  <a:pt x="0" y="54665"/>
                </a:cubicBezTo>
                <a:lnTo>
                  <a:pt x="0" y="2484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03838" y="1419458"/>
            <a:ext cx="638754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chemeClr val="tx2">
                    <a:lumMod val="50000"/>
                    <a:lumOff val="50000"/>
                  </a:scheme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特征工程(15个特征)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00638" y="1772849"/>
            <a:ext cx="3198191" cy="1307548"/>
          </a:xfrm>
          <a:custGeom>
            <a:avLst/>
            <a:gdLst/>
            <a:ahLst/>
            <a:cxnLst/>
            <a:rect l="l" t="t" r="r" b="b"/>
            <a:pathLst>
              <a:path w="3198191" h="1307548">
                <a:moveTo>
                  <a:pt x="70673" y="0"/>
                </a:moveTo>
                <a:lnTo>
                  <a:pt x="3127518" y="0"/>
                </a:lnTo>
                <a:cubicBezTo>
                  <a:pt x="3166550" y="0"/>
                  <a:pt x="3198191" y="31641"/>
                  <a:pt x="3198191" y="70673"/>
                </a:cubicBezTo>
                <a:lnTo>
                  <a:pt x="3198191" y="1236875"/>
                </a:lnTo>
                <a:cubicBezTo>
                  <a:pt x="3198191" y="1275906"/>
                  <a:pt x="3166550" y="1307548"/>
                  <a:pt x="3127518" y="1307548"/>
                </a:cubicBezTo>
                <a:lnTo>
                  <a:pt x="70673" y="1307548"/>
                </a:lnTo>
                <a:cubicBezTo>
                  <a:pt x="31641" y="1307548"/>
                  <a:pt x="0" y="1275906"/>
                  <a:pt x="0" y="1236875"/>
                </a:cubicBezTo>
                <a:lnTo>
                  <a:pt x="0" y="70673"/>
                </a:lnTo>
                <a:cubicBezTo>
                  <a:pt x="0" y="31667"/>
                  <a:pt x="31667" y="0"/>
                  <a:pt x="706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06655" y="1878867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35340" y="0"/>
                </a:moveTo>
                <a:lnTo>
                  <a:pt x="176695" y="0"/>
                </a:lnTo>
                <a:cubicBezTo>
                  <a:pt x="196200" y="0"/>
                  <a:pt x="212035" y="15835"/>
                  <a:pt x="212035" y="35340"/>
                </a:cubicBezTo>
                <a:lnTo>
                  <a:pt x="212035" y="176695"/>
                </a:lnTo>
                <a:cubicBezTo>
                  <a:pt x="212035" y="196200"/>
                  <a:pt x="196200" y="212035"/>
                  <a:pt x="176695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80151" y="1878867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368" y="1878867"/>
            <a:ext cx="77746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自放电特征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6655" y="2161580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F1. 自放电速率(%/月)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6655" y="2373614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F2. 自放电加速度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6655" y="2585649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F3. SOC-OCV偏差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8343" y="1772849"/>
            <a:ext cx="3198191" cy="1307548"/>
          </a:xfrm>
          <a:custGeom>
            <a:avLst/>
            <a:gdLst/>
            <a:ahLst/>
            <a:cxnLst/>
            <a:rect l="l" t="t" r="r" b="b"/>
            <a:pathLst>
              <a:path w="3198191" h="1307548">
                <a:moveTo>
                  <a:pt x="70673" y="0"/>
                </a:moveTo>
                <a:lnTo>
                  <a:pt x="3127518" y="0"/>
                </a:lnTo>
                <a:cubicBezTo>
                  <a:pt x="3166550" y="0"/>
                  <a:pt x="3198191" y="31641"/>
                  <a:pt x="3198191" y="70673"/>
                </a:cubicBezTo>
                <a:lnTo>
                  <a:pt x="3198191" y="1236875"/>
                </a:lnTo>
                <a:cubicBezTo>
                  <a:pt x="3198191" y="1275906"/>
                  <a:pt x="3166550" y="1307548"/>
                  <a:pt x="3127518" y="1307548"/>
                </a:cubicBezTo>
                <a:lnTo>
                  <a:pt x="70673" y="1307548"/>
                </a:lnTo>
                <a:cubicBezTo>
                  <a:pt x="31641" y="1307548"/>
                  <a:pt x="0" y="1275906"/>
                  <a:pt x="0" y="1236875"/>
                </a:cubicBezTo>
                <a:lnTo>
                  <a:pt x="0" y="70673"/>
                </a:lnTo>
                <a:cubicBezTo>
                  <a:pt x="0" y="31667"/>
                  <a:pt x="31667" y="0"/>
                  <a:pt x="706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914361" y="1878867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35340" y="0"/>
                </a:moveTo>
                <a:lnTo>
                  <a:pt x="176695" y="0"/>
                </a:lnTo>
                <a:cubicBezTo>
                  <a:pt x="196200" y="0"/>
                  <a:pt x="212035" y="15835"/>
                  <a:pt x="212035" y="35340"/>
                </a:cubicBezTo>
                <a:lnTo>
                  <a:pt x="212035" y="176695"/>
                </a:lnTo>
                <a:cubicBezTo>
                  <a:pt x="212035" y="196200"/>
                  <a:pt x="196200" y="212035"/>
                  <a:pt x="176695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Text 15"/>
          <p:cNvSpPr/>
          <p:nvPr/>
        </p:nvSpPr>
        <p:spPr>
          <a:xfrm>
            <a:off x="3887857" y="1878867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97074" y="1878867"/>
            <a:ext cx="9188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充电异常特征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4361" y="2161580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F4. 充电电压平台偏移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14361" y="2373614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F5. 充电电压突降事件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14361" y="2585649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F6. 充电时间延长比例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14361" y="2797684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F7. 充电末期电压上升速率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638" y="3186414"/>
            <a:ext cx="3198191" cy="1307548"/>
          </a:xfrm>
          <a:custGeom>
            <a:avLst/>
            <a:gdLst/>
            <a:ahLst/>
            <a:cxnLst/>
            <a:rect l="l" t="t" r="r" b="b"/>
            <a:pathLst>
              <a:path w="3198191" h="1307548">
                <a:moveTo>
                  <a:pt x="70673" y="0"/>
                </a:moveTo>
                <a:lnTo>
                  <a:pt x="3127518" y="0"/>
                </a:lnTo>
                <a:cubicBezTo>
                  <a:pt x="3166550" y="0"/>
                  <a:pt x="3198191" y="31641"/>
                  <a:pt x="3198191" y="70673"/>
                </a:cubicBezTo>
                <a:lnTo>
                  <a:pt x="3198191" y="1236875"/>
                </a:lnTo>
                <a:cubicBezTo>
                  <a:pt x="3198191" y="1275906"/>
                  <a:pt x="3166550" y="1307548"/>
                  <a:pt x="3127518" y="1307548"/>
                </a:cubicBezTo>
                <a:lnTo>
                  <a:pt x="70673" y="1307548"/>
                </a:lnTo>
                <a:cubicBezTo>
                  <a:pt x="31641" y="1307548"/>
                  <a:pt x="0" y="1275906"/>
                  <a:pt x="0" y="1236875"/>
                </a:cubicBezTo>
                <a:lnTo>
                  <a:pt x="0" y="70673"/>
                </a:lnTo>
                <a:cubicBezTo>
                  <a:pt x="0" y="31667"/>
                  <a:pt x="31667" y="0"/>
                  <a:pt x="706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6655" y="3292432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35340" y="0"/>
                </a:moveTo>
                <a:lnTo>
                  <a:pt x="176695" y="0"/>
                </a:lnTo>
                <a:cubicBezTo>
                  <a:pt x="196200" y="0"/>
                  <a:pt x="212035" y="15835"/>
                  <a:pt x="212035" y="35340"/>
                </a:cubicBezTo>
                <a:lnTo>
                  <a:pt x="212035" y="176695"/>
                </a:lnTo>
                <a:cubicBezTo>
                  <a:pt x="212035" y="196200"/>
                  <a:pt x="196200" y="212035"/>
                  <a:pt x="176695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80151" y="3292432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9368" y="3292432"/>
            <a:ext cx="9188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温度异常特征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6655" y="3575145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F8. 温度偏高(vs环境)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6655" y="3787180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F9. 温度梯度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6655" y="3999214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F10. 温度突升事件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6655" y="4211249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F11. 温度波动标准差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08343" y="3186414"/>
            <a:ext cx="3198191" cy="1307548"/>
          </a:xfrm>
          <a:custGeom>
            <a:avLst/>
            <a:gdLst/>
            <a:ahLst/>
            <a:cxnLst/>
            <a:rect l="l" t="t" r="r" b="b"/>
            <a:pathLst>
              <a:path w="3198191" h="1307548">
                <a:moveTo>
                  <a:pt x="70673" y="0"/>
                </a:moveTo>
                <a:lnTo>
                  <a:pt x="3127518" y="0"/>
                </a:lnTo>
                <a:cubicBezTo>
                  <a:pt x="3166550" y="0"/>
                  <a:pt x="3198191" y="31641"/>
                  <a:pt x="3198191" y="70673"/>
                </a:cubicBezTo>
                <a:lnTo>
                  <a:pt x="3198191" y="1236875"/>
                </a:lnTo>
                <a:cubicBezTo>
                  <a:pt x="3198191" y="1275906"/>
                  <a:pt x="3166550" y="1307548"/>
                  <a:pt x="3127518" y="1307548"/>
                </a:cubicBezTo>
                <a:lnTo>
                  <a:pt x="70673" y="1307548"/>
                </a:lnTo>
                <a:cubicBezTo>
                  <a:pt x="31641" y="1307548"/>
                  <a:pt x="0" y="1275906"/>
                  <a:pt x="0" y="1236875"/>
                </a:cubicBezTo>
                <a:lnTo>
                  <a:pt x="0" y="70673"/>
                </a:lnTo>
                <a:cubicBezTo>
                  <a:pt x="0" y="31667"/>
                  <a:pt x="31667" y="0"/>
                  <a:pt x="706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914361" y="3292432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35340" y="0"/>
                </a:moveTo>
                <a:lnTo>
                  <a:pt x="176695" y="0"/>
                </a:lnTo>
                <a:cubicBezTo>
                  <a:pt x="196200" y="0"/>
                  <a:pt x="212035" y="15835"/>
                  <a:pt x="212035" y="35340"/>
                </a:cubicBezTo>
                <a:lnTo>
                  <a:pt x="212035" y="176695"/>
                </a:lnTo>
                <a:cubicBezTo>
                  <a:pt x="212035" y="196200"/>
                  <a:pt x="196200" y="212035"/>
                  <a:pt x="176695" y="212035"/>
                </a:cubicBezTo>
                <a:lnTo>
                  <a:pt x="35340" y="212035"/>
                </a:lnTo>
                <a:cubicBezTo>
                  <a:pt x="15835" y="212035"/>
                  <a:pt x="0" y="196200"/>
                  <a:pt x="0" y="176695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3D8B7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887857" y="3292432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197074" y="3292432"/>
            <a:ext cx="101600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内阻+SOC特征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14361" y="3575145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F12. 直流内阻DCIR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914361" y="3787180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F13. 内阻增长率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14361" y="3999214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F14. SOC跳变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4361" y="4211249"/>
            <a:ext cx="30480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F15. 容量衰减率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6336" y="4750171"/>
            <a:ext cx="6799838" cy="1880852"/>
          </a:xfrm>
          <a:custGeom>
            <a:avLst/>
            <a:gdLst/>
            <a:ahLst/>
            <a:cxnLst/>
            <a:rect l="l" t="t" r="r" b="b"/>
            <a:pathLst>
              <a:path w="6799838" h="2099733">
                <a:moveTo>
                  <a:pt x="106016" y="0"/>
                </a:moveTo>
                <a:lnTo>
                  <a:pt x="6693822" y="0"/>
                </a:lnTo>
                <a:cubicBezTo>
                  <a:pt x="6752373" y="0"/>
                  <a:pt x="6799838" y="47465"/>
                  <a:pt x="6799838" y="106016"/>
                </a:cubicBezTo>
                <a:lnTo>
                  <a:pt x="6799838" y="1993718"/>
                </a:lnTo>
                <a:cubicBezTo>
                  <a:pt x="6799838" y="2052269"/>
                  <a:pt x="6752373" y="2099733"/>
                  <a:pt x="6693822" y="2099733"/>
                </a:cubicBezTo>
                <a:lnTo>
                  <a:pt x="106016" y="2099733"/>
                </a:lnTo>
                <a:cubicBezTo>
                  <a:pt x="47465" y="2099733"/>
                  <a:pt x="0" y="2052269"/>
                  <a:pt x="0" y="1993718"/>
                </a:cubicBezTo>
                <a:lnTo>
                  <a:pt x="0" y="106016"/>
                </a:lnTo>
                <a:cubicBezTo>
                  <a:pt x="0" y="47504"/>
                  <a:pt x="47504" y="0"/>
                  <a:pt x="106016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12786" y="4938643"/>
            <a:ext cx="178904" cy="159026"/>
          </a:xfrm>
          <a:custGeom>
            <a:avLst/>
            <a:gdLst/>
            <a:ahLst/>
            <a:cxnLst/>
            <a:rect l="l" t="t" r="r" b="b"/>
            <a:pathLst>
              <a:path w="178904" h="159026">
                <a:moveTo>
                  <a:pt x="52677" y="47646"/>
                </a:moveTo>
                <a:lnTo>
                  <a:pt x="46869" y="41838"/>
                </a:lnTo>
                <a:cubicBezTo>
                  <a:pt x="42987" y="37955"/>
                  <a:pt x="42987" y="31650"/>
                  <a:pt x="46869" y="27767"/>
                </a:cubicBezTo>
                <a:lnTo>
                  <a:pt x="82495" y="-7889"/>
                </a:lnTo>
                <a:cubicBezTo>
                  <a:pt x="86377" y="-11772"/>
                  <a:pt x="92682" y="-11772"/>
                  <a:pt x="96565" y="-7889"/>
                </a:cubicBezTo>
                <a:lnTo>
                  <a:pt x="102373" y="-2050"/>
                </a:lnTo>
                <a:cubicBezTo>
                  <a:pt x="106256" y="1833"/>
                  <a:pt x="106256" y="8138"/>
                  <a:pt x="102373" y="12020"/>
                </a:cubicBezTo>
                <a:lnTo>
                  <a:pt x="66747" y="47646"/>
                </a:lnTo>
                <a:cubicBezTo>
                  <a:pt x="62865" y="51528"/>
                  <a:pt x="56560" y="51528"/>
                  <a:pt x="52677" y="47646"/>
                </a:cubicBezTo>
                <a:close/>
                <a:moveTo>
                  <a:pt x="85725" y="65754"/>
                </a:moveTo>
                <a:lnTo>
                  <a:pt x="75972" y="56001"/>
                </a:lnTo>
                <a:lnTo>
                  <a:pt x="110759" y="21214"/>
                </a:lnTo>
                <a:lnTo>
                  <a:pt x="147845" y="58299"/>
                </a:lnTo>
                <a:lnTo>
                  <a:pt x="113058" y="93086"/>
                </a:lnTo>
                <a:lnTo>
                  <a:pt x="103305" y="83333"/>
                </a:lnTo>
                <a:lnTo>
                  <a:pt x="31246" y="155392"/>
                </a:lnTo>
                <a:cubicBezTo>
                  <a:pt x="26401" y="160237"/>
                  <a:pt x="18543" y="160237"/>
                  <a:pt x="13666" y="155392"/>
                </a:cubicBezTo>
                <a:cubicBezTo>
                  <a:pt x="8790" y="150547"/>
                  <a:pt x="8821" y="142689"/>
                  <a:pt x="13666" y="137812"/>
                </a:cubicBezTo>
                <a:lnTo>
                  <a:pt x="85725" y="65754"/>
                </a:lnTo>
                <a:close/>
                <a:moveTo>
                  <a:pt x="121413" y="116350"/>
                </a:moveTo>
                <a:cubicBezTo>
                  <a:pt x="117530" y="112467"/>
                  <a:pt x="117530" y="106162"/>
                  <a:pt x="121413" y="102280"/>
                </a:cubicBezTo>
                <a:lnTo>
                  <a:pt x="157038" y="66654"/>
                </a:lnTo>
                <a:cubicBezTo>
                  <a:pt x="160921" y="62772"/>
                  <a:pt x="167226" y="62772"/>
                  <a:pt x="171108" y="66654"/>
                </a:cubicBezTo>
                <a:lnTo>
                  <a:pt x="176917" y="72462"/>
                </a:lnTo>
                <a:cubicBezTo>
                  <a:pt x="180799" y="76345"/>
                  <a:pt x="180799" y="82650"/>
                  <a:pt x="176917" y="86533"/>
                </a:cubicBezTo>
                <a:lnTo>
                  <a:pt x="141291" y="122189"/>
                </a:lnTo>
                <a:cubicBezTo>
                  <a:pt x="137408" y="126072"/>
                  <a:pt x="131103" y="126072"/>
                  <a:pt x="127221" y="122189"/>
                </a:cubicBezTo>
                <a:lnTo>
                  <a:pt x="121413" y="116381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03838" y="4894470"/>
            <a:ext cx="638754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C9A86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规则引擎(6条核心规则)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0638" y="5225476"/>
            <a:ext cx="2120348" cy="357370"/>
          </a:xfrm>
          <a:custGeom>
            <a:avLst/>
            <a:gdLst/>
            <a:ahLst/>
            <a:cxnLst/>
            <a:rect l="l" t="t" r="r" b="b"/>
            <a:pathLst>
              <a:path w="2120348" h="494748">
                <a:moveTo>
                  <a:pt x="70680" y="0"/>
                </a:moveTo>
                <a:lnTo>
                  <a:pt x="2049668" y="0"/>
                </a:lnTo>
                <a:cubicBezTo>
                  <a:pt x="2088703" y="0"/>
                  <a:pt x="2120348" y="31644"/>
                  <a:pt x="2120348" y="70680"/>
                </a:cubicBezTo>
                <a:lnTo>
                  <a:pt x="2120348" y="424068"/>
                </a:lnTo>
                <a:cubicBezTo>
                  <a:pt x="2120348" y="463077"/>
                  <a:pt x="2088677" y="494748"/>
                  <a:pt x="2049668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71316" y="5315813"/>
            <a:ext cx="159026" cy="176696"/>
          </a:xfrm>
          <a:custGeom>
            <a:avLst/>
            <a:gdLst/>
            <a:ahLst/>
            <a:cxnLst/>
            <a:rect l="l" t="t" r="r" b="b"/>
            <a:pathLst>
              <a:path w="159026" h="176696">
                <a:moveTo>
                  <a:pt x="35339" y="0"/>
                </a:moveTo>
                <a:lnTo>
                  <a:pt x="123687" y="0"/>
                </a:lnTo>
                <a:cubicBezTo>
                  <a:pt x="143204" y="0"/>
                  <a:pt x="159026" y="15822"/>
                  <a:pt x="159026" y="35339"/>
                </a:cubicBezTo>
                <a:lnTo>
                  <a:pt x="159026" y="141357"/>
                </a:lnTo>
                <a:cubicBezTo>
                  <a:pt x="159026" y="160874"/>
                  <a:pt x="143204" y="176696"/>
                  <a:pt x="123687" y="176696"/>
                </a:cubicBezTo>
                <a:lnTo>
                  <a:pt x="35339" y="176696"/>
                </a:lnTo>
                <a:cubicBezTo>
                  <a:pt x="15822" y="176696"/>
                  <a:pt x="0" y="160874"/>
                  <a:pt x="0" y="141357"/>
                </a:cubicBezTo>
                <a:lnTo>
                  <a:pt x="0" y="35339"/>
                </a:lnTo>
                <a:cubicBezTo>
                  <a:pt x="0" y="15822"/>
                  <a:pt x="15822" y="0"/>
                  <a:pt x="35339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44812" y="5315813"/>
            <a:ext cx="212035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97615" y="5227465"/>
            <a:ext cx="1781497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自放电率 &gt; 5%/月 THEN +30分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693965" y="5225476"/>
            <a:ext cx="2120348" cy="357370"/>
          </a:xfrm>
          <a:custGeom>
            <a:avLst/>
            <a:gdLst/>
            <a:ahLst/>
            <a:cxnLst/>
            <a:rect l="l" t="t" r="r" b="b"/>
            <a:pathLst>
              <a:path w="2120348" h="494748">
                <a:moveTo>
                  <a:pt x="70680" y="0"/>
                </a:moveTo>
                <a:lnTo>
                  <a:pt x="2049668" y="0"/>
                </a:lnTo>
                <a:cubicBezTo>
                  <a:pt x="2088703" y="0"/>
                  <a:pt x="2120348" y="31644"/>
                  <a:pt x="2120348" y="70680"/>
                </a:cubicBezTo>
                <a:lnTo>
                  <a:pt x="2120348" y="424068"/>
                </a:lnTo>
                <a:cubicBezTo>
                  <a:pt x="2120348" y="463077"/>
                  <a:pt x="2088677" y="494748"/>
                  <a:pt x="2049668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2764643" y="5315813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35339" y="0"/>
                </a:moveTo>
                <a:lnTo>
                  <a:pt x="141357" y="0"/>
                </a:lnTo>
                <a:cubicBezTo>
                  <a:pt x="160861" y="0"/>
                  <a:pt x="176696" y="15835"/>
                  <a:pt x="176696" y="35339"/>
                </a:cubicBezTo>
                <a:lnTo>
                  <a:pt x="176696" y="141357"/>
                </a:lnTo>
                <a:cubicBezTo>
                  <a:pt x="176696" y="160861"/>
                  <a:pt x="160861" y="176696"/>
                  <a:pt x="141357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2738138" y="5315813"/>
            <a:ext cx="2297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012017" y="5315813"/>
            <a:ext cx="168744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充电电压突降 THEN +40分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87384" y="5225476"/>
            <a:ext cx="2120348" cy="357370"/>
          </a:xfrm>
          <a:custGeom>
            <a:avLst/>
            <a:gdLst/>
            <a:ahLst/>
            <a:cxnLst/>
            <a:rect l="l" t="t" r="r" b="b"/>
            <a:pathLst>
              <a:path w="2120348" h="494748">
                <a:moveTo>
                  <a:pt x="70680" y="0"/>
                </a:moveTo>
                <a:lnTo>
                  <a:pt x="2049668" y="0"/>
                </a:lnTo>
                <a:cubicBezTo>
                  <a:pt x="2088703" y="0"/>
                  <a:pt x="2120348" y="31644"/>
                  <a:pt x="2120348" y="70680"/>
                </a:cubicBezTo>
                <a:lnTo>
                  <a:pt x="2120348" y="424068"/>
                </a:lnTo>
                <a:cubicBezTo>
                  <a:pt x="2120348" y="463077"/>
                  <a:pt x="2088677" y="494748"/>
                  <a:pt x="2049668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4958062" y="5315813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35339" y="0"/>
                </a:moveTo>
                <a:lnTo>
                  <a:pt x="141357" y="0"/>
                </a:lnTo>
                <a:cubicBezTo>
                  <a:pt x="160861" y="0"/>
                  <a:pt x="176696" y="15835"/>
                  <a:pt x="176696" y="35339"/>
                </a:cubicBezTo>
                <a:lnTo>
                  <a:pt x="176696" y="141357"/>
                </a:lnTo>
                <a:cubicBezTo>
                  <a:pt x="176696" y="160861"/>
                  <a:pt x="160861" y="176696"/>
                  <a:pt x="141357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4931557" y="5315813"/>
            <a:ext cx="2297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05436" y="5315813"/>
            <a:ext cx="177579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温度突升&gt;10°C THEN +50分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00638" y="5649545"/>
            <a:ext cx="2120348" cy="357370"/>
          </a:xfrm>
          <a:custGeom>
            <a:avLst/>
            <a:gdLst/>
            <a:ahLst/>
            <a:cxnLst/>
            <a:rect l="l" t="t" r="r" b="b"/>
            <a:pathLst>
              <a:path w="2120348" h="494748">
                <a:moveTo>
                  <a:pt x="70680" y="0"/>
                </a:moveTo>
                <a:lnTo>
                  <a:pt x="2049668" y="0"/>
                </a:lnTo>
                <a:cubicBezTo>
                  <a:pt x="2088703" y="0"/>
                  <a:pt x="2120348" y="31644"/>
                  <a:pt x="2120348" y="70680"/>
                </a:cubicBezTo>
                <a:lnTo>
                  <a:pt x="2120348" y="424068"/>
                </a:lnTo>
                <a:cubicBezTo>
                  <a:pt x="2120348" y="463077"/>
                  <a:pt x="2088677" y="494748"/>
                  <a:pt x="2049668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71316" y="5739882"/>
            <a:ext cx="167861" cy="176696"/>
          </a:xfrm>
          <a:custGeom>
            <a:avLst/>
            <a:gdLst/>
            <a:ahLst/>
            <a:cxnLst/>
            <a:rect l="l" t="t" r="r" b="b"/>
            <a:pathLst>
              <a:path w="167861" h="176696">
                <a:moveTo>
                  <a:pt x="35340" y="0"/>
                </a:moveTo>
                <a:lnTo>
                  <a:pt x="132521" y="0"/>
                </a:lnTo>
                <a:cubicBezTo>
                  <a:pt x="152026" y="0"/>
                  <a:pt x="167861" y="15835"/>
                  <a:pt x="167861" y="35340"/>
                </a:cubicBezTo>
                <a:lnTo>
                  <a:pt x="167861" y="141356"/>
                </a:lnTo>
                <a:cubicBezTo>
                  <a:pt x="167861" y="160874"/>
                  <a:pt x="152039" y="176696"/>
                  <a:pt x="132521" y="176696"/>
                </a:cubicBezTo>
                <a:lnTo>
                  <a:pt x="35340" y="176696"/>
                </a:lnTo>
                <a:cubicBezTo>
                  <a:pt x="15835" y="176696"/>
                  <a:pt x="0" y="160860"/>
                  <a:pt x="0" y="141356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44812" y="5739882"/>
            <a:ext cx="2208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0775" y="5651534"/>
            <a:ext cx="1802296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内阻增长率&gt;50% THEN +20分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693965" y="5649545"/>
            <a:ext cx="2120348" cy="357370"/>
          </a:xfrm>
          <a:custGeom>
            <a:avLst/>
            <a:gdLst/>
            <a:ahLst/>
            <a:cxnLst/>
            <a:rect l="l" t="t" r="r" b="b"/>
            <a:pathLst>
              <a:path w="2120348" h="494748">
                <a:moveTo>
                  <a:pt x="70680" y="0"/>
                </a:moveTo>
                <a:lnTo>
                  <a:pt x="2049668" y="0"/>
                </a:lnTo>
                <a:cubicBezTo>
                  <a:pt x="2088703" y="0"/>
                  <a:pt x="2120348" y="31644"/>
                  <a:pt x="2120348" y="70680"/>
                </a:cubicBezTo>
                <a:lnTo>
                  <a:pt x="2120348" y="424068"/>
                </a:lnTo>
                <a:cubicBezTo>
                  <a:pt x="2120348" y="463077"/>
                  <a:pt x="2088677" y="494748"/>
                  <a:pt x="2049668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2764643" y="5739882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35339" y="0"/>
                </a:moveTo>
                <a:lnTo>
                  <a:pt x="141357" y="0"/>
                </a:lnTo>
                <a:cubicBezTo>
                  <a:pt x="160861" y="0"/>
                  <a:pt x="176696" y="15835"/>
                  <a:pt x="176696" y="35339"/>
                </a:cubicBezTo>
                <a:lnTo>
                  <a:pt x="176696" y="141357"/>
                </a:lnTo>
                <a:cubicBezTo>
                  <a:pt x="176696" y="160861"/>
                  <a:pt x="160861" y="176696"/>
                  <a:pt x="141357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2738138" y="5739882"/>
            <a:ext cx="2297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012017" y="5739882"/>
            <a:ext cx="174045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容量衰减&lt;80% THEN +15分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887384" y="5649545"/>
            <a:ext cx="2120348" cy="357370"/>
          </a:xfrm>
          <a:custGeom>
            <a:avLst/>
            <a:gdLst/>
            <a:ahLst/>
            <a:cxnLst/>
            <a:rect l="l" t="t" r="r" b="b"/>
            <a:pathLst>
              <a:path w="2120348" h="494748">
                <a:moveTo>
                  <a:pt x="70680" y="0"/>
                </a:moveTo>
                <a:lnTo>
                  <a:pt x="2049668" y="0"/>
                </a:lnTo>
                <a:cubicBezTo>
                  <a:pt x="2088703" y="0"/>
                  <a:pt x="2120348" y="31644"/>
                  <a:pt x="2120348" y="70680"/>
                </a:cubicBezTo>
                <a:lnTo>
                  <a:pt x="2120348" y="424068"/>
                </a:lnTo>
                <a:cubicBezTo>
                  <a:pt x="2120348" y="463077"/>
                  <a:pt x="2088677" y="494748"/>
                  <a:pt x="2049668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4958062" y="5739882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35339" y="0"/>
                </a:moveTo>
                <a:lnTo>
                  <a:pt x="141357" y="0"/>
                </a:lnTo>
                <a:cubicBezTo>
                  <a:pt x="160861" y="0"/>
                  <a:pt x="176696" y="15835"/>
                  <a:pt x="176696" y="35339"/>
                </a:cubicBezTo>
                <a:lnTo>
                  <a:pt x="176696" y="141357"/>
                </a:lnTo>
                <a:cubicBezTo>
                  <a:pt x="176696" y="160861"/>
                  <a:pt x="160861" y="176696"/>
                  <a:pt x="141357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4931557" y="5739882"/>
            <a:ext cx="2297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205436" y="5739882"/>
            <a:ext cx="14400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SOC跳变 THEN +25分</a:t>
            </a:r>
            <a:endParaRPr lang="en-US" sz="1600" dirty="0"/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683D1357-E5F4-9E10-80CA-191EFDA59DBC}"/>
              </a:ext>
            </a:extLst>
          </p:cNvPr>
          <p:cNvGrpSpPr/>
          <p:nvPr/>
        </p:nvGrpSpPr>
        <p:grpSpPr>
          <a:xfrm>
            <a:off x="503583" y="6137230"/>
            <a:ext cx="6499455" cy="323942"/>
            <a:chOff x="503583" y="6381658"/>
            <a:chExt cx="6499455" cy="323942"/>
          </a:xfrm>
        </p:grpSpPr>
        <p:sp>
          <p:nvSpPr>
            <p:cNvPr id="66" name="Shape 64"/>
            <p:cNvSpPr/>
            <p:nvPr/>
          </p:nvSpPr>
          <p:spPr>
            <a:xfrm>
              <a:off x="503583" y="6381658"/>
              <a:ext cx="6499455" cy="323942"/>
            </a:xfrm>
            <a:custGeom>
              <a:avLst/>
              <a:gdLst/>
              <a:ahLst/>
              <a:cxnLst/>
              <a:rect l="l" t="t" r="r" b="b"/>
              <a:pathLst>
                <a:path w="6499455" h="323942">
                  <a:moveTo>
                    <a:pt x="70678" y="0"/>
                  </a:moveTo>
                  <a:lnTo>
                    <a:pt x="6428777" y="0"/>
                  </a:lnTo>
                  <a:cubicBezTo>
                    <a:pt x="6467812" y="0"/>
                    <a:pt x="6499455" y="31643"/>
                    <a:pt x="6499455" y="70678"/>
                  </a:cubicBezTo>
                  <a:lnTo>
                    <a:pt x="6499455" y="253264"/>
                  </a:lnTo>
                  <a:cubicBezTo>
                    <a:pt x="6499455" y="292299"/>
                    <a:pt x="6467812" y="323942"/>
                    <a:pt x="6428777" y="323942"/>
                  </a:cubicBezTo>
                  <a:lnTo>
                    <a:pt x="70678" y="323942"/>
                  </a:lnTo>
                  <a:cubicBezTo>
                    <a:pt x="31643" y="323942"/>
                    <a:pt x="0" y="292299"/>
                    <a:pt x="0" y="253264"/>
                  </a:cubicBezTo>
                  <a:lnTo>
                    <a:pt x="0" y="70678"/>
                  </a:lnTo>
                  <a:cubicBezTo>
                    <a:pt x="0" y="31643"/>
                    <a:pt x="31643" y="0"/>
                    <a:pt x="70678" y="0"/>
                  </a:cubicBezTo>
                  <a:close/>
                </a:path>
              </a:pathLst>
            </a:custGeom>
            <a:solidFill>
              <a:srgbClr val="C9A86A">
                <a:alpha val="10196"/>
              </a:srgbClr>
            </a:solidFill>
            <a:ln w="8467">
              <a:solidFill>
                <a:srgbClr val="C9A86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2626784" y="6478842"/>
              <a:ext cx="92765" cy="123687"/>
            </a:xfrm>
            <a:custGeom>
              <a:avLst/>
              <a:gdLst/>
              <a:ahLst/>
              <a:cxnLst/>
              <a:rect l="l" t="t" r="r" b="b"/>
              <a:pathLst>
                <a:path w="92765" h="123687">
                  <a:moveTo>
                    <a:pt x="15461" y="0"/>
                  </a:moveTo>
                  <a:cubicBezTo>
                    <a:pt x="6933" y="0"/>
                    <a:pt x="0" y="6933"/>
                    <a:pt x="0" y="15461"/>
                  </a:cubicBezTo>
                  <a:lnTo>
                    <a:pt x="0" y="108226"/>
                  </a:lnTo>
                  <a:cubicBezTo>
                    <a:pt x="0" y="116754"/>
                    <a:pt x="6933" y="123687"/>
                    <a:pt x="15461" y="123687"/>
                  </a:cubicBezTo>
                  <a:lnTo>
                    <a:pt x="77304" y="123687"/>
                  </a:lnTo>
                  <a:cubicBezTo>
                    <a:pt x="85832" y="123687"/>
                    <a:pt x="92765" y="116754"/>
                    <a:pt x="92765" y="108226"/>
                  </a:cubicBezTo>
                  <a:lnTo>
                    <a:pt x="92765" y="15461"/>
                  </a:lnTo>
                  <a:cubicBezTo>
                    <a:pt x="92765" y="6933"/>
                    <a:pt x="85832" y="0"/>
                    <a:pt x="77304" y="0"/>
                  </a:cubicBezTo>
                  <a:lnTo>
                    <a:pt x="15461" y="0"/>
                  </a:lnTo>
                  <a:close/>
                  <a:moveTo>
                    <a:pt x="23191" y="15461"/>
                  </a:moveTo>
                  <a:lnTo>
                    <a:pt x="69574" y="15461"/>
                  </a:lnTo>
                  <a:cubicBezTo>
                    <a:pt x="73850" y="15461"/>
                    <a:pt x="77304" y="18915"/>
                    <a:pt x="77304" y="23191"/>
                  </a:cubicBezTo>
                  <a:lnTo>
                    <a:pt x="77304" y="30922"/>
                  </a:lnTo>
                  <a:cubicBezTo>
                    <a:pt x="77304" y="35198"/>
                    <a:pt x="73850" y="38652"/>
                    <a:pt x="69574" y="38652"/>
                  </a:cubicBezTo>
                  <a:lnTo>
                    <a:pt x="23191" y="38652"/>
                  </a:lnTo>
                  <a:cubicBezTo>
                    <a:pt x="18915" y="38652"/>
                    <a:pt x="15461" y="35198"/>
                    <a:pt x="15461" y="30922"/>
                  </a:cubicBezTo>
                  <a:lnTo>
                    <a:pt x="15461" y="23191"/>
                  </a:lnTo>
                  <a:cubicBezTo>
                    <a:pt x="15461" y="18915"/>
                    <a:pt x="18915" y="15461"/>
                    <a:pt x="23191" y="15461"/>
                  </a:cubicBezTo>
                  <a:close/>
                  <a:moveTo>
                    <a:pt x="27057" y="56046"/>
                  </a:moveTo>
                  <a:cubicBezTo>
                    <a:pt x="27057" y="59246"/>
                    <a:pt x="24459" y="61843"/>
                    <a:pt x="21259" y="61843"/>
                  </a:cubicBezTo>
                  <a:cubicBezTo>
                    <a:pt x="18059" y="61843"/>
                    <a:pt x="15461" y="59246"/>
                    <a:pt x="15461" y="56046"/>
                  </a:cubicBezTo>
                  <a:cubicBezTo>
                    <a:pt x="15461" y="52846"/>
                    <a:pt x="18059" y="50248"/>
                    <a:pt x="21259" y="50248"/>
                  </a:cubicBezTo>
                  <a:cubicBezTo>
                    <a:pt x="24459" y="50248"/>
                    <a:pt x="27057" y="52846"/>
                    <a:pt x="27057" y="56046"/>
                  </a:cubicBezTo>
                  <a:close/>
                  <a:moveTo>
                    <a:pt x="46383" y="61843"/>
                  </a:moveTo>
                  <a:cubicBezTo>
                    <a:pt x="43183" y="61843"/>
                    <a:pt x="40585" y="59246"/>
                    <a:pt x="40585" y="56046"/>
                  </a:cubicBezTo>
                  <a:cubicBezTo>
                    <a:pt x="40585" y="52846"/>
                    <a:pt x="43183" y="50248"/>
                    <a:pt x="46383" y="50248"/>
                  </a:cubicBezTo>
                  <a:cubicBezTo>
                    <a:pt x="49583" y="50248"/>
                    <a:pt x="52180" y="52846"/>
                    <a:pt x="52180" y="56046"/>
                  </a:cubicBezTo>
                  <a:cubicBezTo>
                    <a:pt x="52180" y="59246"/>
                    <a:pt x="49583" y="61843"/>
                    <a:pt x="46383" y="61843"/>
                  </a:cubicBezTo>
                  <a:close/>
                  <a:moveTo>
                    <a:pt x="77304" y="56046"/>
                  </a:moveTo>
                  <a:cubicBezTo>
                    <a:pt x="77304" y="59246"/>
                    <a:pt x="74706" y="61843"/>
                    <a:pt x="71507" y="61843"/>
                  </a:cubicBezTo>
                  <a:cubicBezTo>
                    <a:pt x="68307" y="61843"/>
                    <a:pt x="65709" y="59246"/>
                    <a:pt x="65709" y="56046"/>
                  </a:cubicBezTo>
                  <a:cubicBezTo>
                    <a:pt x="65709" y="52846"/>
                    <a:pt x="68307" y="50248"/>
                    <a:pt x="71507" y="50248"/>
                  </a:cubicBezTo>
                  <a:cubicBezTo>
                    <a:pt x="74706" y="50248"/>
                    <a:pt x="77304" y="52846"/>
                    <a:pt x="77304" y="56046"/>
                  </a:cubicBezTo>
                  <a:close/>
                  <a:moveTo>
                    <a:pt x="21259" y="85035"/>
                  </a:moveTo>
                  <a:cubicBezTo>
                    <a:pt x="18059" y="85035"/>
                    <a:pt x="15461" y="82437"/>
                    <a:pt x="15461" y="79237"/>
                  </a:cubicBezTo>
                  <a:cubicBezTo>
                    <a:pt x="15461" y="76037"/>
                    <a:pt x="18059" y="73439"/>
                    <a:pt x="21259" y="73439"/>
                  </a:cubicBezTo>
                  <a:cubicBezTo>
                    <a:pt x="24459" y="73439"/>
                    <a:pt x="27057" y="76037"/>
                    <a:pt x="27057" y="79237"/>
                  </a:cubicBezTo>
                  <a:cubicBezTo>
                    <a:pt x="27057" y="82437"/>
                    <a:pt x="24459" y="85035"/>
                    <a:pt x="21259" y="85035"/>
                  </a:cubicBezTo>
                  <a:close/>
                  <a:moveTo>
                    <a:pt x="52180" y="79237"/>
                  </a:moveTo>
                  <a:cubicBezTo>
                    <a:pt x="52180" y="82437"/>
                    <a:pt x="49583" y="85035"/>
                    <a:pt x="46383" y="85035"/>
                  </a:cubicBezTo>
                  <a:cubicBezTo>
                    <a:pt x="43183" y="85035"/>
                    <a:pt x="40585" y="82437"/>
                    <a:pt x="40585" y="79237"/>
                  </a:cubicBezTo>
                  <a:cubicBezTo>
                    <a:pt x="40585" y="76037"/>
                    <a:pt x="43183" y="73439"/>
                    <a:pt x="46383" y="73439"/>
                  </a:cubicBezTo>
                  <a:cubicBezTo>
                    <a:pt x="49583" y="73439"/>
                    <a:pt x="52180" y="76037"/>
                    <a:pt x="52180" y="79237"/>
                  </a:cubicBezTo>
                  <a:close/>
                  <a:moveTo>
                    <a:pt x="71507" y="85035"/>
                  </a:moveTo>
                  <a:cubicBezTo>
                    <a:pt x="68307" y="85035"/>
                    <a:pt x="65709" y="82437"/>
                    <a:pt x="65709" y="79237"/>
                  </a:cubicBezTo>
                  <a:cubicBezTo>
                    <a:pt x="65709" y="76037"/>
                    <a:pt x="68307" y="73439"/>
                    <a:pt x="71507" y="73439"/>
                  </a:cubicBezTo>
                  <a:cubicBezTo>
                    <a:pt x="74706" y="73439"/>
                    <a:pt x="77304" y="76037"/>
                    <a:pt x="77304" y="79237"/>
                  </a:cubicBezTo>
                  <a:cubicBezTo>
                    <a:pt x="77304" y="82437"/>
                    <a:pt x="74706" y="85035"/>
                    <a:pt x="71507" y="85035"/>
                  </a:cubicBezTo>
                  <a:close/>
                  <a:moveTo>
                    <a:pt x="15461" y="102428"/>
                  </a:moveTo>
                  <a:cubicBezTo>
                    <a:pt x="15461" y="99215"/>
                    <a:pt x="18046" y="96630"/>
                    <a:pt x="21259" y="96630"/>
                  </a:cubicBezTo>
                  <a:lnTo>
                    <a:pt x="48315" y="96630"/>
                  </a:lnTo>
                  <a:cubicBezTo>
                    <a:pt x="51528" y="96630"/>
                    <a:pt x="54113" y="99215"/>
                    <a:pt x="54113" y="102428"/>
                  </a:cubicBezTo>
                  <a:cubicBezTo>
                    <a:pt x="54113" y="105641"/>
                    <a:pt x="51528" y="108226"/>
                    <a:pt x="48315" y="108226"/>
                  </a:cubicBezTo>
                  <a:lnTo>
                    <a:pt x="21259" y="108226"/>
                  </a:lnTo>
                  <a:cubicBezTo>
                    <a:pt x="18046" y="108226"/>
                    <a:pt x="15461" y="105641"/>
                    <a:pt x="15461" y="102428"/>
                  </a:cubicBezTo>
                  <a:close/>
                  <a:moveTo>
                    <a:pt x="71507" y="96630"/>
                  </a:moveTo>
                  <a:cubicBezTo>
                    <a:pt x="74719" y="96630"/>
                    <a:pt x="77304" y="99215"/>
                    <a:pt x="77304" y="102428"/>
                  </a:cubicBezTo>
                  <a:cubicBezTo>
                    <a:pt x="77304" y="105641"/>
                    <a:pt x="74719" y="108226"/>
                    <a:pt x="71507" y="108226"/>
                  </a:cubicBezTo>
                  <a:cubicBezTo>
                    <a:pt x="68294" y="108226"/>
                    <a:pt x="65709" y="105641"/>
                    <a:pt x="65709" y="102428"/>
                  </a:cubicBezTo>
                  <a:cubicBezTo>
                    <a:pt x="65709" y="99215"/>
                    <a:pt x="68294" y="96630"/>
                    <a:pt x="71507" y="96630"/>
                  </a:cubicBezTo>
                  <a:close/>
                </a:path>
              </a:pathLst>
            </a:custGeom>
            <a:solidFill>
              <a:srgbClr val="C9A86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66"/>
            <p:cNvSpPr/>
            <p:nvPr/>
          </p:nvSpPr>
          <p:spPr>
            <a:xfrm>
              <a:off x="2823817" y="6461172"/>
              <a:ext cx="2124121" cy="1649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74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最终评分 = min(各规则得分之和, 100)</a:t>
              </a:r>
              <a:endParaRPr lang="en-US" sz="1600" dirty="0"/>
            </a:p>
          </p:txBody>
        </p:sp>
      </p:grpSp>
      <p:sp>
        <p:nvSpPr>
          <p:cNvPr id="69" name="Shape 67"/>
          <p:cNvSpPr/>
          <p:nvPr/>
        </p:nvSpPr>
        <p:spPr>
          <a:xfrm>
            <a:off x="7301672" y="1275154"/>
            <a:ext cx="4529299" cy="4043385"/>
          </a:xfrm>
          <a:custGeom>
            <a:avLst/>
            <a:gdLst/>
            <a:ahLst/>
            <a:cxnLst/>
            <a:rect l="l" t="t" r="r" b="b"/>
            <a:pathLst>
              <a:path w="4529299" h="4476290">
                <a:moveTo>
                  <a:pt x="105999" y="0"/>
                </a:moveTo>
                <a:lnTo>
                  <a:pt x="4423300" y="0"/>
                </a:lnTo>
                <a:cubicBezTo>
                  <a:pt x="4481841" y="0"/>
                  <a:pt x="4529299" y="47457"/>
                  <a:pt x="4529299" y="105999"/>
                </a:cubicBezTo>
                <a:lnTo>
                  <a:pt x="4529299" y="4370291"/>
                </a:lnTo>
                <a:cubicBezTo>
                  <a:pt x="4529299" y="4428833"/>
                  <a:pt x="4481841" y="4476290"/>
                  <a:pt x="4423300" y="4476290"/>
                </a:cubicBezTo>
                <a:lnTo>
                  <a:pt x="105999" y="4476290"/>
                </a:lnTo>
                <a:cubicBezTo>
                  <a:pt x="47457" y="4476290"/>
                  <a:pt x="0" y="4428833"/>
                  <a:pt x="0" y="4370291"/>
                </a:cubicBezTo>
                <a:lnTo>
                  <a:pt x="0" y="105999"/>
                </a:lnTo>
                <a:cubicBezTo>
                  <a:pt x="0" y="47496"/>
                  <a:pt x="47496" y="0"/>
                  <a:pt x="105999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7478000" y="1463632"/>
            <a:ext cx="139148" cy="159026"/>
          </a:xfrm>
          <a:custGeom>
            <a:avLst/>
            <a:gdLst/>
            <a:ahLst/>
            <a:cxnLst/>
            <a:rect l="l" t="t" r="r" b="b"/>
            <a:pathLst>
              <a:path w="139148" h="159026">
                <a:moveTo>
                  <a:pt x="69574" y="0"/>
                </a:moveTo>
                <a:cubicBezTo>
                  <a:pt x="64076" y="0"/>
                  <a:pt x="59635" y="4442"/>
                  <a:pt x="59635" y="9939"/>
                </a:cubicBezTo>
                <a:lnTo>
                  <a:pt x="59635" y="10933"/>
                </a:lnTo>
                <a:cubicBezTo>
                  <a:pt x="36961" y="15530"/>
                  <a:pt x="19878" y="35595"/>
                  <a:pt x="19878" y="59635"/>
                </a:cubicBezTo>
                <a:lnTo>
                  <a:pt x="19878" y="66375"/>
                </a:lnTo>
                <a:cubicBezTo>
                  <a:pt x="19878" y="81315"/>
                  <a:pt x="14784" y="95819"/>
                  <a:pt x="5467" y="107498"/>
                </a:cubicBezTo>
                <a:lnTo>
                  <a:pt x="2423" y="111287"/>
                </a:lnTo>
                <a:cubicBezTo>
                  <a:pt x="839" y="113244"/>
                  <a:pt x="0" y="115667"/>
                  <a:pt x="0" y="118182"/>
                </a:cubicBezTo>
                <a:cubicBezTo>
                  <a:pt x="0" y="124270"/>
                  <a:pt x="4939" y="129209"/>
                  <a:pt x="11026" y="129209"/>
                </a:cubicBezTo>
                <a:lnTo>
                  <a:pt x="128091" y="129209"/>
                </a:lnTo>
                <a:cubicBezTo>
                  <a:pt x="134178" y="129209"/>
                  <a:pt x="139117" y="124270"/>
                  <a:pt x="139117" y="118182"/>
                </a:cubicBezTo>
                <a:cubicBezTo>
                  <a:pt x="139117" y="115667"/>
                  <a:pt x="138278" y="113244"/>
                  <a:pt x="136694" y="111287"/>
                </a:cubicBezTo>
                <a:lnTo>
                  <a:pt x="133650" y="107498"/>
                </a:lnTo>
                <a:cubicBezTo>
                  <a:pt x="124363" y="95819"/>
                  <a:pt x="119270" y="81315"/>
                  <a:pt x="119270" y="66375"/>
                </a:cubicBezTo>
                <a:lnTo>
                  <a:pt x="119270" y="59635"/>
                </a:lnTo>
                <a:cubicBezTo>
                  <a:pt x="119270" y="35595"/>
                  <a:pt x="102187" y="15530"/>
                  <a:pt x="79513" y="10933"/>
                </a:cubicBezTo>
                <a:lnTo>
                  <a:pt x="79513" y="9939"/>
                </a:lnTo>
                <a:cubicBezTo>
                  <a:pt x="79513" y="4442"/>
                  <a:pt x="75071" y="0"/>
                  <a:pt x="69574" y="0"/>
                </a:cubicBezTo>
                <a:close/>
                <a:moveTo>
                  <a:pt x="50317" y="144117"/>
                </a:moveTo>
                <a:cubicBezTo>
                  <a:pt x="52522" y="152690"/>
                  <a:pt x="60318" y="159026"/>
                  <a:pt x="69574" y="159026"/>
                </a:cubicBezTo>
                <a:cubicBezTo>
                  <a:pt x="78830" y="159026"/>
                  <a:pt x="86626" y="152690"/>
                  <a:pt x="88831" y="144117"/>
                </a:cubicBezTo>
                <a:lnTo>
                  <a:pt x="50317" y="14411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7649174" y="1419458"/>
            <a:ext cx="411700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chemeClr val="tx2">
                    <a:lumMod val="50000"/>
                    <a:lumOff val="50000"/>
                  </a:scheme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分级预警机制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2" name="Shape 70"/>
          <p:cNvSpPr/>
          <p:nvPr/>
        </p:nvSpPr>
        <p:spPr>
          <a:xfrm>
            <a:off x="7463643" y="1772849"/>
            <a:ext cx="4223026" cy="530087"/>
          </a:xfrm>
          <a:custGeom>
            <a:avLst/>
            <a:gdLst/>
            <a:ahLst/>
            <a:cxnLst/>
            <a:rect l="l" t="t" r="r" b="b"/>
            <a:pathLst>
              <a:path w="4223026" h="530087">
                <a:moveTo>
                  <a:pt x="35339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459410"/>
                </a:lnTo>
                <a:cubicBezTo>
                  <a:pt x="4223026" y="498444"/>
                  <a:pt x="4191383" y="530087"/>
                  <a:pt x="4152350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7463643" y="1772849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3D8B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7551991" y="1843528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3D8B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7611626" y="1896536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90032" y="14515"/>
                </a:moveTo>
                <a:cubicBezTo>
                  <a:pt x="92993" y="16669"/>
                  <a:pt x="93656" y="20810"/>
                  <a:pt x="91502" y="23771"/>
                </a:cubicBezTo>
                <a:lnTo>
                  <a:pt x="38493" y="96658"/>
                </a:lnTo>
                <a:cubicBezTo>
                  <a:pt x="37355" y="98232"/>
                  <a:pt x="35595" y="99205"/>
                  <a:pt x="33648" y="99371"/>
                </a:cubicBezTo>
                <a:cubicBezTo>
                  <a:pt x="31702" y="99536"/>
                  <a:pt x="29817" y="98812"/>
                  <a:pt x="28451" y="97445"/>
                </a:cubicBezTo>
                <a:lnTo>
                  <a:pt x="1946" y="70941"/>
                </a:lnTo>
                <a:cubicBezTo>
                  <a:pt x="-642" y="68352"/>
                  <a:pt x="-642" y="64149"/>
                  <a:pt x="1946" y="61560"/>
                </a:cubicBezTo>
                <a:cubicBezTo>
                  <a:pt x="4535" y="58972"/>
                  <a:pt x="8738" y="58972"/>
                  <a:pt x="11326" y="61560"/>
                </a:cubicBezTo>
                <a:lnTo>
                  <a:pt x="32344" y="82578"/>
                </a:lnTo>
                <a:lnTo>
                  <a:pt x="80797" y="15965"/>
                </a:lnTo>
                <a:cubicBezTo>
                  <a:pt x="82950" y="13004"/>
                  <a:pt x="87092" y="12341"/>
                  <a:pt x="90053" y="1449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7834704" y="1861197"/>
            <a:ext cx="60960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L0 [0-20]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998293" y="1861197"/>
            <a:ext cx="618435" cy="176696"/>
          </a:xfrm>
          <a:custGeom>
            <a:avLst/>
            <a:gdLst/>
            <a:ahLst/>
            <a:cxnLst/>
            <a:rect l="l" t="t" r="r" b="b"/>
            <a:pathLst>
              <a:path w="618435" h="176696">
                <a:moveTo>
                  <a:pt x="35339" y="0"/>
                </a:moveTo>
                <a:lnTo>
                  <a:pt x="583096" y="0"/>
                </a:lnTo>
                <a:cubicBezTo>
                  <a:pt x="602613" y="0"/>
                  <a:pt x="618435" y="15822"/>
                  <a:pt x="618435" y="35339"/>
                </a:cubicBezTo>
                <a:lnTo>
                  <a:pt x="618435" y="141357"/>
                </a:lnTo>
                <a:cubicBezTo>
                  <a:pt x="618435" y="160874"/>
                  <a:pt x="602613" y="176696"/>
                  <a:pt x="583096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0998293" y="1861197"/>
            <a:ext cx="671443" cy="176696"/>
          </a:xfrm>
          <a:prstGeom prst="rect">
            <a:avLst/>
          </a:prstGeom>
          <a:noFill/>
          <a:ln/>
        </p:spPr>
        <p:txBody>
          <a:bodyPr wrap="square" lIns="70678" tIns="17670" rIns="70678" bIns="1767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绿灯·正常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551991" y="2090901"/>
            <a:ext cx="411700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行动:无限制 | 监控:1Hz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463643" y="2355945"/>
            <a:ext cx="4223026" cy="530087"/>
          </a:xfrm>
          <a:custGeom>
            <a:avLst/>
            <a:gdLst/>
            <a:ahLst/>
            <a:cxnLst/>
            <a:rect l="l" t="t" r="r" b="b"/>
            <a:pathLst>
              <a:path w="4223026" h="530087">
                <a:moveTo>
                  <a:pt x="35339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459410"/>
                </a:lnTo>
                <a:cubicBezTo>
                  <a:pt x="4223026" y="498444"/>
                  <a:pt x="4191383" y="530087"/>
                  <a:pt x="4152350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7463643" y="2355945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7551991" y="2426623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7598374" y="2479632"/>
            <a:ext cx="119270" cy="106017"/>
          </a:xfrm>
          <a:custGeom>
            <a:avLst/>
            <a:gdLst/>
            <a:ahLst/>
            <a:cxnLst/>
            <a:rect l="l" t="t" r="r" b="b"/>
            <a:pathLst>
              <a:path w="119270" h="106017">
                <a:moveTo>
                  <a:pt x="59635" y="6626"/>
                </a:moveTo>
                <a:cubicBezTo>
                  <a:pt x="42904" y="6626"/>
                  <a:pt x="29507" y="14246"/>
                  <a:pt x="19754" y="23316"/>
                </a:cubicBezTo>
                <a:cubicBezTo>
                  <a:pt x="10063" y="32323"/>
                  <a:pt x="3582" y="43070"/>
                  <a:pt x="497" y="50462"/>
                </a:cubicBezTo>
                <a:cubicBezTo>
                  <a:pt x="-186" y="52098"/>
                  <a:pt x="-186" y="53920"/>
                  <a:pt x="497" y="55556"/>
                </a:cubicBezTo>
                <a:cubicBezTo>
                  <a:pt x="3582" y="62948"/>
                  <a:pt x="10063" y="73715"/>
                  <a:pt x="19754" y="82702"/>
                </a:cubicBezTo>
                <a:cubicBezTo>
                  <a:pt x="29507" y="91751"/>
                  <a:pt x="42904" y="99391"/>
                  <a:pt x="59635" y="99391"/>
                </a:cubicBezTo>
                <a:cubicBezTo>
                  <a:pt x="76366" y="99391"/>
                  <a:pt x="89763" y="91771"/>
                  <a:pt x="99516" y="82702"/>
                </a:cubicBezTo>
                <a:cubicBezTo>
                  <a:pt x="109206" y="73695"/>
                  <a:pt x="115687" y="62948"/>
                  <a:pt x="118773" y="55556"/>
                </a:cubicBezTo>
                <a:cubicBezTo>
                  <a:pt x="119456" y="53920"/>
                  <a:pt x="119456" y="52098"/>
                  <a:pt x="118773" y="50462"/>
                </a:cubicBezTo>
                <a:cubicBezTo>
                  <a:pt x="115687" y="43070"/>
                  <a:pt x="109206" y="32302"/>
                  <a:pt x="99516" y="23316"/>
                </a:cubicBezTo>
                <a:cubicBezTo>
                  <a:pt x="89763" y="14267"/>
                  <a:pt x="76366" y="6626"/>
                  <a:pt x="59635" y="6626"/>
                </a:cubicBezTo>
                <a:close/>
                <a:moveTo>
                  <a:pt x="29817" y="53009"/>
                </a:moveTo>
                <a:cubicBezTo>
                  <a:pt x="29817" y="36552"/>
                  <a:pt x="43178" y="23191"/>
                  <a:pt x="59635" y="23191"/>
                </a:cubicBezTo>
                <a:cubicBezTo>
                  <a:pt x="76091" y="23191"/>
                  <a:pt x="89452" y="36552"/>
                  <a:pt x="89452" y="53009"/>
                </a:cubicBezTo>
                <a:cubicBezTo>
                  <a:pt x="89452" y="69465"/>
                  <a:pt x="76091" y="82826"/>
                  <a:pt x="59635" y="82826"/>
                </a:cubicBezTo>
                <a:cubicBezTo>
                  <a:pt x="43178" y="82826"/>
                  <a:pt x="29817" y="69465"/>
                  <a:pt x="29817" y="53009"/>
                </a:cubicBezTo>
                <a:close/>
                <a:moveTo>
                  <a:pt x="59635" y="39757"/>
                </a:moveTo>
                <a:cubicBezTo>
                  <a:pt x="59635" y="47066"/>
                  <a:pt x="53692" y="53009"/>
                  <a:pt x="46383" y="53009"/>
                </a:cubicBezTo>
                <a:cubicBezTo>
                  <a:pt x="44001" y="53009"/>
                  <a:pt x="41765" y="52388"/>
                  <a:pt x="39819" y="51269"/>
                </a:cubicBezTo>
                <a:cubicBezTo>
                  <a:pt x="39612" y="53526"/>
                  <a:pt x="39798" y="55845"/>
                  <a:pt x="40419" y="58144"/>
                </a:cubicBezTo>
                <a:cubicBezTo>
                  <a:pt x="43256" y="68746"/>
                  <a:pt x="54168" y="75040"/>
                  <a:pt x="64770" y="72204"/>
                </a:cubicBezTo>
                <a:cubicBezTo>
                  <a:pt x="75372" y="69367"/>
                  <a:pt x="81667" y="58455"/>
                  <a:pt x="78830" y="47853"/>
                </a:cubicBezTo>
                <a:cubicBezTo>
                  <a:pt x="76304" y="38390"/>
                  <a:pt x="67338" y="32364"/>
                  <a:pt x="57895" y="33193"/>
                </a:cubicBezTo>
                <a:cubicBezTo>
                  <a:pt x="58993" y="35118"/>
                  <a:pt x="59635" y="37355"/>
                  <a:pt x="59635" y="3975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7834704" y="2444293"/>
            <a:ext cx="65377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 [20-40]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0998293" y="2444293"/>
            <a:ext cx="618435" cy="176696"/>
          </a:xfrm>
          <a:custGeom>
            <a:avLst/>
            <a:gdLst/>
            <a:ahLst/>
            <a:cxnLst/>
            <a:rect l="l" t="t" r="r" b="b"/>
            <a:pathLst>
              <a:path w="618435" h="176696">
                <a:moveTo>
                  <a:pt x="35339" y="0"/>
                </a:moveTo>
                <a:lnTo>
                  <a:pt x="583096" y="0"/>
                </a:lnTo>
                <a:cubicBezTo>
                  <a:pt x="602613" y="0"/>
                  <a:pt x="618435" y="15822"/>
                  <a:pt x="618435" y="35339"/>
                </a:cubicBezTo>
                <a:lnTo>
                  <a:pt x="618435" y="141357"/>
                </a:lnTo>
                <a:cubicBezTo>
                  <a:pt x="618435" y="160874"/>
                  <a:pt x="602613" y="176696"/>
                  <a:pt x="583096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10998293" y="2444293"/>
            <a:ext cx="671443" cy="176696"/>
          </a:xfrm>
          <a:prstGeom prst="rect">
            <a:avLst/>
          </a:prstGeom>
          <a:noFill/>
          <a:ln/>
        </p:spPr>
        <p:txBody>
          <a:bodyPr wrap="square" lIns="70678" tIns="17670" rIns="70678" bIns="1767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黄灯·关注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7551991" y="2673997"/>
            <a:ext cx="411700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行动:监控10Hz | 后台记录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463643" y="2939041"/>
            <a:ext cx="4223026" cy="530087"/>
          </a:xfrm>
          <a:custGeom>
            <a:avLst/>
            <a:gdLst/>
            <a:ahLst/>
            <a:cxnLst/>
            <a:rect l="l" t="t" r="r" b="b"/>
            <a:pathLst>
              <a:path w="4223026" h="530087">
                <a:moveTo>
                  <a:pt x="35339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459410"/>
                </a:lnTo>
                <a:cubicBezTo>
                  <a:pt x="4223026" y="498444"/>
                  <a:pt x="4191383" y="530087"/>
                  <a:pt x="4152350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7463643" y="2939041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7551991" y="3009719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7644756" y="3062728"/>
            <a:ext cx="26504" cy="106017"/>
          </a:xfrm>
          <a:custGeom>
            <a:avLst/>
            <a:gdLst/>
            <a:ahLst/>
            <a:cxnLst/>
            <a:rect l="l" t="t" r="r" b="b"/>
            <a:pathLst>
              <a:path w="26504" h="106017">
                <a:moveTo>
                  <a:pt x="19878" y="6626"/>
                </a:moveTo>
                <a:cubicBezTo>
                  <a:pt x="19878" y="2961"/>
                  <a:pt x="16917" y="0"/>
                  <a:pt x="13252" y="0"/>
                </a:cubicBezTo>
                <a:cubicBezTo>
                  <a:pt x="9587" y="0"/>
                  <a:pt x="6626" y="2961"/>
                  <a:pt x="6626" y="6626"/>
                </a:cubicBezTo>
                <a:lnTo>
                  <a:pt x="6626" y="72887"/>
                </a:lnTo>
                <a:cubicBezTo>
                  <a:pt x="6626" y="76552"/>
                  <a:pt x="9587" y="79513"/>
                  <a:pt x="13252" y="79513"/>
                </a:cubicBezTo>
                <a:cubicBezTo>
                  <a:pt x="16917" y="79513"/>
                  <a:pt x="19878" y="76552"/>
                  <a:pt x="19878" y="72887"/>
                </a:cubicBezTo>
                <a:lnTo>
                  <a:pt x="19878" y="6626"/>
                </a:lnTo>
                <a:close/>
                <a:moveTo>
                  <a:pt x="13252" y="106017"/>
                </a:moveTo>
                <a:cubicBezTo>
                  <a:pt x="17828" y="106017"/>
                  <a:pt x="21535" y="102311"/>
                  <a:pt x="21535" y="97735"/>
                </a:cubicBezTo>
                <a:cubicBezTo>
                  <a:pt x="21535" y="93159"/>
                  <a:pt x="17828" y="89452"/>
                  <a:pt x="13252" y="89452"/>
                </a:cubicBezTo>
                <a:cubicBezTo>
                  <a:pt x="8676" y="89452"/>
                  <a:pt x="4970" y="93159"/>
                  <a:pt x="4970" y="97735"/>
                </a:cubicBezTo>
                <a:cubicBezTo>
                  <a:pt x="4970" y="102311"/>
                  <a:pt x="8676" y="106017"/>
                  <a:pt x="13252" y="10601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2" name="Text 90"/>
          <p:cNvSpPr/>
          <p:nvPr/>
        </p:nvSpPr>
        <p:spPr>
          <a:xfrm>
            <a:off x="7834704" y="3027388"/>
            <a:ext cx="680278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 [40-60]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10998293" y="3027388"/>
            <a:ext cx="618435" cy="176696"/>
          </a:xfrm>
          <a:custGeom>
            <a:avLst/>
            <a:gdLst/>
            <a:ahLst/>
            <a:cxnLst/>
            <a:rect l="l" t="t" r="r" b="b"/>
            <a:pathLst>
              <a:path w="618435" h="176696">
                <a:moveTo>
                  <a:pt x="35339" y="0"/>
                </a:moveTo>
                <a:lnTo>
                  <a:pt x="583096" y="0"/>
                </a:lnTo>
                <a:cubicBezTo>
                  <a:pt x="602613" y="0"/>
                  <a:pt x="618435" y="15822"/>
                  <a:pt x="618435" y="35339"/>
                </a:cubicBezTo>
                <a:lnTo>
                  <a:pt x="618435" y="141357"/>
                </a:lnTo>
                <a:cubicBezTo>
                  <a:pt x="618435" y="160874"/>
                  <a:pt x="602613" y="176696"/>
                  <a:pt x="583096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4" name="Text 92"/>
          <p:cNvSpPr/>
          <p:nvPr/>
        </p:nvSpPr>
        <p:spPr>
          <a:xfrm>
            <a:off x="10998293" y="3027388"/>
            <a:ext cx="671443" cy="176696"/>
          </a:xfrm>
          <a:prstGeom prst="rect">
            <a:avLst/>
          </a:prstGeom>
          <a:noFill/>
          <a:ln/>
        </p:spPr>
        <p:txBody>
          <a:bodyPr wrap="square" lIns="70678" tIns="17670" rIns="70678" bIns="1767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橙灯·预警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7551991" y="3257093"/>
            <a:ext cx="411700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行动:限流0.5C/4.15V | APP通知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7463643" y="3522136"/>
            <a:ext cx="4223026" cy="530087"/>
          </a:xfrm>
          <a:custGeom>
            <a:avLst/>
            <a:gdLst/>
            <a:ahLst/>
            <a:cxnLst/>
            <a:rect l="l" t="t" r="r" b="b"/>
            <a:pathLst>
              <a:path w="4223026" h="530087">
                <a:moveTo>
                  <a:pt x="35339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459410"/>
                </a:lnTo>
                <a:cubicBezTo>
                  <a:pt x="4223026" y="498444"/>
                  <a:pt x="4191383" y="530087"/>
                  <a:pt x="4152350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95"/>
          <p:cNvSpPr/>
          <p:nvPr/>
        </p:nvSpPr>
        <p:spPr>
          <a:xfrm>
            <a:off x="7463643" y="3522136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96"/>
          <p:cNvSpPr/>
          <p:nvPr/>
        </p:nvSpPr>
        <p:spPr>
          <a:xfrm>
            <a:off x="7551991" y="3592814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9" name="Shape 97"/>
          <p:cNvSpPr/>
          <p:nvPr/>
        </p:nvSpPr>
        <p:spPr>
          <a:xfrm>
            <a:off x="7605000" y="3645823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76034" y="85414"/>
                </a:moveTo>
                <a:lnTo>
                  <a:pt x="20603" y="29983"/>
                </a:lnTo>
                <a:cubicBezTo>
                  <a:pt x="15965" y="36485"/>
                  <a:pt x="13252" y="44436"/>
                  <a:pt x="13252" y="53009"/>
                </a:cubicBezTo>
                <a:cubicBezTo>
                  <a:pt x="13252" y="74958"/>
                  <a:pt x="31060" y="92765"/>
                  <a:pt x="53009" y="92765"/>
                </a:cubicBezTo>
                <a:cubicBezTo>
                  <a:pt x="61602" y="92765"/>
                  <a:pt x="69553" y="90053"/>
                  <a:pt x="76034" y="85414"/>
                </a:cubicBezTo>
                <a:close/>
                <a:moveTo>
                  <a:pt x="85414" y="76034"/>
                </a:moveTo>
                <a:cubicBezTo>
                  <a:pt x="90053" y="69533"/>
                  <a:pt x="92765" y="61581"/>
                  <a:pt x="92765" y="53009"/>
                </a:cubicBezTo>
                <a:cubicBezTo>
                  <a:pt x="92765" y="31060"/>
                  <a:pt x="74958" y="13252"/>
                  <a:pt x="53009" y="13252"/>
                </a:cubicBezTo>
                <a:cubicBezTo>
                  <a:pt x="44415" y="13252"/>
                  <a:pt x="36464" y="15965"/>
                  <a:pt x="29983" y="20603"/>
                </a:cubicBezTo>
                <a:lnTo>
                  <a:pt x="85414" y="76034"/>
                </a:lnTo>
                <a:close/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98"/>
          <p:cNvSpPr/>
          <p:nvPr/>
        </p:nvSpPr>
        <p:spPr>
          <a:xfrm>
            <a:off x="7834704" y="3610484"/>
            <a:ext cx="68911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L3 [60-80]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10998293" y="3610484"/>
            <a:ext cx="618435" cy="176696"/>
          </a:xfrm>
          <a:custGeom>
            <a:avLst/>
            <a:gdLst/>
            <a:ahLst/>
            <a:cxnLst/>
            <a:rect l="l" t="t" r="r" b="b"/>
            <a:pathLst>
              <a:path w="618435" h="176696">
                <a:moveTo>
                  <a:pt x="35339" y="0"/>
                </a:moveTo>
                <a:lnTo>
                  <a:pt x="583096" y="0"/>
                </a:lnTo>
                <a:cubicBezTo>
                  <a:pt x="602613" y="0"/>
                  <a:pt x="618435" y="15822"/>
                  <a:pt x="618435" y="35339"/>
                </a:cubicBezTo>
                <a:lnTo>
                  <a:pt x="618435" y="141357"/>
                </a:lnTo>
                <a:cubicBezTo>
                  <a:pt x="618435" y="160874"/>
                  <a:pt x="602613" y="176696"/>
                  <a:pt x="583096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2" name="Text 100"/>
          <p:cNvSpPr/>
          <p:nvPr/>
        </p:nvSpPr>
        <p:spPr>
          <a:xfrm>
            <a:off x="10998293" y="3610484"/>
            <a:ext cx="671443" cy="176696"/>
          </a:xfrm>
          <a:prstGeom prst="rect">
            <a:avLst/>
          </a:prstGeom>
          <a:noFill/>
          <a:ln/>
        </p:spPr>
        <p:txBody>
          <a:bodyPr wrap="square" lIns="70678" tIns="17670" rIns="70678" bIns="1767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红灯·告警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7551991" y="3840188"/>
            <a:ext cx="411700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行动:禁止充电 | 弹窗+短信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7463643" y="4105232"/>
            <a:ext cx="4223026" cy="530087"/>
          </a:xfrm>
          <a:custGeom>
            <a:avLst/>
            <a:gdLst/>
            <a:ahLst/>
            <a:cxnLst/>
            <a:rect l="l" t="t" r="r" b="b"/>
            <a:pathLst>
              <a:path w="4223026" h="530087">
                <a:moveTo>
                  <a:pt x="35339" y="0"/>
                </a:moveTo>
                <a:lnTo>
                  <a:pt x="4152350" y="0"/>
                </a:lnTo>
                <a:cubicBezTo>
                  <a:pt x="4191383" y="0"/>
                  <a:pt x="4223026" y="31643"/>
                  <a:pt x="4223026" y="70676"/>
                </a:cubicBezTo>
                <a:lnTo>
                  <a:pt x="4223026" y="459410"/>
                </a:lnTo>
                <a:cubicBezTo>
                  <a:pt x="4223026" y="498444"/>
                  <a:pt x="4191383" y="530087"/>
                  <a:pt x="4152350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5" name="Shape 103"/>
          <p:cNvSpPr/>
          <p:nvPr/>
        </p:nvSpPr>
        <p:spPr>
          <a:xfrm>
            <a:off x="7463643" y="4105232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6" name="Shape 104"/>
          <p:cNvSpPr/>
          <p:nvPr/>
        </p:nvSpPr>
        <p:spPr>
          <a:xfrm>
            <a:off x="7551991" y="4175910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7" name="Shape 105"/>
          <p:cNvSpPr/>
          <p:nvPr/>
        </p:nvSpPr>
        <p:spPr>
          <a:xfrm>
            <a:off x="7598374" y="4228919"/>
            <a:ext cx="119270" cy="106017"/>
          </a:xfrm>
          <a:custGeom>
            <a:avLst/>
            <a:gdLst/>
            <a:ahLst/>
            <a:cxnLst/>
            <a:rect l="l" t="t" r="r" b="b"/>
            <a:pathLst>
              <a:path w="119270" h="106017">
                <a:moveTo>
                  <a:pt x="92392" y="7144"/>
                </a:moveTo>
                <a:cubicBezTo>
                  <a:pt x="89452" y="5052"/>
                  <a:pt x="85456" y="6191"/>
                  <a:pt x="83654" y="9318"/>
                </a:cubicBezTo>
                <a:lnTo>
                  <a:pt x="68663" y="35263"/>
                </a:lnTo>
                <a:cubicBezTo>
                  <a:pt x="75144" y="38535"/>
                  <a:pt x="79596" y="45264"/>
                  <a:pt x="79596" y="53009"/>
                </a:cubicBezTo>
                <a:lnTo>
                  <a:pt x="109413" y="53009"/>
                </a:lnTo>
                <a:cubicBezTo>
                  <a:pt x="113078" y="53009"/>
                  <a:pt x="116081" y="50027"/>
                  <a:pt x="115646" y="46403"/>
                </a:cubicBezTo>
                <a:cubicBezTo>
                  <a:pt x="113762" y="30232"/>
                  <a:pt x="105003" y="16151"/>
                  <a:pt x="92393" y="7144"/>
                </a:cubicBezTo>
                <a:close/>
                <a:moveTo>
                  <a:pt x="35760" y="9297"/>
                </a:moveTo>
                <a:cubicBezTo>
                  <a:pt x="33959" y="6171"/>
                  <a:pt x="29962" y="5032"/>
                  <a:pt x="27022" y="7144"/>
                </a:cubicBezTo>
                <a:cubicBezTo>
                  <a:pt x="14412" y="16130"/>
                  <a:pt x="5653" y="30211"/>
                  <a:pt x="3769" y="46403"/>
                </a:cubicBezTo>
                <a:cubicBezTo>
                  <a:pt x="3334" y="50027"/>
                  <a:pt x="6357" y="53009"/>
                  <a:pt x="10001" y="53009"/>
                </a:cubicBezTo>
                <a:lnTo>
                  <a:pt x="39819" y="53009"/>
                </a:lnTo>
                <a:cubicBezTo>
                  <a:pt x="39819" y="45244"/>
                  <a:pt x="44271" y="38535"/>
                  <a:pt x="50752" y="35263"/>
                </a:cubicBezTo>
                <a:lnTo>
                  <a:pt x="35760" y="9297"/>
                </a:lnTo>
                <a:close/>
                <a:moveTo>
                  <a:pt x="33814" y="95602"/>
                </a:moveTo>
                <a:cubicBezTo>
                  <a:pt x="32012" y="98729"/>
                  <a:pt x="33027" y="102746"/>
                  <a:pt x="36299" y="104257"/>
                </a:cubicBezTo>
                <a:cubicBezTo>
                  <a:pt x="43422" y="107508"/>
                  <a:pt x="51352" y="109330"/>
                  <a:pt x="59697" y="109330"/>
                </a:cubicBezTo>
                <a:cubicBezTo>
                  <a:pt x="68042" y="109330"/>
                  <a:pt x="75972" y="107508"/>
                  <a:pt x="83095" y="104257"/>
                </a:cubicBezTo>
                <a:cubicBezTo>
                  <a:pt x="86367" y="102766"/>
                  <a:pt x="87382" y="98729"/>
                  <a:pt x="85580" y="95602"/>
                </a:cubicBezTo>
                <a:lnTo>
                  <a:pt x="70609" y="69636"/>
                </a:lnTo>
                <a:cubicBezTo>
                  <a:pt x="67483" y="71686"/>
                  <a:pt x="63735" y="72887"/>
                  <a:pt x="59718" y="72887"/>
                </a:cubicBezTo>
                <a:cubicBezTo>
                  <a:pt x="55701" y="72887"/>
                  <a:pt x="51953" y="71686"/>
                  <a:pt x="48826" y="69636"/>
                </a:cubicBezTo>
                <a:lnTo>
                  <a:pt x="33814" y="95602"/>
                </a:lnTo>
                <a:close/>
                <a:moveTo>
                  <a:pt x="59697" y="62948"/>
                </a:moveTo>
                <a:cubicBezTo>
                  <a:pt x="63248" y="62922"/>
                  <a:pt x="66515" y="61004"/>
                  <a:pt x="68268" y="57915"/>
                </a:cubicBezTo>
                <a:cubicBezTo>
                  <a:pt x="70021" y="54827"/>
                  <a:pt x="69994" y="51039"/>
                  <a:pt x="68196" y="47976"/>
                </a:cubicBezTo>
                <a:cubicBezTo>
                  <a:pt x="66398" y="44914"/>
                  <a:pt x="63103" y="43044"/>
                  <a:pt x="59552" y="43070"/>
                </a:cubicBezTo>
                <a:cubicBezTo>
                  <a:pt x="54066" y="43110"/>
                  <a:pt x="49645" y="47596"/>
                  <a:pt x="49685" y="53081"/>
                </a:cubicBezTo>
                <a:cubicBezTo>
                  <a:pt x="49725" y="58567"/>
                  <a:pt x="54211" y="62988"/>
                  <a:pt x="59697" y="6294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8" name="Text 106"/>
          <p:cNvSpPr/>
          <p:nvPr/>
        </p:nvSpPr>
        <p:spPr>
          <a:xfrm>
            <a:off x="7834704" y="4193580"/>
            <a:ext cx="7421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L4 [80-100]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10998293" y="4193580"/>
            <a:ext cx="618435" cy="176696"/>
          </a:xfrm>
          <a:custGeom>
            <a:avLst/>
            <a:gdLst/>
            <a:ahLst/>
            <a:cxnLst/>
            <a:rect l="l" t="t" r="r" b="b"/>
            <a:pathLst>
              <a:path w="618435" h="176696">
                <a:moveTo>
                  <a:pt x="35339" y="0"/>
                </a:moveTo>
                <a:lnTo>
                  <a:pt x="583096" y="0"/>
                </a:lnTo>
                <a:cubicBezTo>
                  <a:pt x="602613" y="0"/>
                  <a:pt x="618435" y="15822"/>
                  <a:pt x="618435" y="35339"/>
                </a:cubicBezTo>
                <a:lnTo>
                  <a:pt x="618435" y="141357"/>
                </a:lnTo>
                <a:cubicBezTo>
                  <a:pt x="618435" y="160874"/>
                  <a:pt x="602613" y="176696"/>
                  <a:pt x="583096" y="176696"/>
                </a:cubicBezTo>
                <a:lnTo>
                  <a:pt x="35339" y="176696"/>
                </a:lnTo>
                <a:cubicBezTo>
                  <a:pt x="15835" y="176696"/>
                  <a:pt x="0" y="160861"/>
                  <a:pt x="0" y="14135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0" name="Text 108"/>
          <p:cNvSpPr/>
          <p:nvPr/>
        </p:nvSpPr>
        <p:spPr>
          <a:xfrm>
            <a:off x="10998293" y="4193580"/>
            <a:ext cx="671443" cy="176696"/>
          </a:xfrm>
          <a:prstGeom prst="rect">
            <a:avLst/>
          </a:prstGeom>
          <a:noFill/>
          <a:ln/>
        </p:spPr>
        <p:txBody>
          <a:bodyPr wrap="square" lIns="70678" tIns="17670" rIns="70678" bIns="1767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闪红·紧急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7551991" y="4423284"/>
            <a:ext cx="411700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行动:断开继电器 | 紧急电话</a:t>
            </a:r>
            <a:endParaRPr lang="en-US" sz="1600" dirty="0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C60B7403-26F6-C820-2B91-F00B7B2A22B6}"/>
              </a:ext>
            </a:extLst>
          </p:cNvPr>
          <p:cNvGrpSpPr/>
          <p:nvPr/>
        </p:nvGrpSpPr>
        <p:grpSpPr>
          <a:xfrm>
            <a:off x="7301672" y="5458941"/>
            <a:ext cx="4529299" cy="1172081"/>
            <a:chOff x="7301672" y="5860591"/>
            <a:chExt cx="4529299" cy="1172081"/>
          </a:xfrm>
        </p:grpSpPr>
        <p:sp>
          <p:nvSpPr>
            <p:cNvPr id="112" name="Shape 110"/>
            <p:cNvSpPr/>
            <p:nvPr/>
          </p:nvSpPr>
          <p:spPr>
            <a:xfrm>
              <a:off x="7301672" y="5860591"/>
              <a:ext cx="4529299" cy="1172081"/>
            </a:xfrm>
            <a:custGeom>
              <a:avLst/>
              <a:gdLst/>
              <a:ahLst/>
              <a:cxnLst/>
              <a:rect l="l" t="t" r="r" b="b"/>
              <a:pathLst>
                <a:path w="4529299" h="1172081">
                  <a:moveTo>
                    <a:pt x="106015" y="0"/>
                  </a:moveTo>
                  <a:lnTo>
                    <a:pt x="4423284" y="0"/>
                  </a:lnTo>
                  <a:cubicBezTo>
                    <a:pt x="4481834" y="0"/>
                    <a:pt x="4529299" y="47464"/>
                    <a:pt x="4529299" y="106015"/>
                  </a:cubicBezTo>
                  <a:lnTo>
                    <a:pt x="4529299" y="1066066"/>
                  </a:lnTo>
                  <a:cubicBezTo>
                    <a:pt x="4529299" y="1124617"/>
                    <a:pt x="4481834" y="1172081"/>
                    <a:pt x="4423284" y="1172081"/>
                  </a:cubicBezTo>
                  <a:lnTo>
                    <a:pt x="106015" y="1172081"/>
                  </a:lnTo>
                  <a:cubicBezTo>
                    <a:pt x="47464" y="1172081"/>
                    <a:pt x="0" y="1124617"/>
                    <a:pt x="0" y="1066066"/>
                  </a:cubicBezTo>
                  <a:lnTo>
                    <a:pt x="0" y="106015"/>
                  </a:lnTo>
                  <a:cubicBezTo>
                    <a:pt x="0" y="47504"/>
                    <a:pt x="47504" y="0"/>
                    <a:pt x="106015" y="0"/>
                  </a:cubicBezTo>
                  <a:close/>
                </a:path>
              </a:pathLst>
            </a:custGeom>
            <a:solidFill>
              <a:srgbClr val="252A30"/>
            </a:solidFill>
            <a:ln w="8467">
              <a:solidFill>
                <a:srgbClr val="3D8B75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111"/>
            <p:cNvSpPr/>
            <p:nvPr/>
          </p:nvSpPr>
          <p:spPr>
            <a:xfrm>
              <a:off x="7445974" y="6004891"/>
              <a:ext cx="4311374" cy="2120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13" b="1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核心优势</a:t>
              </a:r>
              <a:endPara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4" name="Shape 112"/>
            <p:cNvSpPr/>
            <p:nvPr/>
          </p:nvSpPr>
          <p:spPr>
            <a:xfrm>
              <a:off x="7463643" y="6305274"/>
              <a:ext cx="123687" cy="123687"/>
            </a:xfrm>
            <a:custGeom>
              <a:avLst/>
              <a:gdLst/>
              <a:ahLst/>
              <a:cxnLst/>
              <a:rect l="l" t="t" r="r" b="b"/>
              <a:pathLst>
                <a:path w="123687" h="123687">
                  <a:moveTo>
                    <a:pt x="61843" y="123687"/>
                  </a:moveTo>
                  <a:cubicBezTo>
                    <a:pt x="95976" y="123687"/>
                    <a:pt x="123687" y="95976"/>
                    <a:pt x="123687" y="61843"/>
                  </a:cubicBezTo>
                  <a:cubicBezTo>
                    <a:pt x="123687" y="27711"/>
                    <a:pt x="95976" y="0"/>
                    <a:pt x="61843" y="0"/>
                  </a:cubicBezTo>
                  <a:cubicBezTo>
                    <a:pt x="27711" y="0"/>
                    <a:pt x="0" y="27711"/>
                    <a:pt x="0" y="61843"/>
                  </a:cubicBezTo>
                  <a:cubicBezTo>
                    <a:pt x="0" y="95976"/>
                    <a:pt x="27711" y="123687"/>
                    <a:pt x="61843" y="123687"/>
                  </a:cubicBezTo>
                  <a:close/>
                  <a:moveTo>
                    <a:pt x="82233" y="51383"/>
                  </a:moveTo>
                  <a:lnTo>
                    <a:pt x="62906" y="82305"/>
                  </a:lnTo>
                  <a:cubicBezTo>
                    <a:pt x="61892" y="83924"/>
                    <a:pt x="60152" y="84938"/>
                    <a:pt x="58244" y="85035"/>
                  </a:cubicBezTo>
                  <a:cubicBezTo>
                    <a:pt x="56336" y="85131"/>
                    <a:pt x="54500" y="84262"/>
                    <a:pt x="53364" y="82716"/>
                  </a:cubicBezTo>
                  <a:lnTo>
                    <a:pt x="41769" y="67255"/>
                  </a:lnTo>
                  <a:cubicBezTo>
                    <a:pt x="39836" y="64694"/>
                    <a:pt x="40367" y="61070"/>
                    <a:pt x="42928" y="59138"/>
                  </a:cubicBezTo>
                  <a:cubicBezTo>
                    <a:pt x="45489" y="57205"/>
                    <a:pt x="49112" y="57737"/>
                    <a:pt x="51045" y="60297"/>
                  </a:cubicBezTo>
                  <a:lnTo>
                    <a:pt x="57568" y="68994"/>
                  </a:lnTo>
                  <a:lnTo>
                    <a:pt x="72400" y="45247"/>
                  </a:lnTo>
                  <a:cubicBezTo>
                    <a:pt x="74091" y="42542"/>
                    <a:pt x="77667" y="41696"/>
                    <a:pt x="80397" y="43411"/>
                  </a:cubicBezTo>
                  <a:cubicBezTo>
                    <a:pt x="83126" y="45126"/>
                    <a:pt x="83948" y="48678"/>
                    <a:pt x="82233" y="51407"/>
                  </a:cubicBezTo>
                  <a:close/>
                </a:path>
              </a:pathLst>
            </a:custGeom>
            <a:solidFill>
              <a:srgbClr val="3D8B7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Text 113"/>
            <p:cNvSpPr/>
            <p:nvPr/>
          </p:nvSpPr>
          <p:spPr>
            <a:xfrm>
              <a:off x="7671261" y="6287604"/>
              <a:ext cx="1740452" cy="17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74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避免一刀切策略(减少投诉70%)</a:t>
              </a:r>
              <a:endPara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6" name="Shape 114"/>
            <p:cNvSpPr/>
            <p:nvPr/>
          </p:nvSpPr>
          <p:spPr>
            <a:xfrm>
              <a:off x="7463643" y="6517309"/>
              <a:ext cx="123687" cy="123687"/>
            </a:xfrm>
            <a:custGeom>
              <a:avLst/>
              <a:gdLst/>
              <a:ahLst/>
              <a:cxnLst/>
              <a:rect l="l" t="t" r="r" b="b"/>
              <a:pathLst>
                <a:path w="123687" h="123687">
                  <a:moveTo>
                    <a:pt x="61843" y="123687"/>
                  </a:moveTo>
                  <a:cubicBezTo>
                    <a:pt x="95976" y="123687"/>
                    <a:pt x="123687" y="95976"/>
                    <a:pt x="123687" y="61843"/>
                  </a:cubicBezTo>
                  <a:cubicBezTo>
                    <a:pt x="123687" y="27711"/>
                    <a:pt x="95976" y="0"/>
                    <a:pt x="61843" y="0"/>
                  </a:cubicBezTo>
                  <a:cubicBezTo>
                    <a:pt x="27711" y="0"/>
                    <a:pt x="0" y="27711"/>
                    <a:pt x="0" y="61843"/>
                  </a:cubicBezTo>
                  <a:cubicBezTo>
                    <a:pt x="0" y="95976"/>
                    <a:pt x="27711" y="123687"/>
                    <a:pt x="61843" y="123687"/>
                  </a:cubicBezTo>
                  <a:close/>
                  <a:moveTo>
                    <a:pt x="82233" y="51383"/>
                  </a:moveTo>
                  <a:lnTo>
                    <a:pt x="62906" y="82305"/>
                  </a:lnTo>
                  <a:cubicBezTo>
                    <a:pt x="61892" y="83924"/>
                    <a:pt x="60152" y="84938"/>
                    <a:pt x="58244" y="85035"/>
                  </a:cubicBezTo>
                  <a:cubicBezTo>
                    <a:pt x="56336" y="85131"/>
                    <a:pt x="54500" y="84262"/>
                    <a:pt x="53364" y="82716"/>
                  </a:cubicBezTo>
                  <a:lnTo>
                    <a:pt x="41769" y="67255"/>
                  </a:lnTo>
                  <a:cubicBezTo>
                    <a:pt x="39836" y="64694"/>
                    <a:pt x="40367" y="61070"/>
                    <a:pt x="42928" y="59138"/>
                  </a:cubicBezTo>
                  <a:cubicBezTo>
                    <a:pt x="45489" y="57205"/>
                    <a:pt x="49112" y="57737"/>
                    <a:pt x="51045" y="60297"/>
                  </a:cubicBezTo>
                  <a:lnTo>
                    <a:pt x="57568" y="68994"/>
                  </a:lnTo>
                  <a:lnTo>
                    <a:pt x="72400" y="45247"/>
                  </a:lnTo>
                  <a:cubicBezTo>
                    <a:pt x="74091" y="42542"/>
                    <a:pt x="77667" y="41696"/>
                    <a:pt x="80397" y="43411"/>
                  </a:cubicBezTo>
                  <a:cubicBezTo>
                    <a:pt x="83126" y="45126"/>
                    <a:pt x="83948" y="48678"/>
                    <a:pt x="82233" y="51407"/>
                  </a:cubicBezTo>
                  <a:close/>
                </a:path>
              </a:pathLst>
            </a:custGeom>
            <a:solidFill>
              <a:srgbClr val="3D8B7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Text 115"/>
            <p:cNvSpPr/>
            <p:nvPr/>
          </p:nvSpPr>
          <p:spPr>
            <a:xfrm>
              <a:off x="7671261" y="6499639"/>
              <a:ext cx="1546087" cy="17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74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渐进式响应平衡安全与体验</a:t>
              </a:r>
              <a:endPara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8" name="Shape 116"/>
            <p:cNvSpPr/>
            <p:nvPr/>
          </p:nvSpPr>
          <p:spPr>
            <a:xfrm>
              <a:off x="7463643" y="6729343"/>
              <a:ext cx="123687" cy="123687"/>
            </a:xfrm>
            <a:custGeom>
              <a:avLst/>
              <a:gdLst/>
              <a:ahLst/>
              <a:cxnLst/>
              <a:rect l="l" t="t" r="r" b="b"/>
              <a:pathLst>
                <a:path w="123687" h="123687">
                  <a:moveTo>
                    <a:pt x="61843" y="123687"/>
                  </a:moveTo>
                  <a:cubicBezTo>
                    <a:pt x="95976" y="123687"/>
                    <a:pt x="123687" y="95976"/>
                    <a:pt x="123687" y="61843"/>
                  </a:cubicBezTo>
                  <a:cubicBezTo>
                    <a:pt x="123687" y="27711"/>
                    <a:pt x="95976" y="0"/>
                    <a:pt x="61843" y="0"/>
                  </a:cubicBezTo>
                  <a:cubicBezTo>
                    <a:pt x="27711" y="0"/>
                    <a:pt x="0" y="27711"/>
                    <a:pt x="0" y="61843"/>
                  </a:cubicBezTo>
                  <a:cubicBezTo>
                    <a:pt x="0" y="95976"/>
                    <a:pt x="27711" y="123687"/>
                    <a:pt x="61843" y="123687"/>
                  </a:cubicBezTo>
                  <a:close/>
                  <a:moveTo>
                    <a:pt x="82233" y="51383"/>
                  </a:moveTo>
                  <a:lnTo>
                    <a:pt x="62906" y="82305"/>
                  </a:lnTo>
                  <a:cubicBezTo>
                    <a:pt x="61892" y="83924"/>
                    <a:pt x="60152" y="84938"/>
                    <a:pt x="58244" y="85035"/>
                  </a:cubicBezTo>
                  <a:cubicBezTo>
                    <a:pt x="56336" y="85131"/>
                    <a:pt x="54500" y="84262"/>
                    <a:pt x="53364" y="82716"/>
                  </a:cubicBezTo>
                  <a:lnTo>
                    <a:pt x="41769" y="67255"/>
                  </a:lnTo>
                  <a:cubicBezTo>
                    <a:pt x="39836" y="64694"/>
                    <a:pt x="40367" y="61070"/>
                    <a:pt x="42928" y="59138"/>
                  </a:cubicBezTo>
                  <a:cubicBezTo>
                    <a:pt x="45489" y="57205"/>
                    <a:pt x="49112" y="57737"/>
                    <a:pt x="51045" y="60297"/>
                  </a:cubicBezTo>
                  <a:lnTo>
                    <a:pt x="57568" y="68994"/>
                  </a:lnTo>
                  <a:lnTo>
                    <a:pt x="72400" y="45247"/>
                  </a:lnTo>
                  <a:cubicBezTo>
                    <a:pt x="74091" y="42542"/>
                    <a:pt x="77667" y="41696"/>
                    <a:pt x="80397" y="43411"/>
                  </a:cubicBezTo>
                  <a:cubicBezTo>
                    <a:pt x="83126" y="45126"/>
                    <a:pt x="83948" y="48678"/>
                    <a:pt x="82233" y="51407"/>
                  </a:cubicBezTo>
                  <a:close/>
                </a:path>
              </a:pathLst>
            </a:custGeom>
            <a:solidFill>
              <a:srgbClr val="3D8B7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Text 117"/>
            <p:cNvSpPr/>
            <p:nvPr/>
          </p:nvSpPr>
          <p:spPr>
            <a:xfrm>
              <a:off x="7671261" y="6711674"/>
              <a:ext cx="1811130" cy="17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74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与均衡策略协调(L2允许,L3禁止)</a:t>
              </a:r>
              <a:endPara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" name="Shape 0">
            <a:extLst>
              <a:ext uri="{FF2B5EF4-FFF2-40B4-BE49-F238E27FC236}">
                <a16:creationId xmlns:a16="http://schemas.microsoft.com/office/drawing/2014/main" id="{F6DD8C60-4B5B-E108-D34D-4B56D1A9A3C9}"/>
              </a:ext>
            </a:extLst>
          </p:cNvPr>
          <p:cNvSpPr/>
          <p:nvPr/>
        </p:nvSpPr>
        <p:spPr>
          <a:xfrm>
            <a:off x="352078" y="354962"/>
            <a:ext cx="2162876" cy="278873"/>
          </a:xfrm>
          <a:custGeom>
            <a:avLst/>
            <a:gdLst/>
            <a:ahLst/>
            <a:cxnLst/>
            <a:rect l="l" t="t" r="r" b="b"/>
            <a:pathLst>
              <a:path w="1586093" h="278873">
                <a:moveTo>
                  <a:pt x="34859" y="0"/>
                </a:moveTo>
                <a:lnTo>
                  <a:pt x="1551234" y="0"/>
                </a:lnTo>
                <a:cubicBezTo>
                  <a:pt x="1570486" y="0"/>
                  <a:pt x="1586093" y="15607"/>
                  <a:pt x="1586093" y="34859"/>
                </a:cubicBezTo>
                <a:lnTo>
                  <a:pt x="1586093" y="244014"/>
                </a:lnTo>
                <a:cubicBezTo>
                  <a:pt x="1586093" y="263266"/>
                  <a:pt x="1570486" y="278873"/>
                  <a:pt x="1551234" y="278873"/>
                </a:cubicBezTo>
                <a:lnTo>
                  <a:pt x="34859" y="278873"/>
                </a:lnTo>
                <a:cubicBezTo>
                  <a:pt x="15607" y="278873"/>
                  <a:pt x="0" y="263266"/>
                  <a:pt x="0" y="24401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3" name="Text 1">
            <a:extLst>
              <a:ext uri="{FF2B5EF4-FFF2-40B4-BE49-F238E27FC236}">
                <a16:creationId xmlns:a16="http://schemas.microsoft.com/office/drawing/2014/main" id="{0B8250FA-EC4A-0BFD-8299-1667838D57EB}"/>
              </a:ext>
            </a:extLst>
          </p:cNvPr>
          <p:cNvSpPr/>
          <p:nvPr/>
        </p:nvSpPr>
        <p:spPr>
          <a:xfrm>
            <a:off x="453168" y="432256"/>
            <a:ext cx="1732623" cy="12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kern="0" spc="4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ADVANCED INSIGHTS</a:t>
            </a:r>
            <a:endParaRPr lang="en-US" sz="1600" dirty="0"/>
          </a:p>
        </p:txBody>
      </p:sp>
      <p:sp>
        <p:nvSpPr>
          <p:cNvPr id="124" name="Text 2">
            <a:extLst>
              <a:ext uri="{FF2B5EF4-FFF2-40B4-BE49-F238E27FC236}">
                <a16:creationId xmlns:a16="http://schemas.microsoft.com/office/drawing/2014/main" id="{30A51F34-D98B-82E2-BBE8-460D7626C6D5}"/>
              </a:ext>
            </a:extLst>
          </p:cNvPr>
          <p:cNvSpPr/>
          <p:nvPr/>
        </p:nvSpPr>
        <p:spPr>
          <a:xfrm>
            <a:off x="348592" y="697184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渐进式响应</a:t>
            </a:r>
            <a:r>
              <a:rPr lang="en-US" altLang="zh-CN" sz="2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: </a:t>
            </a:r>
            <a:r>
              <a:rPr lang="en-US" altLang="zh-CN" sz="2400" b="1" dirty="0" err="1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统计特征</a:t>
            </a:r>
            <a:r>
              <a:rPr lang="en-US" altLang="zh-CN" sz="2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+</a:t>
            </a:r>
            <a:r>
              <a:rPr lang="zh-CN" altLang="en-US" sz="2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第一性</a:t>
            </a:r>
            <a:r>
              <a:rPr lang="en-US" altLang="zh-CN" sz="2400" b="1" dirty="0" err="1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规则引擎</a:t>
            </a:r>
            <a:endParaRPr lang="en-US" altLang="zh-CN" sz="1400" dirty="0"/>
          </a:p>
        </p:txBody>
      </p:sp>
      <p:sp>
        <p:nvSpPr>
          <p:cNvPr id="125" name="Shape 3">
            <a:extLst>
              <a:ext uri="{FF2B5EF4-FFF2-40B4-BE49-F238E27FC236}">
                <a16:creationId xmlns:a16="http://schemas.microsoft.com/office/drawing/2014/main" id="{F5B39AA6-FDE3-357C-7FD1-937C88FE4E79}"/>
              </a:ext>
            </a:extLst>
          </p:cNvPr>
          <p:cNvSpPr/>
          <p:nvPr/>
        </p:nvSpPr>
        <p:spPr>
          <a:xfrm>
            <a:off x="348592" y="1150353"/>
            <a:ext cx="697184" cy="34859"/>
          </a:xfrm>
          <a:custGeom>
            <a:avLst/>
            <a:gdLst/>
            <a:ahLst/>
            <a:cxnLst/>
            <a:rect l="l" t="t" r="r" b="b"/>
            <a:pathLst>
              <a:path w="697184" h="34859">
                <a:moveTo>
                  <a:pt x="0" y="0"/>
                </a:moveTo>
                <a:lnTo>
                  <a:pt x="697184" y="0"/>
                </a:lnTo>
                <a:lnTo>
                  <a:pt x="697184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0" descr="https://kimi-img.moonshot.cn/pub/slides/slides_tmpl/image/25-09-04-11:32:05-d2sggde1bb2p4onbok20.jpg">
            <a:extLst>
              <a:ext uri="{FF2B5EF4-FFF2-40B4-BE49-F238E27FC236}">
                <a16:creationId xmlns:a16="http://schemas.microsoft.com/office/drawing/2014/main" id="{5FF820CC-7BFA-4245-3B89-3831230D8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58" name="Shape 3">
            <a:extLst>
              <a:ext uri="{FF2B5EF4-FFF2-40B4-BE49-F238E27FC236}">
                <a16:creationId xmlns:a16="http://schemas.microsoft.com/office/drawing/2014/main" id="{011F84D9-FB7C-69E2-A84F-2DD633CBF1F9}"/>
              </a:ext>
            </a:extLst>
          </p:cNvPr>
          <p:cNvSpPr/>
          <p:nvPr/>
        </p:nvSpPr>
        <p:spPr>
          <a:xfrm>
            <a:off x="6142416" y="1222375"/>
            <a:ext cx="5654675" cy="5254625"/>
          </a:xfrm>
          <a:custGeom>
            <a:avLst/>
            <a:gdLst/>
            <a:ahLst/>
            <a:cxnLst/>
            <a:rect l="l" t="t" r="r" b="b"/>
            <a:pathLst>
              <a:path w="5654675" h="5254625">
                <a:moveTo>
                  <a:pt x="114288" y="0"/>
                </a:moveTo>
                <a:lnTo>
                  <a:pt x="5540387" y="0"/>
                </a:lnTo>
                <a:cubicBezTo>
                  <a:pt x="5603506" y="0"/>
                  <a:pt x="5654675" y="51169"/>
                  <a:pt x="5654675" y="114288"/>
                </a:cubicBezTo>
                <a:lnTo>
                  <a:pt x="5654675" y="5140337"/>
                </a:lnTo>
                <a:cubicBezTo>
                  <a:pt x="5654675" y="5203456"/>
                  <a:pt x="5603506" y="5254625"/>
                  <a:pt x="5540387" y="5254625"/>
                </a:cubicBezTo>
                <a:lnTo>
                  <a:pt x="114288" y="5254625"/>
                </a:lnTo>
                <a:cubicBezTo>
                  <a:pt x="51169" y="5254625"/>
                  <a:pt x="0" y="5203456"/>
                  <a:pt x="0" y="5140337"/>
                </a:cubicBezTo>
                <a:lnTo>
                  <a:pt x="0" y="114288"/>
                </a:lnTo>
                <a:cubicBezTo>
                  <a:pt x="0" y="51169"/>
                  <a:pt x="51169" y="0"/>
                  <a:pt x="114288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84175" y="1222375"/>
            <a:ext cx="5654675" cy="5254625"/>
          </a:xfrm>
          <a:custGeom>
            <a:avLst/>
            <a:gdLst/>
            <a:ahLst/>
            <a:cxnLst/>
            <a:rect l="l" t="t" r="r" b="b"/>
            <a:pathLst>
              <a:path w="5654675" h="5254625">
                <a:moveTo>
                  <a:pt x="114288" y="0"/>
                </a:moveTo>
                <a:lnTo>
                  <a:pt x="5540387" y="0"/>
                </a:lnTo>
                <a:cubicBezTo>
                  <a:pt x="5603506" y="0"/>
                  <a:pt x="5654675" y="51169"/>
                  <a:pt x="5654675" y="114288"/>
                </a:cubicBezTo>
                <a:lnTo>
                  <a:pt x="5654675" y="5140337"/>
                </a:lnTo>
                <a:cubicBezTo>
                  <a:pt x="5654675" y="5203456"/>
                  <a:pt x="5603506" y="5254625"/>
                  <a:pt x="5540387" y="5254625"/>
                </a:cubicBezTo>
                <a:lnTo>
                  <a:pt x="114288" y="5254625"/>
                </a:lnTo>
                <a:cubicBezTo>
                  <a:pt x="51169" y="5254625"/>
                  <a:pt x="0" y="5203456"/>
                  <a:pt x="0" y="5140337"/>
                </a:cubicBezTo>
                <a:lnTo>
                  <a:pt x="0" y="114288"/>
                </a:lnTo>
                <a:cubicBezTo>
                  <a:pt x="0" y="51169"/>
                  <a:pt x="51169" y="0"/>
                  <a:pt x="114288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1650" y="133984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77850" y="14160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3D8B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82650" y="1358898"/>
            <a:ext cx="14342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ICA增量容量分析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1650" y="1720848"/>
            <a:ext cx="5495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石墨负极嵌锂过程存在相变,在相变电位dQ/dV曲线出现峰值,通过峰值特征识别析锂风险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1650" y="2216148"/>
            <a:ext cx="5419725" cy="1647825"/>
          </a:xfrm>
          <a:custGeom>
            <a:avLst/>
            <a:gdLst/>
            <a:ahLst/>
            <a:cxnLst/>
            <a:rect l="l" t="t" r="r" b="b"/>
            <a:pathLst>
              <a:path w="5419725" h="1647825">
                <a:moveTo>
                  <a:pt x="76195" y="0"/>
                </a:moveTo>
                <a:lnTo>
                  <a:pt x="5343530" y="0"/>
                </a:lnTo>
                <a:cubicBezTo>
                  <a:pt x="5385583" y="0"/>
                  <a:pt x="5419725" y="34142"/>
                  <a:pt x="5419725" y="76195"/>
                </a:cubicBezTo>
                <a:lnTo>
                  <a:pt x="5419725" y="1571630"/>
                </a:lnTo>
                <a:cubicBezTo>
                  <a:pt x="5419725" y="1613711"/>
                  <a:pt x="5385611" y="1647825"/>
                  <a:pt x="5343530" y="1647825"/>
                </a:cubicBezTo>
                <a:lnTo>
                  <a:pt x="76195" y="1647825"/>
                </a:lnTo>
                <a:cubicBezTo>
                  <a:pt x="34142" y="1647825"/>
                  <a:pt x="0" y="1613683"/>
                  <a:pt x="0" y="15716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5950" y="2330448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石墨负极嵌锂相变峰值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5950" y="2635248"/>
            <a:ext cx="5191125" cy="342900"/>
          </a:xfrm>
          <a:custGeom>
            <a:avLst/>
            <a:gdLst/>
            <a:ahLst/>
            <a:cxnLst/>
            <a:rect l="l" t="t" r="r" b="b"/>
            <a:pathLst>
              <a:path w="5191125" h="342900">
                <a:moveTo>
                  <a:pt x="38100" y="0"/>
                </a:moveTo>
                <a:lnTo>
                  <a:pt x="5153025" y="0"/>
                </a:lnTo>
                <a:cubicBezTo>
                  <a:pt x="5174067" y="0"/>
                  <a:pt x="5191125" y="17058"/>
                  <a:pt x="5191125" y="38100"/>
                </a:cubicBezTo>
                <a:lnTo>
                  <a:pt x="5191125" y="304800"/>
                </a:lnTo>
                <a:cubicBezTo>
                  <a:pt x="5191125" y="325842"/>
                  <a:pt x="5174067" y="342900"/>
                  <a:pt x="51530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2A3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73100" y="2692398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峰值1: Stage IV → III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5022" y="2692398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~3.65V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" y="3019423"/>
            <a:ext cx="5178425" cy="349250"/>
          </a:xfrm>
          <a:custGeom>
            <a:avLst/>
            <a:gdLst/>
            <a:ahLst/>
            <a:cxnLst/>
            <a:rect l="l" t="t" r="r" b="b"/>
            <a:pathLst>
              <a:path w="5178425" h="349250">
                <a:moveTo>
                  <a:pt x="38100" y="0"/>
                </a:moveTo>
                <a:lnTo>
                  <a:pt x="5140325" y="0"/>
                </a:lnTo>
                <a:cubicBezTo>
                  <a:pt x="5161367" y="0"/>
                  <a:pt x="5178425" y="17058"/>
                  <a:pt x="5178425" y="38100"/>
                </a:cubicBezTo>
                <a:lnTo>
                  <a:pt x="5178425" y="311150"/>
                </a:lnTo>
                <a:cubicBezTo>
                  <a:pt x="5178425" y="332192"/>
                  <a:pt x="5161367" y="349250"/>
                  <a:pt x="5140325" y="349250"/>
                </a:cubicBezTo>
                <a:lnTo>
                  <a:pt x="38100" y="349250"/>
                </a:lnTo>
                <a:cubicBezTo>
                  <a:pt x="17058" y="349250"/>
                  <a:pt x="0" y="332192"/>
                  <a:pt x="0" y="31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9450" y="3079747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峰值2: Stage III → II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7528" y="3079747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~3.80V 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5950" y="3409950"/>
            <a:ext cx="5191125" cy="342900"/>
          </a:xfrm>
          <a:custGeom>
            <a:avLst/>
            <a:gdLst/>
            <a:ahLst/>
            <a:cxnLst/>
            <a:rect l="l" t="t" r="r" b="b"/>
            <a:pathLst>
              <a:path w="5191125" h="342900">
                <a:moveTo>
                  <a:pt x="38100" y="0"/>
                </a:moveTo>
                <a:lnTo>
                  <a:pt x="5153025" y="0"/>
                </a:lnTo>
                <a:cubicBezTo>
                  <a:pt x="5174067" y="0"/>
                  <a:pt x="5191125" y="17058"/>
                  <a:pt x="5191125" y="38100"/>
                </a:cubicBezTo>
                <a:lnTo>
                  <a:pt x="5191125" y="304800"/>
                </a:lnTo>
                <a:cubicBezTo>
                  <a:pt x="5191125" y="325842"/>
                  <a:pt x="5174067" y="342900"/>
                  <a:pt x="51530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2A3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3100" y="3467100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峰值3: Stage II → 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6014" y="34671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B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~3.95V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4825" y="3946525"/>
            <a:ext cx="2663825" cy="1149350"/>
          </a:xfrm>
          <a:custGeom>
            <a:avLst/>
            <a:gdLst/>
            <a:ahLst/>
            <a:cxnLst/>
            <a:rect l="l" t="t" r="r" b="b"/>
            <a:pathLst>
              <a:path w="2663825" h="1149350">
                <a:moveTo>
                  <a:pt x="76202" y="0"/>
                </a:moveTo>
                <a:lnTo>
                  <a:pt x="2587623" y="0"/>
                </a:lnTo>
                <a:cubicBezTo>
                  <a:pt x="2629708" y="0"/>
                  <a:pt x="2663825" y="34117"/>
                  <a:pt x="2663825" y="76202"/>
                </a:cubicBezTo>
                <a:lnTo>
                  <a:pt x="2663825" y="1073148"/>
                </a:lnTo>
                <a:cubicBezTo>
                  <a:pt x="2663825" y="1115233"/>
                  <a:pt x="2629708" y="1149350"/>
                  <a:pt x="2587623" y="1149350"/>
                </a:cubicBezTo>
                <a:lnTo>
                  <a:pt x="76202" y="1149350"/>
                </a:lnTo>
                <a:cubicBezTo>
                  <a:pt x="34117" y="1149350"/>
                  <a:pt x="0" y="1115233"/>
                  <a:pt x="0" y="10731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84200" y="402589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正常电池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4200" y="429259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主峰: 3.802V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4200" y="454024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峰值强度: 0.025 Ah/V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4200" y="478789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无低电位异常峰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51200" y="3946525"/>
            <a:ext cx="2663825" cy="1149350"/>
          </a:xfrm>
          <a:custGeom>
            <a:avLst/>
            <a:gdLst/>
            <a:ahLst/>
            <a:cxnLst/>
            <a:rect l="l" t="t" r="r" b="b"/>
            <a:pathLst>
              <a:path w="2663825" h="1149350">
                <a:moveTo>
                  <a:pt x="76202" y="0"/>
                </a:moveTo>
                <a:lnTo>
                  <a:pt x="2587623" y="0"/>
                </a:lnTo>
                <a:cubicBezTo>
                  <a:pt x="2629708" y="0"/>
                  <a:pt x="2663825" y="34117"/>
                  <a:pt x="2663825" y="76202"/>
                </a:cubicBezTo>
                <a:lnTo>
                  <a:pt x="2663825" y="1073148"/>
                </a:lnTo>
                <a:cubicBezTo>
                  <a:pt x="2663825" y="1115233"/>
                  <a:pt x="2629708" y="1149350"/>
                  <a:pt x="2587623" y="1149350"/>
                </a:cubicBezTo>
                <a:lnTo>
                  <a:pt x="76202" y="1149350"/>
                </a:lnTo>
                <a:cubicBezTo>
                  <a:pt x="34117" y="1149350"/>
                  <a:pt x="0" y="1115233"/>
                  <a:pt x="0" y="10731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330575" y="402589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析锂电池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30575" y="429259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主峰左移: 3.752V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30575" y="454024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峰值强度: 0.018 Ah/V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30575" y="4787898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低电位异常峰: 3.62V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4825" y="5432425"/>
            <a:ext cx="5407025" cy="920750"/>
          </a:xfrm>
          <a:custGeom>
            <a:avLst/>
            <a:gdLst/>
            <a:ahLst/>
            <a:cxnLst/>
            <a:rect l="l" t="t" r="r" b="b"/>
            <a:pathLst>
              <a:path w="5407025" h="920750">
                <a:moveTo>
                  <a:pt x="76201" y="0"/>
                </a:moveTo>
                <a:lnTo>
                  <a:pt x="5330824" y="0"/>
                </a:lnTo>
                <a:cubicBezTo>
                  <a:pt x="5372909" y="0"/>
                  <a:pt x="5407025" y="34116"/>
                  <a:pt x="5407025" y="76201"/>
                </a:cubicBezTo>
                <a:lnTo>
                  <a:pt x="5407025" y="844549"/>
                </a:lnTo>
                <a:cubicBezTo>
                  <a:pt x="5407025" y="886634"/>
                  <a:pt x="5372909" y="920750"/>
                  <a:pt x="5330824" y="920750"/>
                </a:cubicBezTo>
                <a:lnTo>
                  <a:pt x="76201" y="920750"/>
                </a:lnTo>
                <a:cubicBezTo>
                  <a:pt x="34116" y="920750"/>
                  <a:pt x="0" y="886634"/>
                  <a:pt x="0" y="8445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84200" y="5511798"/>
            <a:ext cx="532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检测逻辑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4200" y="577849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峰值左移 &gt;50mV: +40分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48025" y="577849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左移 &gt;100mV: +30分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4200" y="604519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低电位异常峰: +50分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48025" y="604519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峰值强度下降 &gt;30%: +30分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73800" y="133984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7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350000" y="14160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48"/>
                  <a:pt x="107752" y="19050"/>
                  <a:pt x="76200" y="19050"/>
                </a:cubicBezTo>
                <a:lnTo>
                  <a:pt x="76200" y="133350"/>
                </a:lnTo>
                <a:cubicBezTo>
                  <a:pt x="107752" y="133350"/>
                  <a:pt x="133350" y="10775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D8B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273800" y="1768476"/>
            <a:ext cx="5419725" cy="1539871"/>
          </a:xfrm>
          <a:custGeom>
            <a:avLst/>
            <a:gdLst/>
            <a:ahLst/>
            <a:cxnLst/>
            <a:rect l="l" t="t" r="r" b="b"/>
            <a:pathLst>
              <a:path w="5419725" h="1676400">
                <a:moveTo>
                  <a:pt x="76192" y="0"/>
                </a:moveTo>
                <a:lnTo>
                  <a:pt x="5343533" y="0"/>
                </a:lnTo>
                <a:cubicBezTo>
                  <a:pt x="5385613" y="0"/>
                  <a:pt x="5419725" y="34112"/>
                  <a:pt x="5419725" y="76192"/>
                </a:cubicBezTo>
                <a:lnTo>
                  <a:pt x="5419725" y="1600208"/>
                </a:lnTo>
                <a:cubicBezTo>
                  <a:pt x="5419725" y="1642288"/>
                  <a:pt x="5385613" y="1676400"/>
                  <a:pt x="5343533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520FDB5-FB21-45F6-AD3F-7378707A732D}"/>
              </a:ext>
            </a:extLst>
          </p:cNvPr>
          <p:cNvSpPr txBox="1"/>
          <p:nvPr/>
        </p:nvSpPr>
        <p:spPr>
          <a:xfrm>
            <a:off x="6388231" y="1802367"/>
            <a:ext cx="31589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电</a:t>
            </a:r>
            <a:r>
              <a:rPr lang="en-US" altLang="zh-CN" sz="1200" b="1">
                <a:solidFill>
                  <a:schemeClr val="bg1">
                    <a:lumMod val="85000"/>
                  </a:schemeClr>
                </a:solidFill>
              </a:rPr>
              <a:t>-</a:t>
            </a:r>
            <a:r>
              <a:rPr lang="zh-CN" altLang="en-US" sz="1200" b="1">
                <a:solidFill>
                  <a:schemeClr val="bg1">
                    <a:lumMod val="85000"/>
                  </a:schemeClr>
                </a:solidFill>
              </a:rPr>
              <a:t>热</a:t>
            </a:r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耦合：从“限值管理”转向“通量预测”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4556553-97A3-950B-82FF-DD59296CD024}"/>
              </a:ext>
            </a:extLst>
          </p:cNvPr>
          <p:cNvSpPr/>
          <p:nvPr/>
        </p:nvSpPr>
        <p:spPr>
          <a:xfrm>
            <a:off x="6810061" y="2137038"/>
            <a:ext cx="4696138" cy="279138"/>
          </a:xfrm>
          <a:prstGeom prst="roundRect">
            <a:avLst>
              <a:gd name="adj" fmla="val 7568"/>
            </a:avLst>
          </a:pr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r>
              <a:rPr lang="zh-CN" alt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热失控往往源于局部电流密度过大引发的焦耳热堆积。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E2046C9-4E0F-9250-7E5C-961F26FF40A3}"/>
              </a:ext>
            </a:extLst>
          </p:cNvPr>
          <p:cNvSpPr/>
          <p:nvPr/>
        </p:nvSpPr>
        <p:spPr>
          <a:xfrm>
            <a:off x="6798732" y="2514734"/>
            <a:ext cx="4696137" cy="675219"/>
          </a:xfrm>
          <a:prstGeom prst="roundRect">
            <a:avLst>
              <a:gd name="adj" fmla="val 7890"/>
            </a:avLst>
          </a:prstGeom>
          <a:solidFill>
            <a:schemeClr val="bg1">
              <a:lumMod val="95000"/>
              <a:alpha val="6000"/>
            </a:schemeClr>
          </a:solidFill>
          <a:ln w="6350">
            <a:gradFill flip="none" rotWithShape="1">
              <a:gsLst>
                <a:gs pos="0">
                  <a:schemeClr val="bg1">
                    <a:alpha val="19000"/>
                    <a:lumMod val="60000"/>
                  </a:schemeClr>
                </a:gs>
                <a:gs pos="100000">
                  <a:schemeClr val="accent1">
                    <a:lumMod val="30000"/>
                    <a:lumOff val="70000"/>
                    <a:alpha val="2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dirty="0"/>
              <a:t>建立虚拟电化学仿真（</a:t>
            </a:r>
            <a:r>
              <a:rPr lang="en-US" altLang="zh-CN" sz="1050"/>
              <a:t>Digital Twin</a:t>
            </a:r>
            <a:r>
              <a:rPr lang="zh-CN" altLang="en-US" sz="1050"/>
              <a:t>）</a:t>
            </a:r>
            <a:r>
              <a:rPr lang="zh-CN" altLang="en-US" sz="1050" dirty="0"/>
              <a:t>。不止通过电压，而根据实时内阻分量计算“产热功率”与“散热通量”的差值。当计算出界面熵产速率超过临界阈值时，强制进入脉冲电流模式。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8342537-213C-3D85-1C72-F090434EE141}"/>
              </a:ext>
            </a:extLst>
          </p:cNvPr>
          <p:cNvSpPr txBox="1"/>
          <p:nvPr/>
        </p:nvSpPr>
        <p:spPr>
          <a:xfrm>
            <a:off x="6480175" y="1307506"/>
            <a:ext cx="4371975" cy="34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“热</a:t>
            </a:r>
            <a:r>
              <a:rPr lang="en-US" altLang="zh-CN" sz="1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-</a:t>
            </a:r>
            <a:r>
              <a:rPr lang="zh-CN" altLang="en-US" sz="1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电</a:t>
            </a:r>
            <a:r>
              <a:rPr lang="en-US" altLang="zh-CN" sz="1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-</a:t>
            </a:r>
            <a:r>
              <a:rPr lang="zh-CN" altLang="en-US" sz="1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力</a:t>
            </a:r>
            <a:r>
              <a:rPr lang="en-US" altLang="zh-CN" sz="1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-</a:t>
            </a:r>
            <a:r>
              <a:rPr lang="zh-CN" altLang="en-US" sz="1400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老化”耦合安全建模</a:t>
            </a:r>
            <a:endParaRPr lang="en-US" altLang="zh-CN" sz="1600" dirty="0"/>
          </a:p>
        </p:txBody>
      </p:sp>
      <p:sp>
        <p:nvSpPr>
          <p:cNvPr id="72" name="Shape 40">
            <a:extLst>
              <a:ext uri="{FF2B5EF4-FFF2-40B4-BE49-F238E27FC236}">
                <a16:creationId xmlns:a16="http://schemas.microsoft.com/office/drawing/2014/main" id="{F277167C-C31A-DA01-2097-012277069880}"/>
              </a:ext>
            </a:extLst>
          </p:cNvPr>
          <p:cNvSpPr/>
          <p:nvPr/>
        </p:nvSpPr>
        <p:spPr>
          <a:xfrm>
            <a:off x="6273800" y="3416300"/>
            <a:ext cx="5419725" cy="1539871"/>
          </a:xfrm>
          <a:custGeom>
            <a:avLst/>
            <a:gdLst/>
            <a:ahLst/>
            <a:cxnLst/>
            <a:rect l="l" t="t" r="r" b="b"/>
            <a:pathLst>
              <a:path w="5419725" h="1676400">
                <a:moveTo>
                  <a:pt x="76192" y="0"/>
                </a:moveTo>
                <a:lnTo>
                  <a:pt x="5343533" y="0"/>
                </a:lnTo>
                <a:cubicBezTo>
                  <a:pt x="5385613" y="0"/>
                  <a:pt x="5419725" y="34112"/>
                  <a:pt x="5419725" y="76192"/>
                </a:cubicBezTo>
                <a:lnTo>
                  <a:pt x="5419725" y="1600208"/>
                </a:lnTo>
                <a:cubicBezTo>
                  <a:pt x="5419725" y="1642288"/>
                  <a:pt x="5385613" y="1676400"/>
                  <a:pt x="5343533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10F2C8E-0400-5001-2E0B-8C0783C54F28}"/>
              </a:ext>
            </a:extLst>
          </p:cNvPr>
          <p:cNvSpPr txBox="1"/>
          <p:nvPr/>
        </p:nvSpPr>
        <p:spPr>
          <a:xfrm>
            <a:off x="6388231" y="3450191"/>
            <a:ext cx="31589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力</a:t>
            </a:r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</a:rPr>
              <a:t>-</a:t>
            </a:r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电耦合：活性压力补偿（</a:t>
            </a:r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</a:rPr>
              <a:t>APM</a:t>
            </a:r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）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295DF768-7BFF-6FB0-B98E-CBB27A3CF1A9}"/>
              </a:ext>
            </a:extLst>
          </p:cNvPr>
          <p:cNvSpPr/>
          <p:nvPr/>
        </p:nvSpPr>
        <p:spPr>
          <a:xfrm>
            <a:off x="6423025" y="3784861"/>
            <a:ext cx="4696138" cy="452554"/>
          </a:xfrm>
          <a:prstGeom prst="roundRect">
            <a:avLst>
              <a:gd name="adj" fmla="val 7568"/>
            </a:avLst>
          </a:pr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r>
              <a:rPr lang="zh-CN" alt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极片在脱嵌锂过程中的物理应力会改变孔隙率，进而影响离子电导率，形成“应力</a:t>
            </a:r>
            <a:r>
              <a:rPr lang="en-US" altLang="zh-CN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</a:t>
            </a:r>
            <a:r>
              <a:rPr lang="zh-CN" alt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内阻</a:t>
            </a:r>
            <a:r>
              <a:rPr lang="en-US" altLang="zh-CN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</a:t>
            </a:r>
            <a:r>
              <a:rPr lang="zh-CN" alt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热”正反馈。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89FF0004-62C6-4998-702A-A4AFA1240E70}"/>
              </a:ext>
            </a:extLst>
          </p:cNvPr>
          <p:cNvSpPr/>
          <p:nvPr/>
        </p:nvSpPr>
        <p:spPr>
          <a:xfrm>
            <a:off x="6411696" y="4361243"/>
            <a:ext cx="4696137" cy="476534"/>
          </a:xfrm>
          <a:prstGeom prst="roundRect">
            <a:avLst>
              <a:gd name="adj" fmla="val 7890"/>
            </a:avLst>
          </a:prstGeom>
          <a:solidFill>
            <a:schemeClr val="bg1">
              <a:lumMod val="95000"/>
              <a:alpha val="6000"/>
            </a:schemeClr>
          </a:solidFill>
          <a:ln w="6350">
            <a:gradFill flip="none" rotWithShape="1">
              <a:gsLst>
                <a:gs pos="0">
                  <a:schemeClr val="bg1">
                    <a:alpha val="19000"/>
                    <a:lumMod val="60000"/>
                  </a:schemeClr>
                </a:gs>
                <a:gs pos="100000">
                  <a:schemeClr val="accent1">
                    <a:lumMod val="30000"/>
                    <a:lumOff val="70000"/>
                    <a:alpha val="2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dirty="0"/>
              <a:t>引入梯度预紧力设计。在充电初期（低</a:t>
            </a:r>
            <a:r>
              <a:rPr lang="en-US" altLang="zh-CN" sz="1050" dirty="0"/>
              <a:t>SOC</a:t>
            </a:r>
            <a:r>
              <a:rPr lang="zh-CN" altLang="en-US" sz="1050" dirty="0"/>
              <a:t>）提供较小压力以允许膨胀；在后期（高</a:t>
            </a:r>
            <a:r>
              <a:rPr lang="en-US" altLang="zh-CN" sz="1050" dirty="0"/>
              <a:t>SOC</a:t>
            </a:r>
            <a:r>
              <a:rPr lang="zh-CN" altLang="en-US" sz="1050" dirty="0"/>
              <a:t>）提供精确的物理约束，防止因极片微观位移导致的内短路先兆。</a:t>
            </a:r>
          </a:p>
        </p:txBody>
      </p:sp>
      <p:sp>
        <p:nvSpPr>
          <p:cNvPr id="77" name="Shape 40">
            <a:extLst>
              <a:ext uri="{FF2B5EF4-FFF2-40B4-BE49-F238E27FC236}">
                <a16:creationId xmlns:a16="http://schemas.microsoft.com/office/drawing/2014/main" id="{7A244236-5169-9FF2-7927-CDE3A3B5F8BB}"/>
              </a:ext>
            </a:extLst>
          </p:cNvPr>
          <p:cNvSpPr/>
          <p:nvPr/>
        </p:nvSpPr>
        <p:spPr>
          <a:xfrm>
            <a:off x="6273800" y="5060957"/>
            <a:ext cx="5419725" cy="1539871"/>
          </a:xfrm>
          <a:custGeom>
            <a:avLst/>
            <a:gdLst/>
            <a:ahLst/>
            <a:cxnLst/>
            <a:rect l="l" t="t" r="r" b="b"/>
            <a:pathLst>
              <a:path w="5419725" h="1676400">
                <a:moveTo>
                  <a:pt x="76192" y="0"/>
                </a:moveTo>
                <a:lnTo>
                  <a:pt x="5343533" y="0"/>
                </a:lnTo>
                <a:cubicBezTo>
                  <a:pt x="5385613" y="0"/>
                  <a:pt x="5419725" y="34112"/>
                  <a:pt x="5419725" y="76192"/>
                </a:cubicBezTo>
                <a:lnTo>
                  <a:pt x="5419725" y="1600208"/>
                </a:lnTo>
                <a:cubicBezTo>
                  <a:pt x="5419725" y="1642288"/>
                  <a:pt x="5385613" y="1676400"/>
                  <a:pt x="5343533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45A5DFA-0787-835D-A355-9B08E5C69743}"/>
              </a:ext>
            </a:extLst>
          </p:cNvPr>
          <p:cNvSpPr txBox="1"/>
          <p:nvPr/>
        </p:nvSpPr>
        <p:spPr>
          <a:xfrm>
            <a:off x="6388231" y="5094848"/>
            <a:ext cx="31589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热</a:t>
            </a:r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</a:rPr>
              <a:t>-</a:t>
            </a:r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老化耦合：动态健康窗口（</a:t>
            </a:r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</a:rPr>
              <a:t>DHW</a:t>
            </a:r>
            <a:r>
              <a:rPr lang="zh-CN" altLang="en-US" sz="1200" b="1" dirty="0">
                <a:solidFill>
                  <a:schemeClr val="bg1">
                    <a:lumMod val="85000"/>
                  </a:schemeClr>
                </a:solidFill>
              </a:rPr>
              <a:t>）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B2954D5A-294D-DF07-BEAF-8DA611825CF7}"/>
              </a:ext>
            </a:extLst>
          </p:cNvPr>
          <p:cNvSpPr/>
          <p:nvPr/>
        </p:nvSpPr>
        <p:spPr>
          <a:xfrm>
            <a:off x="6810061" y="5391539"/>
            <a:ext cx="4696138" cy="279138"/>
          </a:xfrm>
          <a:prstGeom prst="roundRect">
            <a:avLst>
              <a:gd name="adj" fmla="val 7568"/>
            </a:avLst>
          </a:pr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r>
              <a:rPr lang="zh-CN" alt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老化后的电池，其热失控起始温度会随</a:t>
            </a:r>
            <a:r>
              <a:rPr lang="en-US" altLang="zh-CN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SEI</a:t>
            </a:r>
            <a:r>
              <a:rPr lang="zh-CN" alt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膜增厚和活性锂损失而大幅下降。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09A5AE04-779C-2E2E-E9CE-00E6544670B4}"/>
              </a:ext>
            </a:extLst>
          </p:cNvPr>
          <p:cNvSpPr/>
          <p:nvPr/>
        </p:nvSpPr>
        <p:spPr>
          <a:xfrm>
            <a:off x="6798732" y="5740398"/>
            <a:ext cx="4696137" cy="675219"/>
          </a:xfrm>
          <a:prstGeom prst="roundRect">
            <a:avLst>
              <a:gd name="adj" fmla="val 7890"/>
            </a:avLst>
          </a:prstGeom>
          <a:solidFill>
            <a:schemeClr val="bg1">
              <a:lumMod val="95000"/>
              <a:alpha val="6000"/>
            </a:schemeClr>
          </a:solidFill>
          <a:ln w="6350">
            <a:gradFill flip="none" rotWithShape="1">
              <a:gsLst>
                <a:gs pos="0">
                  <a:schemeClr val="bg1">
                    <a:alpha val="19000"/>
                    <a:lumMod val="60000"/>
                  </a:schemeClr>
                </a:gs>
                <a:gs pos="100000">
                  <a:schemeClr val="accent1">
                    <a:lumMod val="30000"/>
                    <a:lumOff val="70000"/>
                    <a:alpha val="2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dirty="0"/>
              <a:t>建立虚拟电化学仿真（</a:t>
            </a:r>
            <a:r>
              <a:rPr lang="en-US" altLang="zh-CN" sz="1050" dirty="0"/>
              <a:t>Digital Twin</a:t>
            </a:r>
            <a:r>
              <a:rPr lang="zh-CN" altLang="en-US" sz="1050" dirty="0"/>
              <a:t>）。不止通过电压，而根据实时内阻分量计算“产热功率”与“散热通量”的差值。当计算出界面熵产速率超过临界阈值时，强制进入脉冲电流模式。</a:t>
            </a:r>
          </a:p>
        </p:txBody>
      </p:sp>
      <p:sp>
        <p:nvSpPr>
          <p:cNvPr id="81" name="Shape 0">
            <a:extLst>
              <a:ext uri="{FF2B5EF4-FFF2-40B4-BE49-F238E27FC236}">
                <a16:creationId xmlns:a16="http://schemas.microsoft.com/office/drawing/2014/main" id="{1591083E-1A94-2B66-3A4A-019A26C26033}"/>
              </a:ext>
            </a:extLst>
          </p:cNvPr>
          <p:cNvSpPr/>
          <p:nvPr/>
        </p:nvSpPr>
        <p:spPr>
          <a:xfrm>
            <a:off x="352078" y="354962"/>
            <a:ext cx="2162876" cy="278873"/>
          </a:xfrm>
          <a:custGeom>
            <a:avLst/>
            <a:gdLst/>
            <a:ahLst/>
            <a:cxnLst/>
            <a:rect l="l" t="t" r="r" b="b"/>
            <a:pathLst>
              <a:path w="1586093" h="278873">
                <a:moveTo>
                  <a:pt x="34859" y="0"/>
                </a:moveTo>
                <a:lnTo>
                  <a:pt x="1551234" y="0"/>
                </a:lnTo>
                <a:cubicBezTo>
                  <a:pt x="1570486" y="0"/>
                  <a:pt x="1586093" y="15607"/>
                  <a:pt x="1586093" y="34859"/>
                </a:cubicBezTo>
                <a:lnTo>
                  <a:pt x="1586093" y="244014"/>
                </a:lnTo>
                <a:cubicBezTo>
                  <a:pt x="1586093" y="263266"/>
                  <a:pt x="1570486" y="278873"/>
                  <a:pt x="1551234" y="278873"/>
                </a:cubicBezTo>
                <a:lnTo>
                  <a:pt x="34859" y="278873"/>
                </a:lnTo>
                <a:cubicBezTo>
                  <a:pt x="15607" y="278873"/>
                  <a:pt x="0" y="263266"/>
                  <a:pt x="0" y="24401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1">
            <a:extLst>
              <a:ext uri="{FF2B5EF4-FFF2-40B4-BE49-F238E27FC236}">
                <a16:creationId xmlns:a16="http://schemas.microsoft.com/office/drawing/2014/main" id="{458FF668-F3F7-D3DA-03D0-C9E139744495}"/>
              </a:ext>
            </a:extLst>
          </p:cNvPr>
          <p:cNvSpPr/>
          <p:nvPr/>
        </p:nvSpPr>
        <p:spPr>
          <a:xfrm>
            <a:off x="453168" y="432256"/>
            <a:ext cx="1732623" cy="12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kern="0" spc="4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ADVANCED INSIGHTS</a:t>
            </a:r>
            <a:endParaRPr lang="en-US" sz="1600" dirty="0"/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213A2263-6315-7316-43DB-9A10BB3E4BB4}"/>
              </a:ext>
            </a:extLst>
          </p:cNvPr>
          <p:cNvSpPr/>
          <p:nvPr/>
        </p:nvSpPr>
        <p:spPr>
          <a:xfrm>
            <a:off x="348592" y="697184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深度洞察：基因图谱与热失控预警</a:t>
            </a:r>
            <a:endParaRPr lang="en-US" sz="1600" dirty="0"/>
          </a:p>
        </p:txBody>
      </p:sp>
      <p:sp>
        <p:nvSpPr>
          <p:cNvPr id="84" name="Shape 3">
            <a:extLst>
              <a:ext uri="{FF2B5EF4-FFF2-40B4-BE49-F238E27FC236}">
                <a16:creationId xmlns:a16="http://schemas.microsoft.com/office/drawing/2014/main" id="{024A1189-A7B2-8646-0CB6-1915A1B137C1}"/>
              </a:ext>
            </a:extLst>
          </p:cNvPr>
          <p:cNvSpPr/>
          <p:nvPr/>
        </p:nvSpPr>
        <p:spPr>
          <a:xfrm>
            <a:off x="348592" y="1150353"/>
            <a:ext cx="697184" cy="34859"/>
          </a:xfrm>
          <a:custGeom>
            <a:avLst/>
            <a:gdLst/>
            <a:ahLst/>
            <a:cxnLst/>
            <a:rect l="l" t="t" r="r" b="b"/>
            <a:pathLst>
              <a:path w="697184" h="34859">
                <a:moveTo>
                  <a:pt x="0" y="0"/>
                </a:moveTo>
                <a:lnTo>
                  <a:pt x="697184" y="0"/>
                </a:lnTo>
                <a:lnTo>
                  <a:pt x="697184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50">
            <a:extLst>
              <a:ext uri="{FF2B5EF4-FFF2-40B4-BE49-F238E27FC236}">
                <a16:creationId xmlns:a16="http://schemas.microsoft.com/office/drawing/2014/main" id="{E8BE20F6-02A5-8C9B-8460-B3CCB2CECD9C}"/>
              </a:ext>
            </a:extLst>
          </p:cNvPr>
          <p:cNvSpPr/>
          <p:nvPr/>
        </p:nvSpPr>
        <p:spPr>
          <a:xfrm>
            <a:off x="6466063" y="2157981"/>
            <a:ext cx="151736" cy="202314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50">
            <a:extLst>
              <a:ext uri="{FF2B5EF4-FFF2-40B4-BE49-F238E27FC236}">
                <a16:creationId xmlns:a16="http://schemas.microsoft.com/office/drawing/2014/main" id="{3D2C55AB-1476-9381-7C2E-0061DAE57DEE}"/>
              </a:ext>
            </a:extLst>
          </p:cNvPr>
          <p:cNvSpPr/>
          <p:nvPr/>
        </p:nvSpPr>
        <p:spPr>
          <a:xfrm>
            <a:off x="11274896" y="3940733"/>
            <a:ext cx="151736" cy="202314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50">
            <a:extLst>
              <a:ext uri="{FF2B5EF4-FFF2-40B4-BE49-F238E27FC236}">
                <a16:creationId xmlns:a16="http://schemas.microsoft.com/office/drawing/2014/main" id="{F957A1E2-25DB-46F8-63D1-82DFA1675E9A}"/>
              </a:ext>
            </a:extLst>
          </p:cNvPr>
          <p:cNvSpPr/>
          <p:nvPr/>
        </p:nvSpPr>
        <p:spPr>
          <a:xfrm>
            <a:off x="6466063" y="5433942"/>
            <a:ext cx="151736" cy="202314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48">
            <a:extLst>
              <a:ext uri="{FF2B5EF4-FFF2-40B4-BE49-F238E27FC236}">
                <a16:creationId xmlns:a16="http://schemas.microsoft.com/office/drawing/2014/main" id="{A0E6E3FA-B259-8233-3C79-465E433730F7}"/>
              </a:ext>
            </a:extLst>
          </p:cNvPr>
          <p:cNvSpPr/>
          <p:nvPr/>
        </p:nvSpPr>
        <p:spPr>
          <a:xfrm>
            <a:off x="6451577" y="2775834"/>
            <a:ext cx="201428" cy="201428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48">
            <a:extLst>
              <a:ext uri="{FF2B5EF4-FFF2-40B4-BE49-F238E27FC236}">
                <a16:creationId xmlns:a16="http://schemas.microsoft.com/office/drawing/2014/main" id="{BF197FC0-E780-5CB5-9067-F424B20C4DF7}"/>
              </a:ext>
            </a:extLst>
          </p:cNvPr>
          <p:cNvSpPr/>
          <p:nvPr/>
        </p:nvSpPr>
        <p:spPr>
          <a:xfrm>
            <a:off x="11260410" y="4492484"/>
            <a:ext cx="201428" cy="201428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48">
            <a:extLst>
              <a:ext uri="{FF2B5EF4-FFF2-40B4-BE49-F238E27FC236}">
                <a16:creationId xmlns:a16="http://schemas.microsoft.com/office/drawing/2014/main" id="{3B1660E2-C588-2D14-7C99-D660C002B75E}"/>
              </a:ext>
            </a:extLst>
          </p:cNvPr>
          <p:cNvSpPr/>
          <p:nvPr/>
        </p:nvSpPr>
        <p:spPr>
          <a:xfrm>
            <a:off x="6451577" y="5955914"/>
            <a:ext cx="201428" cy="201428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69FC-B976-D24F-3B69-B8A82EF3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0" descr="https://kimi-img.moonshot.cn/pub/slides/slides_tmpl/image/25-09-04-11:32:05-d2sggde1bb2p4onbok20.jpg">
            <a:extLst>
              <a:ext uri="{FF2B5EF4-FFF2-40B4-BE49-F238E27FC236}">
                <a16:creationId xmlns:a16="http://schemas.microsoft.com/office/drawing/2014/main" id="{23352FDC-CF50-E40A-9E15-1B9858F59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81" name="Shape 0">
            <a:extLst>
              <a:ext uri="{FF2B5EF4-FFF2-40B4-BE49-F238E27FC236}">
                <a16:creationId xmlns:a16="http://schemas.microsoft.com/office/drawing/2014/main" id="{71A4B4C5-884F-D14F-DEF3-8C898C23338A}"/>
              </a:ext>
            </a:extLst>
          </p:cNvPr>
          <p:cNvSpPr/>
          <p:nvPr/>
        </p:nvSpPr>
        <p:spPr>
          <a:xfrm>
            <a:off x="352078" y="354962"/>
            <a:ext cx="2162876" cy="278873"/>
          </a:xfrm>
          <a:custGeom>
            <a:avLst/>
            <a:gdLst/>
            <a:ahLst/>
            <a:cxnLst/>
            <a:rect l="l" t="t" r="r" b="b"/>
            <a:pathLst>
              <a:path w="1586093" h="278873">
                <a:moveTo>
                  <a:pt x="34859" y="0"/>
                </a:moveTo>
                <a:lnTo>
                  <a:pt x="1551234" y="0"/>
                </a:lnTo>
                <a:cubicBezTo>
                  <a:pt x="1570486" y="0"/>
                  <a:pt x="1586093" y="15607"/>
                  <a:pt x="1586093" y="34859"/>
                </a:cubicBezTo>
                <a:lnTo>
                  <a:pt x="1586093" y="244014"/>
                </a:lnTo>
                <a:cubicBezTo>
                  <a:pt x="1586093" y="263266"/>
                  <a:pt x="1570486" y="278873"/>
                  <a:pt x="1551234" y="278873"/>
                </a:cubicBezTo>
                <a:lnTo>
                  <a:pt x="34859" y="278873"/>
                </a:lnTo>
                <a:cubicBezTo>
                  <a:pt x="15607" y="278873"/>
                  <a:pt x="0" y="263266"/>
                  <a:pt x="0" y="24401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1">
            <a:extLst>
              <a:ext uri="{FF2B5EF4-FFF2-40B4-BE49-F238E27FC236}">
                <a16:creationId xmlns:a16="http://schemas.microsoft.com/office/drawing/2014/main" id="{085C9897-F55C-62EF-1012-662EE822F3BA}"/>
              </a:ext>
            </a:extLst>
          </p:cNvPr>
          <p:cNvSpPr/>
          <p:nvPr/>
        </p:nvSpPr>
        <p:spPr>
          <a:xfrm>
            <a:off x="453168" y="432256"/>
            <a:ext cx="1732623" cy="12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kern="0" spc="4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ADVANCED INSIGHTS</a:t>
            </a:r>
            <a:endParaRPr lang="en-US" sz="1600" dirty="0"/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88C9338F-A8BD-9491-B91C-A4C7789AD7AC}"/>
              </a:ext>
            </a:extLst>
          </p:cNvPr>
          <p:cNvSpPr/>
          <p:nvPr/>
        </p:nvSpPr>
        <p:spPr>
          <a:xfrm>
            <a:off x="348592" y="697184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800" b="1" kern="0" spc="46" dirty="0">
                <a:solidFill>
                  <a:srgbClr val="EDF2F4"/>
                </a:solidFill>
                <a:latin typeface="+mn-ea"/>
                <a:cs typeface="Alimama ShuHeiTi" pitchFamily="34" charset="-120"/>
              </a:rPr>
              <a:t>材料本征的</a:t>
            </a:r>
            <a:r>
              <a:rPr lang="en-US" altLang="zh-CN" sz="2800" b="1" kern="0" spc="46" dirty="0">
                <a:solidFill>
                  <a:srgbClr val="EDF2F4"/>
                </a:solidFill>
                <a:latin typeface="+mn-ea"/>
                <a:cs typeface="Alimama ShuHeiTi" pitchFamily="34" charset="-120"/>
              </a:rPr>
              <a:t>热失控策略</a:t>
            </a:r>
            <a:endParaRPr lang="en-US" altLang="zh-CN" sz="2000" dirty="0">
              <a:latin typeface="+mn-ea"/>
            </a:endParaRPr>
          </a:p>
        </p:txBody>
      </p:sp>
      <p:sp>
        <p:nvSpPr>
          <p:cNvPr id="84" name="Shape 3">
            <a:extLst>
              <a:ext uri="{FF2B5EF4-FFF2-40B4-BE49-F238E27FC236}">
                <a16:creationId xmlns:a16="http://schemas.microsoft.com/office/drawing/2014/main" id="{7C4A0D6E-8601-CE6D-81E0-724C337D932D}"/>
              </a:ext>
            </a:extLst>
          </p:cNvPr>
          <p:cNvSpPr/>
          <p:nvPr/>
        </p:nvSpPr>
        <p:spPr>
          <a:xfrm>
            <a:off x="348592" y="1150353"/>
            <a:ext cx="697184" cy="34859"/>
          </a:xfrm>
          <a:custGeom>
            <a:avLst/>
            <a:gdLst/>
            <a:ahLst/>
            <a:cxnLst/>
            <a:rect l="l" t="t" r="r" b="b"/>
            <a:pathLst>
              <a:path w="697184" h="34859">
                <a:moveTo>
                  <a:pt x="0" y="0"/>
                </a:moveTo>
                <a:lnTo>
                  <a:pt x="697184" y="0"/>
                </a:lnTo>
                <a:lnTo>
                  <a:pt x="697184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62681B2A-F482-E116-791B-8D7B34D8633C}"/>
              </a:ext>
            </a:extLst>
          </p:cNvPr>
          <p:cNvSpPr/>
          <p:nvPr/>
        </p:nvSpPr>
        <p:spPr>
          <a:xfrm>
            <a:off x="348592" y="1251446"/>
            <a:ext cx="4821464" cy="208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三元锂 (NCM/NCA) vs 磷酸铁锂 (LFP</a:t>
            </a:r>
            <a:r>
              <a:rPr lang="zh-CN" altLang="en-US" sz="107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）</a:t>
            </a:r>
            <a:endParaRPr lang="en-US" sz="1600" dirty="0">
              <a:latin typeface="+mn-ea"/>
            </a:endParaRP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0F27F5FD-0DA0-54E8-2E30-8A602EDCD49C}"/>
              </a:ext>
            </a:extLst>
          </p:cNvPr>
          <p:cNvSpPr/>
          <p:nvPr/>
        </p:nvSpPr>
        <p:spPr>
          <a:xfrm>
            <a:off x="366486" y="1510816"/>
            <a:ext cx="3744686" cy="3463471"/>
          </a:xfrm>
          <a:custGeom>
            <a:avLst/>
            <a:gdLst/>
            <a:ahLst/>
            <a:cxnLst/>
            <a:rect l="l" t="t" r="r" b="b"/>
            <a:pathLst>
              <a:path w="3744686" h="3463471">
                <a:moveTo>
                  <a:pt x="72560" y="0"/>
                </a:moveTo>
                <a:lnTo>
                  <a:pt x="3672126" y="0"/>
                </a:lnTo>
                <a:cubicBezTo>
                  <a:pt x="3712200" y="0"/>
                  <a:pt x="3744686" y="32486"/>
                  <a:pt x="3744686" y="72560"/>
                </a:cubicBezTo>
                <a:lnTo>
                  <a:pt x="3744686" y="3390912"/>
                </a:lnTo>
                <a:cubicBezTo>
                  <a:pt x="3744686" y="3430985"/>
                  <a:pt x="3712200" y="3463471"/>
                  <a:pt x="3672126" y="3463471"/>
                </a:cubicBezTo>
                <a:lnTo>
                  <a:pt x="72560" y="3463471"/>
                </a:lnTo>
                <a:cubicBezTo>
                  <a:pt x="32486" y="3463471"/>
                  <a:pt x="0" y="3430985"/>
                  <a:pt x="0" y="3390912"/>
                </a:cubicBezTo>
                <a:lnTo>
                  <a:pt x="0" y="72560"/>
                </a:lnTo>
                <a:cubicBezTo>
                  <a:pt x="0" y="32513"/>
                  <a:pt x="32513" y="0"/>
                  <a:pt x="7256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7ADD22FC-6B53-EBF8-7B01-A74147CD7471}"/>
              </a:ext>
            </a:extLst>
          </p:cNvPr>
          <p:cNvSpPr/>
          <p:nvPr/>
        </p:nvSpPr>
        <p:spPr>
          <a:xfrm>
            <a:off x="478971" y="1623302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36286" y="0"/>
                </a:moveTo>
                <a:lnTo>
                  <a:pt x="181428" y="0"/>
                </a:lnTo>
                <a:cubicBezTo>
                  <a:pt x="201468" y="0"/>
                  <a:pt x="217714" y="16246"/>
                  <a:pt x="217714" y="36286"/>
                </a:cubicBezTo>
                <a:lnTo>
                  <a:pt x="217714" y="181428"/>
                </a:lnTo>
                <a:cubicBezTo>
                  <a:pt x="217714" y="201468"/>
                  <a:pt x="201468" y="217714"/>
                  <a:pt x="181428" y="217714"/>
                </a:cubicBezTo>
                <a:lnTo>
                  <a:pt x="36286" y="217714"/>
                </a:lnTo>
                <a:cubicBezTo>
                  <a:pt x="16246" y="217714"/>
                  <a:pt x="0" y="201468"/>
                  <a:pt x="0" y="181428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8E33E249-3145-C675-008D-9B42FB50F519}"/>
              </a:ext>
            </a:extLst>
          </p:cNvPr>
          <p:cNvSpPr/>
          <p:nvPr/>
        </p:nvSpPr>
        <p:spPr>
          <a:xfrm>
            <a:off x="533400" y="1677730"/>
            <a:ext cx="108857" cy="108857"/>
          </a:xfrm>
          <a:custGeom>
            <a:avLst/>
            <a:gdLst/>
            <a:ahLst/>
            <a:cxnLst/>
            <a:rect l="l" t="t" r="r" b="b"/>
            <a:pathLst>
              <a:path w="108857" h="108857">
                <a:moveTo>
                  <a:pt x="37420" y="0"/>
                </a:moveTo>
                <a:cubicBezTo>
                  <a:pt x="31785" y="0"/>
                  <a:pt x="27214" y="4571"/>
                  <a:pt x="27214" y="10205"/>
                </a:cubicBezTo>
                <a:lnTo>
                  <a:pt x="27214" y="54429"/>
                </a:lnTo>
                <a:cubicBezTo>
                  <a:pt x="27214" y="60063"/>
                  <a:pt x="31785" y="64634"/>
                  <a:pt x="37420" y="64634"/>
                </a:cubicBezTo>
                <a:lnTo>
                  <a:pt x="51027" y="64634"/>
                </a:lnTo>
                <a:cubicBezTo>
                  <a:pt x="56661" y="64634"/>
                  <a:pt x="61232" y="60063"/>
                  <a:pt x="61232" y="54429"/>
                </a:cubicBezTo>
                <a:lnTo>
                  <a:pt x="61232" y="40821"/>
                </a:lnTo>
                <a:lnTo>
                  <a:pt x="68036" y="40821"/>
                </a:lnTo>
                <a:cubicBezTo>
                  <a:pt x="83067" y="40821"/>
                  <a:pt x="95250" y="53004"/>
                  <a:pt x="95250" y="68036"/>
                </a:cubicBezTo>
                <a:cubicBezTo>
                  <a:pt x="95250" y="83067"/>
                  <a:pt x="83067" y="95250"/>
                  <a:pt x="68036" y="95250"/>
                </a:cubicBezTo>
                <a:lnTo>
                  <a:pt x="6804" y="95250"/>
                </a:lnTo>
                <a:cubicBezTo>
                  <a:pt x="3040" y="95250"/>
                  <a:pt x="0" y="98290"/>
                  <a:pt x="0" y="102054"/>
                </a:cubicBezTo>
                <a:cubicBezTo>
                  <a:pt x="0" y="105817"/>
                  <a:pt x="3040" y="108857"/>
                  <a:pt x="6804" y="108857"/>
                </a:cubicBezTo>
                <a:lnTo>
                  <a:pt x="102054" y="108857"/>
                </a:lnTo>
                <a:cubicBezTo>
                  <a:pt x="105817" y="108857"/>
                  <a:pt x="108857" y="105817"/>
                  <a:pt x="108857" y="102054"/>
                </a:cubicBezTo>
                <a:cubicBezTo>
                  <a:pt x="108857" y="98290"/>
                  <a:pt x="105817" y="95250"/>
                  <a:pt x="102054" y="95250"/>
                </a:cubicBezTo>
                <a:lnTo>
                  <a:pt x="98460" y="95250"/>
                </a:lnTo>
                <a:cubicBezTo>
                  <a:pt x="104924" y="88021"/>
                  <a:pt x="108857" y="78496"/>
                  <a:pt x="108857" y="68036"/>
                </a:cubicBezTo>
                <a:cubicBezTo>
                  <a:pt x="108857" y="45499"/>
                  <a:pt x="90573" y="27214"/>
                  <a:pt x="68036" y="27214"/>
                </a:cubicBezTo>
                <a:lnTo>
                  <a:pt x="61232" y="27214"/>
                </a:lnTo>
                <a:lnTo>
                  <a:pt x="61232" y="10205"/>
                </a:lnTo>
                <a:cubicBezTo>
                  <a:pt x="61232" y="4571"/>
                  <a:pt x="56661" y="0"/>
                  <a:pt x="51027" y="0"/>
                </a:cubicBezTo>
                <a:lnTo>
                  <a:pt x="37420" y="0"/>
                </a:lnTo>
                <a:close/>
                <a:moveTo>
                  <a:pt x="25513" y="74839"/>
                </a:moveTo>
                <a:cubicBezTo>
                  <a:pt x="22686" y="74839"/>
                  <a:pt x="20411" y="77114"/>
                  <a:pt x="20411" y="79942"/>
                </a:cubicBezTo>
                <a:cubicBezTo>
                  <a:pt x="20411" y="82770"/>
                  <a:pt x="22686" y="85045"/>
                  <a:pt x="25513" y="85045"/>
                </a:cubicBezTo>
                <a:lnTo>
                  <a:pt x="62933" y="85045"/>
                </a:lnTo>
                <a:cubicBezTo>
                  <a:pt x="65761" y="85045"/>
                  <a:pt x="68036" y="82770"/>
                  <a:pt x="68036" y="79942"/>
                </a:cubicBezTo>
                <a:cubicBezTo>
                  <a:pt x="68036" y="77114"/>
                  <a:pt x="65761" y="74839"/>
                  <a:pt x="62933" y="74839"/>
                </a:cubicBezTo>
                <a:lnTo>
                  <a:pt x="25513" y="74839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FC18D045-3624-2B59-503B-8378B7D74D18}"/>
              </a:ext>
            </a:extLst>
          </p:cNvPr>
          <p:cNvSpPr/>
          <p:nvPr/>
        </p:nvSpPr>
        <p:spPr>
          <a:xfrm>
            <a:off x="769257" y="1641445"/>
            <a:ext cx="1460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EDF2F4"/>
                </a:solidFill>
                <a:latin typeface="+mn-ea"/>
                <a:cs typeface="Alimama ShuHeiTi" pitchFamily="34" charset="-120"/>
              </a:rPr>
              <a:t>核心物理与化学机制差异</a:t>
            </a:r>
            <a:endParaRPr lang="en-US" sz="1600" dirty="0">
              <a:latin typeface="+mn-ea"/>
            </a:endParaRPr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810183D8-663C-0511-70AF-08D77647D406}"/>
              </a:ext>
            </a:extLst>
          </p:cNvPr>
          <p:cNvSpPr/>
          <p:nvPr/>
        </p:nvSpPr>
        <p:spPr>
          <a:xfrm>
            <a:off x="478971" y="1968016"/>
            <a:ext cx="54429" cy="54429"/>
          </a:xfrm>
          <a:custGeom>
            <a:avLst/>
            <a:gdLst/>
            <a:ahLst/>
            <a:cxnLst/>
            <a:rect l="l" t="t" r="r" b="b"/>
            <a:pathLst>
              <a:path w="54429" h="54429">
                <a:moveTo>
                  <a:pt x="27214" y="0"/>
                </a:moveTo>
                <a:lnTo>
                  <a:pt x="27214" y="0"/>
                </a:lnTo>
                <a:cubicBezTo>
                  <a:pt x="42234" y="0"/>
                  <a:pt x="54429" y="12194"/>
                  <a:pt x="54429" y="27214"/>
                </a:cubicBezTo>
                <a:lnTo>
                  <a:pt x="54429" y="27214"/>
                </a:lnTo>
                <a:cubicBezTo>
                  <a:pt x="54429" y="42234"/>
                  <a:pt x="42234" y="54429"/>
                  <a:pt x="27214" y="54429"/>
                </a:cubicBezTo>
                <a:lnTo>
                  <a:pt x="27214" y="54429"/>
                </a:lnTo>
                <a:cubicBezTo>
                  <a:pt x="12194" y="54429"/>
                  <a:pt x="0" y="42234"/>
                  <a:pt x="0" y="27214"/>
                </a:cubicBezTo>
                <a:lnTo>
                  <a:pt x="0" y="27214"/>
                </a:lnTo>
                <a:cubicBezTo>
                  <a:pt x="0" y="12194"/>
                  <a:pt x="12194" y="0"/>
                  <a:pt x="27214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5BE80ED2-ACE1-5D64-4BE3-DF327D83201B}"/>
              </a:ext>
            </a:extLst>
          </p:cNvPr>
          <p:cNvSpPr/>
          <p:nvPr/>
        </p:nvSpPr>
        <p:spPr>
          <a:xfrm>
            <a:off x="605971" y="1913588"/>
            <a:ext cx="14741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分子结构</a:t>
            </a:r>
            <a:endParaRPr lang="en-US" sz="1600" dirty="0">
              <a:latin typeface="+mn-ea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76465436-A317-9CC3-9C59-80986C02C01A}"/>
              </a:ext>
            </a:extLst>
          </p:cNvPr>
          <p:cNvSpPr/>
          <p:nvPr/>
        </p:nvSpPr>
        <p:spPr>
          <a:xfrm>
            <a:off x="605971" y="2158921"/>
            <a:ext cx="14741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LFP:</a:t>
            </a:r>
            <a:r>
              <a:rPr lang="en-US" sz="786" dirty="0">
                <a:solidFill>
                  <a:srgbClr val="EDF2F4">
                    <a:alpha val="90000"/>
                  </a:srgbClr>
                </a:solidFill>
                <a:latin typeface="+mn-ea"/>
                <a:cs typeface="MiSans" pitchFamily="34" charset="-120"/>
              </a:rPr>
              <a:t> 橄榄石结构，强共价键</a:t>
            </a:r>
            <a:endParaRPr lang="en-US" sz="1600" dirty="0">
              <a:latin typeface="+mn-ea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AF96E5AF-84C2-8FBA-1AAF-6FAF6A8DD3B1}"/>
              </a:ext>
            </a:extLst>
          </p:cNvPr>
          <p:cNvSpPr/>
          <p:nvPr/>
        </p:nvSpPr>
        <p:spPr>
          <a:xfrm>
            <a:off x="605971" y="2404254"/>
            <a:ext cx="14741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chemeClr val="bg2">
                    <a:lumMod val="75000"/>
                  </a:schemeClr>
                </a:solidFill>
                <a:latin typeface="+mn-ea"/>
                <a:cs typeface="MiSans" pitchFamily="34" charset="-120"/>
              </a:rPr>
              <a:t>NCM:</a:t>
            </a:r>
            <a:r>
              <a:rPr lang="en-US" sz="786" dirty="0">
                <a:solidFill>
                  <a:schemeClr val="bg2">
                    <a:lumMod val="75000"/>
                  </a:schemeClr>
                </a:solidFill>
                <a:latin typeface="+mn-ea"/>
                <a:cs typeface="MiSans" pitchFamily="34" charset="-120"/>
              </a:rPr>
              <a:t> </a:t>
            </a:r>
            <a:r>
              <a:rPr lang="en-US" sz="786" dirty="0">
                <a:solidFill>
                  <a:srgbClr val="EDF2F4">
                    <a:alpha val="90000"/>
                  </a:srgbClr>
                </a:solidFill>
                <a:latin typeface="+mn-ea"/>
                <a:cs typeface="MiSans" pitchFamily="34" charset="-120"/>
              </a:rPr>
              <a:t>层状结构，金属-氧键较弱</a:t>
            </a:r>
            <a:endParaRPr lang="en-US" sz="1600" dirty="0">
              <a:latin typeface="+mn-ea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9C4AB5B3-78A4-8C94-7207-0220E204AF8B}"/>
              </a:ext>
            </a:extLst>
          </p:cNvPr>
          <p:cNvSpPr/>
          <p:nvPr/>
        </p:nvSpPr>
        <p:spPr>
          <a:xfrm>
            <a:off x="478971" y="2691137"/>
            <a:ext cx="54429" cy="54429"/>
          </a:xfrm>
          <a:custGeom>
            <a:avLst/>
            <a:gdLst/>
            <a:ahLst/>
            <a:cxnLst/>
            <a:rect l="l" t="t" r="r" b="b"/>
            <a:pathLst>
              <a:path w="54429" h="54429">
                <a:moveTo>
                  <a:pt x="27214" y="0"/>
                </a:moveTo>
                <a:lnTo>
                  <a:pt x="27214" y="0"/>
                </a:lnTo>
                <a:cubicBezTo>
                  <a:pt x="42234" y="0"/>
                  <a:pt x="54429" y="12194"/>
                  <a:pt x="54429" y="27214"/>
                </a:cubicBezTo>
                <a:lnTo>
                  <a:pt x="54429" y="27214"/>
                </a:lnTo>
                <a:cubicBezTo>
                  <a:pt x="54429" y="42234"/>
                  <a:pt x="42234" y="54429"/>
                  <a:pt x="27214" y="54429"/>
                </a:cubicBezTo>
                <a:lnTo>
                  <a:pt x="27214" y="54429"/>
                </a:lnTo>
                <a:cubicBezTo>
                  <a:pt x="12194" y="54429"/>
                  <a:pt x="0" y="42234"/>
                  <a:pt x="0" y="27214"/>
                </a:cubicBezTo>
                <a:lnTo>
                  <a:pt x="0" y="27214"/>
                </a:lnTo>
                <a:cubicBezTo>
                  <a:pt x="0" y="12194"/>
                  <a:pt x="12194" y="0"/>
                  <a:pt x="27214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D0C2FBA7-DAD1-2B69-CBA8-7D2D9E564F23}"/>
              </a:ext>
            </a:extLst>
          </p:cNvPr>
          <p:cNvSpPr/>
          <p:nvPr/>
        </p:nvSpPr>
        <p:spPr>
          <a:xfrm>
            <a:off x="605971" y="2649587"/>
            <a:ext cx="984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释氧温度</a:t>
            </a:r>
            <a:endParaRPr lang="en-US" sz="1600" dirty="0">
              <a:latin typeface="+mn-ea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87153C53-8EC7-E3B2-A8B0-06B62B3EEA52}"/>
              </a:ext>
            </a:extLst>
          </p:cNvPr>
          <p:cNvSpPr/>
          <p:nvPr/>
        </p:nvSpPr>
        <p:spPr>
          <a:xfrm>
            <a:off x="605971" y="2894920"/>
            <a:ext cx="984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LFP:</a:t>
            </a:r>
            <a:r>
              <a:rPr lang="en-US" sz="786" dirty="0">
                <a:solidFill>
                  <a:srgbClr val="EDF2F4">
                    <a:alpha val="90000"/>
                  </a:srgbClr>
                </a:solidFill>
                <a:latin typeface="+mn-ea"/>
                <a:cs typeface="MiSans" pitchFamily="34" charset="-120"/>
              </a:rPr>
              <a:t> 约 500-600°C</a:t>
            </a:r>
            <a:endParaRPr lang="en-US" sz="1600" dirty="0">
              <a:latin typeface="+mn-ea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0DD54AF-A206-397A-E260-D45F13920AC4}"/>
              </a:ext>
            </a:extLst>
          </p:cNvPr>
          <p:cNvSpPr/>
          <p:nvPr/>
        </p:nvSpPr>
        <p:spPr>
          <a:xfrm>
            <a:off x="605971" y="3140253"/>
            <a:ext cx="984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chemeClr val="bg2">
                    <a:lumMod val="75000"/>
                  </a:schemeClr>
                </a:solidFill>
                <a:latin typeface="+mn-ea"/>
                <a:cs typeface="MiSans" pitchFamily="34" charset="-120"/>
              </a:rPr>
              <a:t>NCM: </a:t>
            </a:r>
            <a:r>
              <a:rPr lang="en-US" sz="786" dirty="0">
                <a:solidFill>
                  <a:srgbClr val="EDF2F4">
                    <a:alpha val="90000"/>
                  </a:srgbClr>
                </a:solidFill>
                <a:latin typeface="+mn-ea"/>
                <a:cs typeface="MiSans" pitchFamily="34" charset="-120"/>
              </a:rPr>
              <a:t>约 200-300°C</a:t>
            </a:r>
            <a:endParaRPr lang="en-US" sz="1600" dirty="0">
              <a:latin typeface="+mn-ea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A4B9CE13-8A12-8E39-DC2F-14245FFC8849}"/>
              </a:ext>
            </a:extLst>
          </p:cNvPr>
          <p:cNvSpPr/>
          <p:nvPr/>
        </p:nvSpPr>
        <p:spPr>
          <a:xfrm>
            <a:off x="478971" y="3426248"/>
            <a:ext cx="54429" cy="54429"/>
          </a:xfrm>
          <a:custGeom>
            <a:avLst/>
            <a:gdLst/>
            <a:ahLst/>
            <a:cxnLst/>
            <a:rect l="l" t="t" r="r" b="b"/>
            <a:pathLst>
              <a:path w="54429" h="54429">
                <a:moveTo>
                  <a:pt x="27214" y="0"/>
                </a:moveTo>
                <a:lnTo>
                  <a:pt x="27214" y="0"/>
                </a:lnTo>
                <a:cubicBezTo>
                  <a:pt x="42234" y="0"/>
                  <a:pt x="54429" y="12194"/>
                  <a:pt x="54429" y="27214"/>
                </a:cubicBezTo>
                <a:lnTo>
                  <a:pt x="54429" y="27214"/>
                </a:lnTo>
                <a:cubicBezTo>
                  <a:pt x="54429" y="42234"/>
                  <a:pt x="42234" y="54429"/>
                  <a:pt x="27214" y="54429"/>
                </a:cubicBezTo>
                <a:lnTo>
                  <a:pt x="27214" y="54429"/>
                </a:lnTo>
                <a:cubicBezTo>
                  <a:pt x="12194" y="54429"/>
                  <a:pt x="0" y="42234"/>
                  <a:pt x="0" y="27214"/>
                </a:cubicBezTo>
                <a:lnTo>
                  <a:pt x="0" y="27214"/>
                </a:lnTo>
                <a:cubicBezTo>
                  <a:pt x="0" y="12194"/>
                  <a:pt x="12194" y="0"/>
                  <a:pt x="27214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651BDCB5-4CA8-2AD1-DCFF-482A3E351DC4}"/>
              </a:ext>
            </a:extLst>
          </p:cNvPr>
          <p:cNvSpPr/>
          <p:nvPr/>
        </p:nvSpPr>
        <p:spPr>
          <a:xfrm>
            <a:off x="605971" y="3385586"/>
            <a:ext cx="151946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产热量</a:t>
            </a:r>
            <a:endParaRPr lang="en-US" sz="1600" dirty="0">
              <a:latin typeface="+mn-ea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CC535BC3-50F8-D2B4-D960-BEC849C6C00D}"/>
              </a:ext>
            </a:extLst>
          </p:cNvPr>
          <p:cNvSpPr/>
          <p:nvPr/>
        </p:nvSpPr>
        <p:spPr>
          <a:xfrm>
            <a:off x="605971" y="3630919"/>
            <a:ext cx="151946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LFP:</a:t>
            </a:r>
            <a:r>
              <a:rPr lang="en-US" sz="786" dirty="0">
                <a:solidFill>
                  <a:srgbClr val="EDF2F4">
                    <a:alpha val="90000"/>
                  </a:srgbClr>
                </a:solidFill>
                <a:latin typeface="+mn-ea"/>
                <a:cs typeface="MiSans" pitchFamily="34" charset="-120"/>
              </a:rPr>
              <a:t> 较低 (约 200-400 J/g)</a:t>
            </a:r>
            <a:endParaRPr lang="en-US" sz="1600" dirty="0">
              <a:latin typeface="+mn-ea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7DB2FC43-6181-A553-C1B6-3D8691E982CD}"/>
              </a:ext>
            </a:extLst>
          </p:cNvPr>
          <p:cNvSpPr/>
          <p:nvPr/>
        </p:nvSpPr>
        <p:spPr>
          <a:xfrm>
            <a:off x="605971" y="3876252"/>
            <a:ext cx="151946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chemeClr val="bg2">
                    <a:lumMod val="75000"/>
                  </a:schemeClr>
                </a:solidFill>
                <a:latin typeface="+mn-ea"/>
                <a:cs typeface="MiSans" pitchFamily="34" charset="-120"/>
              </a:rPr>
              <a:t>NCM: </a:t>
            </a:r>
            <a:r>
              <a:rPr lang="en-US" sz="786" dirty="0" err="1">
                <a:solidFill>
                  <a:srgbClr val="EDF2F4">
                    <a:alpha val="90000"/>
                  </a:srgbClr>
                </a:solidFill>
                <a:latin typeface="+mn-ea"/>
                <a:cs typeface="MiSans" pitchFamily="34" charset="-120"/>
              </a:rPr>
              <a:t>极高</a:t>
            </a:r>
            <a:r>
              <a:rPr lang="en-US" sz="786" dirty="0">
                <a:solidFill>
                  <a:srgbClr val="EDF2F4">
                    <a:alpha val="90000"/>
                  </a:srgbClr>
                </a:solidFill>
                <a:latin typeface="+mn-ea"/>
                <a:cs typeface="MiSans" pitchFamily="34" charset="-120"/>
              </a:rPr>
              <a:t> (可达 1000-1500 J/g)</a:t>
            </a:r>
            <a:endParaRPr lang="en-US" sz="1600" dirty="0">
              <a:latin typeface="+mn-ea"/>
            </a:endParaRPr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6C51B3E2-26AF-59A1-3361-D36E7CA67C14}"/>
              </a:ext>
            </a:extLst>
          </p:cNvPr>
          <p:cNvSpPr/>
          <p:nvPr/>
        </p:nvSpPr>
        <p:spPr>
          <a:xfrm>
            <a:off x="478971" y="4161602"/>
            <a:ext cx="3519714" cy="7257"/>
          </a:xfrm>
          <a:custGeom>
            <a:avLst/>
            <a:gdLst/>
            <a:ahLst/>
            <a:cxnLst/>
            <a:rect l="l" t="t" r="r" b="b"/>
            <a:pathLst>
              <a:path w="3519714" h="7257">
                <a:moveTo>
                  <a:pt x="0" y="0"/>
                </a:moveTo>
                <a:lnTo>
                  <a:pt x="3519714" y="0"/>
                </a:lnTo>
                <a:lnTo>
                  <a:pt x="3519714" y="7257"/>
                </a:lnTo>
                <a:lnTo>
                  <a:pt x="0" y="7257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F7CE4C4A-F27F-25F8-680A-CD505A6D80A4}"/>
              </a:ext>
            </a:extLst>
          </p:cNvPr>
          <p:cNvSpPr/>
          <p:nvPr/>
        </p:nvSpPr>
        <p:spPr>
          <a:xfrm>
            <a:off x="478971" y="4310373"/>
            <a:ext cx="3569607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反应产物</a:t>
            </a:r>
            <a:endParaRPr lang="en-US" sz="1600" dirty="0">
              <a:latin typeface="+mn-ea"/>
            </a:endParaRPr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053942F0-5D87-828C-93CF-2446758EA3F2}"/>
              </a:ext>
            </a:extLst>
          </p:cNvPr>
          <p:cNvSpPr/>
          <p:nvPr/>
        </p:nvSpPr>
        <p:spPr>
          <a:xfrm>
            <a:off x="478971" y="4547931"/>
            <a:ext cx="1723571" cy="317500"/>
          </a:xfrm>
          <a:custGeom>
            <a:avLst/>
            <a:gdLst/>
            <a:ahLst/>
            <a:cxnLst/>
            <a:rect l="l" t="t" r="r" b="b"/>
            <a:pathLst>
              <a:path w="1723571" h="317500">
                <a:moveTo>
                  <a:pt x="36287" y="0"/>
                </a:moveTo>
                <a:lnTo>
                  <a:pt x="1687284" y="0"/>
                </a:lnTo>
                <a:cubicBezTo>
                  <a:pt x="1707325" y="0"/>
                  <a:pt x="1723571" y="16246"/>
                  <a:pt x="1723571" y="36287"/>
                </a:cubicBezTo>
                <a:lnTo>
                  <a:pt x="1723571" y="281213"/>
                </a:lnTo>
                <a:cubicBezTo>
                  <a:pt x="1723571" y="301254"/>
                  <a:pt x="1707325" y="317500"/>
                  <a:pt x="1687284" y="317500"/>
                </a:cubicBezTo>
                <a:lnTo>
                  <a:pt x="36287" y="317500"/>
                </a:lnTo>
                <a:cubicBezTo>
                  <a:pt x="16246" y="317500"/>
                  <a:pt x="0" y="301254"/>
                  <a:pt x="0" y="281213"/>
                </a:cubicBezTo>
                <a:lnTo>
                  <a:pt x="0" y="36287"/>
                </a:lnTo>
                <a:cubicBezTo>
                  <a:pt x="0" y="16260"/>
                  <a:pt x="16260" y="0"/>
                  <a:pt x="3628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48428F17-C79C-934C-559B-7768CC66C93D}"/>
              </a:ext>
            </a:extLst>
          </p:cNvPr>
          <p:cNvSpPr/>
          <p:nvPr/>
        </p:nvSpPr>
        <p:spPr>
          <a:xfrm>
            <a:off x="551543" y="4584216"/>
            <a:ext cx="1623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LFP</a:t>
            </a:r>
            <a:endParaRPr lang="en-US" sz="1600" dirty="0">
              <a:latin typeface="+mn-ea"/>
            </a:endParaRPr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80AAD9C9-B423-EBBD-AD96-BD596900C59C}"/>
              </a:ext>
            </a:extLst>
          </p:cNvPr>
          <p:cNvSpPr/>
          <p:nvPr/>
        </p:nvSpPr>
        <p:spPr>
          <a:xfrm>
            <a:off x="551543" y="4715752"/>
            <a:ext cx="1623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基本不产生氧气，主要是易燃气体</a:t>
            </a:r>
            <a:endParaRPr lang="en-US" sz="1600" dirty="0">
              <a:latin typeface="+mn-ea"/>
            </a:endParaRPr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E5206813-F5E2-8516-3350-3EE4D9B81F60}"/>
              </a:ext>
            </a:extLst>
          </p:cNvPr>
          <p:cNvSpPr/>
          <p:nvPr/>
        </p:nvSpPr>
        <p:spPr>
          <a:xfrm>
            <a:off x="2273867" y="4547931"/>
            <a:ext cx="1723571" cy="317500"/>
          </a:xfrm>
          <a:custGeom>
            <a:avLst/>
            <a:gdLst/>
            <a:ahLst/>
            <a:cxnLst/>
            <a:rect l="l" t="t" r="r" b="b"/>
            <a:pathLst>
              <a:path w="1723571" h="317500">
                <a:moveTo>
                  <a:pt x="36287" y="0"/>
                </a:moveTo>
                <a:lnTo>
                  <a:pt x="1687284" y="0"/>
                </a:lnTo>
                <a:cubicBezTo>
                  <a:pt x="1707325" y="0"/>
                  <a:pt x="1723571" y="16246"/>
                  <a:pt x="1723571" y="36287"/>
                </a:cubicBezTo>
                <a:lnTo>
                  <a:pt x="1723571" y="281213"/>
                </a:lnTo>
                <a:cubicBezTo>
                  <a:pt x="1723571" y="301254"/>
                  <a:pt x="1707325" y="317500"/>
                  <a:pt x="1687284" y="317500"/>
                </a:cubicBezTo>
                <a:lnTo>
                  <a:pt x="36287" y="317500"/>
                </a:lnTo>
                <a:cubicBezTo>
                  <a:pt x="16246" y="317500"/>
                  <a:pt x="0" y="301254"/>
                  <a:pt x="0" y="281213"/>
                </a:cubicBezTo>
                <a:lnTo>
                  <a:pt x="0" y="36287"/>
                </a:lnTo>
                <a:cubicBezTo>
                  <a:pt x="0" y="16260"/>
                  <a:pt x="16260" y="0"/>
                  <a:pt x="36287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9000"/>
                  <a:lumMod val="60000"/>
                </a:schemeClr>
              </a:gs>
              <a:gs pos="100000">
                <a:schemeClr val="accent1">
                  <a:lumMod val="30000"/>
                  <a:lumOff val="70000"/>
                  <a:alpha val="2000"/>
                </a:schemeClr>
              </a:gs>
            </a:gsLst>
            <a:lin ang="1800000" scaled="0"/>
          </a:gradFill>
          <a:ln w="10160">
            <a:solidFill>
              <a:schemeClr val="accent4">
                <a:lumMod val="40000"/>
                <a:lumOff val="6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6CAC9AA2-DF88-B7CC-BC99-7E7870F1E406}"/>
              </a:ext>
            </a:extLst>
          </p:cNvPr>
          <p:cNvSpPr/>
          <p:nvPr/>
        </p:nvSpPr>
        <p:spPr>
          <a:xfrm>
            <a:off x="2346438" y="4584216"/>
            <a:ext cx="1623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NCM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D2BE3E94-6436-E7A6-2A4B-9B4485FF8B4D}"/>
              </a:ext>
            </a:extLst>
          </p:cNvPr>
          <p:cNvSpPr/>
          <p:nvPr/>
        </p:nvSpPr>
        <p:spPr>
          <a:xfrm>
            <a:off x="2346438" y="4715752"/>
            <a:ext cx="1623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剧烈分解并释放活性氧，引发链式燃烧</a:t>
            </a:r>
            <a:endParaRPr lang="en-US" sz="1600" dirty="0">
              <a:latin typeface="+mn-ea"/>
            </a:endParaRPr>
          </a:p>
        </p:txBody>
      </p:sp>
      <p:sp>
        <p:nvSpPr>
          <p:cNvPr id="64" name="Shape 33">
            <a:extLst>
              <a:ext uri="{FF2B5EF4-FFF2-40B4-BE49-F238E27FC236}">
                <a16:creationId xmlns:a16="http://schemas.microsoft.com/office/drawing/2014/main" id="{AF98FCF3-23FB-B826-F959-FDCCB4EC074E}"/>
              </a:ext>
            </a:extLst>
          </p:cNvPr>
          <p:cNvSpPr/>
          <p:nvPr/>
        </p:nvSpPr>
        <p:spPr>
          <a:xfrm>
            <a:off x="366486" y="5094031"/>
            <a:ext cx="3744686" cy="1585686"/>
          </a:xfrm>
          <a:custGeom>
            <a:avLst/>
            <a:gdLst/>
            <a:ahLst/>
            <a:cxnLst/>
            <a:rect l="l" t="t" r="r" b="b"/>
            <a:pathLst>
              <a:path w="3744686" h="1585686">
                <a:moveTo>
                  <a:pt x="72577" y="0"/>
                </a:moveTo>
                <a:lnTo>
                  <a:pt x="3672109" y="0"/>
                </a:lnTo>
                <a:cubicBezTo>
                  <a:pt x="3712192" y="0"/>
                  <a:pt x="3744686" y="32494"/>
                  <a:pt x="3744686" y="72577"/>
                </a:cubicBezTo>
                <a:lnTo>
                  <a:pt x="3744686" y="1513109"/>
                </a:lnTo>
                <a:cubicBezTo>
                  <a:pt x="3744686" y="1553192"/>
                  <a:pt x="3712192" y="1585686"/>
                  <a:pt x="3672109" y="1585686"/>
                </a:cubicBezTo>
                <a:lnTo>
                  <a:pt x="72577" y="1585686"/>
                </a:lnTo>
                <a:cubicBezTo>
                  <a:pt x="32494" y="1585686"/>
                  <a:pt x="0" y="1553192"/>
                  <a:pt x="0" y="1513109"/>
                </a:cubicBezTo>
                <a:lnTo>
                  <a:pt x="0" y="72577"/>
                </a:lnTo>
                <a:cubicBezTo>
                  <a:pt x="0" y="32494"/>
                  <a:pt x="32494" y="0"/>
                  <a:pt x="725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34">
            <a:extLst>
              <a:ext uri="{FF2B5EF4-FFF2-40B4-BE49-F238E27FC236}">
                <a16:creationId xmlns:a16="http://schemas.microsoft.com/office/drawing/2014/main" id="{FA454D15-7309-ACBB-2036-D23A6FB5CC81}"/>
              </a:ext>
            </a:extLst>
          </p:cNvPr>
          <p:cNvSpPr/>
          <p:nvPr/>
        </p:nvSpPr>
        <p:spPr>
          <a:xfrm>
            <a:off x="478971" y="5206516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36286" y="0"/>
                </a:moveTo>
                <a:lnTo>
                  <a:pt x="181428" y="0"/>
                </a:lnTo>
                <a:cubicBezTo>
                  <a:pt x="201468" y="0"/>
                  <a:pt x="217714" y="16246"/>
                  <a:pt x="217714" y="36286"/>
                </a:cubicBezTo>
                <a:lnTo>
                  <a:pt x="217714" y="181428"/>
                </a:lnTo>
                <a:cubicBezTo>
                  <a:pt x="217714" y="201468"/>
                  <a:pt x="201468" y="217714"/>
                  <a:pt x="181428" y="217714"/>
                </a:cubicBezTo>
                <a:lnTo>
                  <a:pt x="36286" y="217714"/>
                </a:lnTo>
                <a:cubicBezTo>
                  <a:pt x="16246" y="217714"/>
                  <a:pt x="0" y="201468"/>
                  <a:pt x="0" y="181428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9000"/>
                  <a:lumMod val="60000"/>
                </a:schemeClr>
              </a:gs>
              <a:gs pos="100000">
                <a:schemeClr val="accent1">
                  <a:lumMod val="30000"/>
                  <a:lumOff val="70000"/>
                  <a:alpha val="2000"/>
                </a:schemeClr>
              </a:gs>
            </a:gsLst>
            <a:lin ang="1800000" scaled="0"/>
          </a:gradFill>
          <a:ln w="10160">
            <a:solidFill>
              <a:schemeClr val="accent4">
                <a:lumMod val="40000"/>
                <a:lumOff val="6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35">
            <a:extLst>
              <a:ext uri="{FF2B5EF4-FFF2-40B4-BE49-F238E27FC236}">
                <a16:creationId xmlns:a16="http://schemas.microsoft.com/office/drawing/2014/main" id="{537EAB74-CE0E-D1FC-5FB2-AC8C3FC3F2FE}"/>
              </a:ext>
            </a:extLst>
          </p:cNvPr>
          <p:cNvSpPr/>
          <p:nvPr/>
        </p:nvSpPr>
        <p:spPr>
          <a:xfrm>
            <a:off x="533400" y="5260945"/>
            <a:ext cx="108857" cy="108857"/>
          </a:xfrm>
          <a:custGeom>
            <a:avLst/>
            <a:gdLst/>
            <a:ahLst/>
            <a:cxnLst/>
            <a:rect l="l" t="t" r="r" b="b"/>
            <a:pathLst>
              <a:path w="108857" h="108857">
                <a:moveTo>
                  <a:pt x="13607" y="13607"/>
                </a:moveTo>
                <a:cubicBezTo>
                  <a:pt x="13607" y="9844"/>
                  <a:pt x="10567" y="6804"/>
                  <a:pt x="6804" y="6804"/>
                </a:cubicBezTo>
                <a:cubicBezTo>
                  <a:pt x="3040" y="6804"/>
                  <a:pt x="0" y="9844"/>
                  <a:pt x="0" y="13607"/>
                </a:cubicBezTo>
                <a:lnTo>
                  <a:pt x="0" y="85045"/>
                </a:lnTo>
                <a:cubicBezTo>
                  <a:pt x="0" y="94442"/>
                  <a:pt x="7611" y="102054"/>
                  <a:pt x="17009" y="102054"/>
                </a:cubicBezTo>
                <a:lnTo>
                  <a:pt x="102054" y="102054"/>
                </a:lnTo>
                <a:cubicBezTo>
                  <a:pt x="105817" y="102054"/>
                  <a:pt x="108857" y="99013"/>
                  <a:pt x="108857" y="95250"/>
                </a:cubicBezTo>
                <a:cubicBezTo>
                  <a:pt x="108857" y="91487"/>
                  <a:pt x="105817" y="88446"/>
                  <a:pt x="102054" y="88446"/>
                </a:cubicBezTo>
                <a:lnTo>
                  <a:pt x="17009" y="88446"/>
                </a:lnTo>
                <a:cubicBezTo>
                  <a:pt x="15138" y="88446"/>
                  <a:pt x="13607" y="86916"/>
                  <a:pt x="13607" y="85045"/>
                </a:cubicBezTo>
                <a:lnTo>
                  <a:pt x="13607" y="13607"/>
                </a:lnTo>
                <a:close/>
                <a:moveTo>
                  <a:pt x="100055" y="32019"/>
                </a:moveTo>
                <a:cubicBezTo>
                  <a:pt x="102713" y="29362"/>
                  <a:pt x="102713" y="25046"/>
                  <a:pt x="100055" y="22388"/>
                </a:cubicBezTo>
                <a:cubicBezTo>
                  <a:pt x="97397" y="19730"/>
                  <a:pt x="93081" y="19730"/>
                  <a:pt x="90424" y="22388"/>
                </a:cubicBezTo>
                <a:lnTo>
                  <a:pt x="68036" y="44797"/>
                </a:lnTo>
                <a:lnTo>
                  <a:pt x="55832" y="32615"/>
                </a:lnTo>
                <a:cubicBezTo>
                  <a:pt x="53174" y="29957"/>
                  <a:pt x="48858" y="29957"/>
                  <a:pt x="46201" y="32615"/>
                </a:cubicBezTo>
                <a:lnTo>
                  <a:pt x="25790" y="53025"/>
                </a:lnTo>
                <a:cubicBezTo>
                  <a:pt x="23132" y="55683"/>
                  <a:pt x="23132" y="59999"/>
                  <a:pt x="25790" y="62657"/>
                </a:cubicBezTo>
                <a:cubicBezTo>
                  <a:pt x="28447" y="65314"/>
                  <a:pt x="32763" y="65314"/>
                  <a:pt x="35421" y="62657"/>
                </a:cubicBezTo>
                <a:lnTo>
                  <a:pt x="51027" y="47051"/>
                </a:lnTo>
                <a:lnTo>
                  <a:pt x="63231" y="59255"/>
                </a:lnTo>
                <a:cubicBezTo>
                  <a:pt x="65888" y="61912"/>
                  <a:pt x="70204" y="61912"/>
                  <a:pt x="72862" y="59255"/>
                </a:cubicBezTo>
                <a:lnTo>
                  <a:pt x="100076" y="3204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36">
            <a:extLst>
              <a:ext uri="{FF2B5EF4-FFF2-40B4-BE49-F238E27FC236}">
                <a16:creationId xmlns:a16="http://schemas.microsoft.com/office/drawing/2014/main" id="{4B8D2646-3511-4BD1-393E-5D236DB21E5C}"/>
              </a:ext>
            </a:extLst>
          </p:cNvPr>
          <p:cNvSpPr/>
          <p:nvPr/>
        </p:nvSpPr>
        <p:spPr>
          <a:xfrm>
            <a:off x="769257" y="5224659"/>
            <a:ext cx="825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EDF2F4"/>
                </a:solidFill>
                <a:latin typeface="+mn-ea"/>
                <a:cs typeface="Alimama ShuHeiTi" pitchFamily="34" charset="-120"/>
              </a:rPr>
              <a:t>关键数据支撑</a:t>
            </a:r>
            <a:endParaRPr lang="en-US" sz="1600" dirty="0">
              <a:latin typeface="+mn-ea"/>
            </a:endParaRPr>
          </a:p>
        </p:txBody>
      </p:sp>
      <p:sp>
        <p:nvSpPr>
          <p:cNvPr id="71" name="Shape 37">
            <a:extLst>
              <a:ext uri="{FF2B5EF4-FFF2-40B4-BE49-F238E27FC236}">
                <a16:creationId xmlns:a16="http://schemas.microsoft.com/office/drawing/2014/main" id="{68338595-9C72-6B6D-A911-538F73653121}"/>
              </a:ext>
            </a:extLst>
          </p:cNvPr>
          <p:cNvSpPr/>
          <p:nvPr/>
        </p:nvSpPr>
        <p:spPr>
          <a:xfrm>
            <a:off x="478971" y="5496802"/>
            <a:ext cx="3519714" cy="226786"/>
          </a:xfrm>
          <a:custGeom>
            <a:avLst/>
            <a:gdLst/>
            <a:ahLst/>
            <a:cxnLst/>
            <a:rect l="l" t="t" r="r" b="b"/>
            <a:pathLst>
              <a:path w="3519714" h="226786">
                <a:moveTo>
                  <a:pt x="36286" y="0"/>
                </a:moveTo>
                <a:lnTo>
                  <a:pt x="3483429" y="0"/>
                </a:lnTo>
                <a:cubicBezTo>
                  <a:pt x="3503469" y="0"/>
                  <a:pt x="3519714" y="16246"/>
                  <a:pt x="3519714" y="36286"/>
                </a:cubicBezTo>
                <a:lnTo>
                  <a:pt x="3519714" y="190500"/>
                </a:lnTo>
                <a:cubicBezTo>
                  <a:pt x="3519714" y="210540"/>
                  <a:pt x="3503469" y="226786"/>
                  <a:pt x="3483429" y="226786"/>
                </a:cubicBezTo>
                <a:lnTo>
                  <a:pt x="36286" y="226786"/>
                </a:lnTo>
                <a:cubicBezTo>
                  <a:pt x="16246" y="226786"/>
                  <a:pt x="0" y="210540"/>
                  <a:pt x="0" y="1905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38">
            <a:extLst>
              <a:ext uri="{FF2B5EF4-FFF2-40B4-BE49-F238E27FC236}">
                <a16:creationId xmlns:a16="http://schemas.microsoft.com/office/drawing/2014/main" id="{70A8D1DA-65A4-4FEA-43D0-25923260D15A}"/>
              </a:ext>
            </a:extLst>
          </p:cNvPr>
          <p:cNvSpPr/>
          <p:nvPr/>
        </p:nvSpPr>
        <p:spPr>
          <a:xfrm>
            <a:off x="551543" y="5533088"/>
            <a:ext cx="875393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dirty="0">
                <a:solidFill>
                  <a:srgbClr val="8D99AE"/>
                </a:solidFill>
                <a:latin typeface="+mn-ea"/>
                <a:cs typeface="MiSans" pitchFamily="34" charset="-120"/>
              </a:rPr>
              <a:t>NCM 811 起始温度</a:t>
            </a:r>
            <a:endParaRPr lang="en-US" sz="1600" dirty="0">
              <a:latin typeface="+mn-ea"/>
            </a:endParaRPr>
          </a:p>
        </p:txBody>
      </p:sp>
      <p:sp>
        <p:nvSpPr>
          <p:cNvPr id="92" name="Text 39">
            <a:extLst>
              <a:ext uri="{FF2B5EF4-FFF2-40B4-BE49-F238E27FC236}">
                <a16:creationId xmlns:a16="http://schemas.microsoft.com/office/drawing/2014/main" id="{A2CDC022-26E1-EE11-9601-89C7584A796A}"/>
              </a:ext>
            </a:extLst>
          </p:cNvPr>
          <p:cNvSpPr/>
          <p:nvPr/>
        </p:nvSpPr>
        <p:spPr>
          <a:xfrm>
            <a:off x="3580606" y="5533088"/>
            <a:ext cx="394607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~200°C</a:t>
            </a:r>
          </a:p>
        </p:txBody>
      </p:sp>
      <p:sp>
        <p:nvSpPr>
          <p:cNvPr id="93" name="Shape 40">
            <a:extLst>
              <a:ext uri="{FF2B5EF4-FFF2-40B4-BE49-F238E27FC236}">
                <a16:creationId xmlns:a16="http://schemas.microsoft.com/office/drawing/2014/main" id="{269EE0E7-BA3E-90AA-CC4F-5E92FC918C63}"/>
              </a:ext>
            </a:extLst>
          </p:cNvPr>
          <p:cNvSpPr/>
          <p:nvPr/>
        </p:nvSpPr>
        <p:spPr>
          <a:xfrm>
            <a:off x="478971" y="5773481"/>
            <a:ext cx="3519714" cy="226786"/>
          </a:xfrm>
          <a:custGeom>
            <a:avLst/>
            <a:gdLst/>
            <a:ahLst/>
            <a:cxnLst/>
            <a:rect l="l" t="t" r="r" b="b"/>
            <a:pathLst>
              <a:path w="3519714" h="226786">
                <a:moveTo>
                  <a:pt x="36286" y="0"/>
                </a:moveTo>
                <a:lnTo>
                  <a:pt x="3483429" y="0"/>
                </a:lnTo>
                <a:cubicBezTo>
                  <a:pt x="3503469" y="0"/>
                  <a:pt x="3519714" y="16246"/>
                  <a:pt x="3519714" y="36286"/>
                </a:cubicBezTo>
                <a:lnTo>
                  <a:pt x="3519714" y="190500"/>
                </a:lnTo>
                <a:cubicBezTo>
                  <a:pt x="3519714" y="210540"/>
                  <a:pt x="3503469" y="226786"/>
                  <a:pt x="3483429" y="226786"/>
                </a:cubicBezTo>
                <a:lnTo>
                  <a:pt x="36286" y="226786"/>
                </a:lnTo>
                <a:cubicBezTo>
                  <a:pt x="16246" y="226786"/>
                  <a:pt x="0" y="210540"/>
                  <a:pt x="0" y="1905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4" name="Text 41">
            <a:extLst>
              <a:ext uri="{FF2B5EF4-FFF2-40B4-BE49-F238E27FC236}">
                <a16:creationId xmlns:a16="http://schemas.microsoft.com/office/drawing/2014/main" id="{99419924-232E-8E69-4592-308B394D2B0B}"/>
              </a:ext>
            </a:extLst>
          </p:cNvPr>
          <p:cNvSpPr/>
          <p:nvPr/>
        </p:nvSpPr>
        <p:spPr>
          <a:xfrm>
            <a:off x="551543" y="5809766"/>
            <a:ext cx="648607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dirty="0">
                <a:solidFill>
                  <a:srgbClr val="8D99AE"/>
                </a:solidFill>
                <a:latin typeface="+mn-ea"/>
                <a:cs typeface="MiSans" pitchFamily="34" charset="-120"/>
              </a:rPr>
              <a:t>LFP 起始温度</a:t>
            </a:r>
            <a:endParaRPr lang="en-US" sz="1600" dirty="0">
              <a:latin typeface="+mn-ea"/>
            </a:endParaRPr>
          </a:p>
        </p:txBody>
      </p:sp>
      <p:sp>
        <p:nvSpPr>
          <p:cNvPr id="95" name="Text 42">
            <a:extLst>
              <a:ext uri="{FF2B5EF4-FFF2-40B4-BE49-F238E27FC236}">
                <a16:creationId xmlns:a16="http://schemas.microsoft.com/office/drawing/2014/main" id="{F4DE0A9B-D1E7-8761-E67F-1E5D1F1E9D79}"/>
              </a:ext>
            </a:extLst>
          </p:cNvPr>
          <p:cNvSpPr/>
          <p:nvPr/>
        </p:nvSpPr>
        <p:spPr>
          <a:xfrm>
            <a:off x="3577091" y="5809766"/>
            <a:ext cx="394607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~500°C</a:t>
            </a:r>
            <a:endParaRPr lang="en-US" sz="1600" dirty="0">
              <a:latin typeface="+mn-ea"/>
            </a:endParaRPr>
          </a:p>
        </p:txBody>
      </p:sp>
      <p:sp>
        <p:nvSpPr>
          <p:cNvPr id="96" name="Shape 43">
            <a:extLst>
              <a:ext uri="{FF2B5EF4-FFF2-40B4-BE49-F238E27FC236}">
                <a16:creationId xmlns:a16="http://schemas.microsoft.com/office/drawing/2014/main" id="{E2704AE6-0561-57E1-CCC1-769E8EAEA7E3}"/>
              </a:ext>
            </a:extLst>
          </p:cNvPr>
          <p:cNvSpPr/>
          <p:nvPr/>
        </p:nvSpPr>
        <p:spPr>
          <a:xfrm>
            <a:off x="478971" y="6050159"/>
            <a:ext cx="3519714" cy="226786"/>
          </a:xfrm>
          <a:custGeom>
            <a:avLst/>
            <a:gdLst/>
            <a:ahLst/>
            <a:cxnLst/>
            <a:rect l="l" t="t" r="r" b="b"/>
            <a:pathLst>
              <a:path w="3519714" h="226786">
                <a:moveTo>
                  <a:pt x="36286" y="0"/>
                </a:moveTo>
                <a:lnTo>
                  <a:pt x="3483429" y="0"/>
                </a:lnTo>
                <a:cubicBezTo>
                  <a:pt x="3503469" y="0"/>
                  <a:pt x="3519714" y="16246"/>
                  <a:pt x="3519714" y="36286"/>
                </a:cubicBezTo>
                <a:lnTo>
                  <a:pt x="3519714" y="190500"/>
                </a:lnTo>
                <a:cubicBezTo>
                  <a:pt x="3519714" y="210540"/>
                  <a:pt x="3503469" y="226786"/>
                  <a:pt x="3483429" y="226786"/>
                </a:cubicBezTo>
                <a:lnTo>
                  <a:pt x="36286" y="226786"/>
                </a:lnTo>
                <a:cubicBezTo>
                  <a:pt x="16246" y="226786"/>
                  <a:pt x="0" y="210540"/>
                  <a:pt x="0" y="1905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7" name="Text 44">
            <a:extLst>
              <a:ext uri="{FF2B5EF4-FFF2-40B4-BE49-F238E27FC236}">
                <a16:creationId xmlns:a16="http://schemas.microsoft.com/office/drawing/2014/main" id="{404578DC-4ACB-B1C1-A069-75BBD43A1D93}"/>
              </a:ext>
            </a:extLst>
          </p:cNvPr>
          <p:cNvSpPr/>
          <p:nvPr/>
        </p:nvSpPr>
        <p:spPr>
          <a:xfrm>
            <a:off x="551543" y="6086445"/>
            <a:ext cx="748393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dirty="0">
                <a:solidFill>
                  <a:srgbClr val="8D99AE"/>
                </a:solidFill>
                <a:latin typeface="+mn-ea"/>
                <a:cs typeface="MiSans" pitchFamily="34" charset="-120"/>
              </a:rPr>
              <a:t>峰值放热速率比</a:t>
            </a:r>
            <a:endParaRPr lang="en-US" sz="1600" dirty="0">
              <a:latin typeface="+mn-ea"/>
            </a:endParaRPr>
          </a:p>
        </p:txBody>
      </p:sp>
      <p:sp>
        <p:nvSpPr>
          <p:cNvPr id="98" name="Text 45">
            <a:extLst>
              <a:ext uri="{FF2B5EF4-FFF2-40B4-BE49-F238E27FC236}">
                <a16:creationId xmlns:a16="http://schemas.microsoft.com/office/drawing/2014/main" id="{D23D7CBE-42CE-D495-574F-EBC8092438C3}"/>
              </a:ext>
            </a:extLst>
          </p:cNvPr>
          <p:cNvSpPr/>
          <p:nvPr/>
        </p:nvSpPr>
        <p:spPr>
          <a:xfrm>
            <a:off x="3250860" y="6086445"/>
            <a:ext cx="721179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NCM:LFP ≈ 5:1</a:t>
            </a:r>
          </a:p>
        </p:txBody>
      </p:sp>
      <p:sp>
        <p:nvSpPr>
          <p:cNvPr id="99" name="Shape 46">
            <a:extLst>
              <a:ext uri="{FF2B5EF4-FFF2-40B4-BE49-F238E27FC236}">
                <a16:creationId xmlns:a16="http://schemas.microsoft.com/office/drawing/2014/main" id="{50CB5BE5-200E-4FD0-FC5E-BED6C4F38E53}"/>
              </a:ext>
            </a:extLst>
          </p:cNvPr>
          <p:cNvSpPr/>
          <p:nvPr/>
        </p:nvSpPr>
        <p:spPr>
          <a:xfrm>
            <a:off x="482600" y="6330466"/>
            <a:ext cx="3508829" cy="234043"/>
          </a:xfrm>
          <a:custGeom>
            <a:avLst/>
            <a:gdLst/>
            <a:ahLst/>
            <a:cxnLst/>
            <a:rect l="l" t="t" r="r" b="b"/>
            <a:pathLst>
              <a:path w="3508829" h="234043">
                <a:moveTo>
                  <a:pt x="36286" y="0"/>
                </a:moveTo>
                <a:lnTo>
                  <a:pt x="3472543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197757"/>
                </a:lnTo>
                <a:cubicBezTo>
                  <a:pt x="3508829" y="217797"/>
                  <a:pt x="3492583" y="234043"/>
                  <a:pt x="3472543" y="234043"/>
                </a:cubicBezTo>
                <a:lnTo>
                  <a:pt x="36286" y="234043"/>
                </a:lnTo>
                <a:cubicBezTo>
                  <a:pt x="16246" y="234043"/>
                  <a:pt x="0" y="217797"/>
                  <a:pt x="0" y="197757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  <a:alpha val="14902"/>
            </a:schemeClr>
          </a:solidFill>
          <a:ln w="10160">
            <a:solidFill>
              <a:schemeClr val="accent4">
                <a:lumMod val="40000"/>
                <a:lumOff val="60000"/>
                <a:alpha val="30196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Text 47">
            <a:extLst>
              <a:ext uri="{FF2B5EF4-FFF2-40B4-BE49-F238E27FC236}">
                <a16:creationId xmlns:a16="http://schemas.microsoft.com/office/drawing/2014/main" id="{9980CA29-EE94-6F4D-3B78-F153C5F09FB9}"/>
              </a:ext>
            </a:extLst>
          </p:cNvPr>
          <p:cNvSpPr/>
          <p:nvPr/>
        </p:nvSpPr>
        <p:spPr>
          <a:xfrm>
            <a:off x="558800" y="6370380"/>
            <a:ext cx="848179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同等容量热量释放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03710B54-C47C-88C3-DF72-561362FBCB05}"/>
              </a:ext>
            </a:extLst>
          </p:cNvPr>
          <p:cNvSpPr/>
          <p:nvPr/>
        </p:nvSpPr>
        <p:spPr>
          <a:xfrm>
            <a:off x="3247458" y="6370380"/>
            <a:ext cx="721179" cy="154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86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NCM ≈ 4× LFP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02" name="Shape 49">
            <a:extLst>
              <a:ext uri="{FF2B5EF4-FFF2-40B4-BE49-F238E27FC236}">
                <a16:creationId xmlns:a16="http://schemas.microsoft.com/office/drawing/2014/main" id="{C4CBA5FC-A56B-A667-391A-1C1CFE5AA130}"/>
              </a:ext>
            </a:extLst>
          </p:cNvPr>
          <p:cNvSpPr/>
          <p:nvPr/>
        </p:nvSpPr>
        <p:spPr>
          <a:xfrm>
            <a:off x="4224791" y="1510816"/>
            <a:ext cx="3744686" cy="2610757"/>
          </a:xfrm>
          <a:custGeom>
            <a:avLst/>
            <a:gdLst/>
            <a:ahLst/>
            <a:cxnLst/>
            <a:rect l="l" t="t" r="r" b="b"/>
            <a:pathLst>
              <a:path w="3744686" h="2610757">
                <a:moveTo>
                  <a:pt x="72579" y="0"/>
                </a:moveTo>
                <a:lnTo>
                  <a:pt x="3672107" y="0"/>
                </a:lnTo>
                <a:cubicBezTo>
                  <a:pt x="3712191" y="0"/>
                  <a:pt x="3744686" y="32495"/>
                  <a:pt x="3744686" y="72579"/>
                </a:cubicBezTo>
                <a:lnTo>
                  <a:pt x="3744686" y="2538178"/>
                </a:lnTo>
                <a:cubicBezTo>
                  <a:pt x="3744686" y="2578262"/>
                  <a:pt x="3712191" y="2610757"/>
                  <a:pt x="3672107" y="2610757"/>
                </a:cubicBezTo>
                <a:lnTo>
                  <a:pt x="72579" y="2610757"/>
                </a:lnTo>
                <a:cubicBezTo>
                  <a:pt x="32522" y="2610757"/>
                  <a:pt x="0" y="2578236"/>
                  <a:pt x="0" y="2538178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9000"/>
                  <a:lumMod val="60000"/>
                </a:schemeClr>
              </a:gs>
              <a:gs pos="100000">
                <a:schemeClr val="accent1">
                  <a:lumMod val="30000"/>
                  <a:lumOff val="70000"/>
                  <a:alpha val="2000"/>
                </a:schemeClr>
              </a:gs>
            </a:gsLst>
            <a:lin ang="1800000" scaled="0"/>
          </a:gradFill>
          <a:ln w="10160">
            <a:solidFill>
              <a:schemeClr val="accent4">
                <a:lumMod val="40000"/>
                <a:lumOff val="6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50">
            <a:extLst>
              <a:ext uri="{FF2B5EF4-FFF2-40B4-BE49-F238E27FC236}">
                <a16:creationId xmlns:a16="http://schemas.microsoft.com/office/drawing/2014/main" id="{677907D7-D655-D356-23FA-4F7420DF0D4F}"/>
              </a:ext>
            </a:extLst>
          </p:cNvPr>
          <p:cNvSpPr/>
          <p:nvPr/>
        </p:nvSpPr>
        <p:spPr>
          <a:xfrm>
            <a:off x="4337277" y="1673195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36286" y="0"/>
                </a:moveTo>
                <a:lnTo>
                  <a:pt x="181428" y="0"/>
                </a:lnTo>
                <a:cubicBezTo>
                  <a:pt x="201468" y="0"/>
                  <a:pt x="217714" y="16246"/>
                  <a:pt x="217714" y="36286"/>
                </a:cubicBezTo>
                <a:lnTo>
                  <a:pt x="217714" y="181428"/>
                </a:lnTo>
                <a:cubicBezTo>
                  <a:pt x="217714" y="201468"/>
                  <a:pt x="201468" y="217714"/>
                  <a:pt x="181428" y="217714"/>
                </a:cubicBezTo>
                <a:lnTo>
                  <a:pt x="36286" y="217714"/>
                </a:lnTo>
                <a:cubicBezTo>
                  <a:pt x="16246" y="217714"/>
                  <a:pt x="0" y="201468"/>
                  <a:pt x="0" y="181428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9000"/>
                  <a:lumMod val="60000"/>
                </a:schemeClr>
              </a:gs>
              <a:gs pos="100000">
                <a:schemeClr val="accent1">
                  <a:lumMod val="30000"/>
                  <a:lumOff val="70000"/>
                  <a:alpha val="2000"/>
                </a:schemeClr>
              </a:gs>
            </a:gsLst>
            <a:lin ang="1800000" scaled="0"/>
          </a:gradFill>
          <a:ln w="10160">
            <a:solidFill>
              <a:schemeClr val="accent4">
                <a:lumMod val="40000"/>
                <a:lumOff val="60000"/>
                <a:alpha val="4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Shape 51">
            <a:extLst>
              <a:ext uri="{FF2B5EF4-FFF2-40B4-BE49-F238E27FC236}">
                <a16:creationId xmlns:a16="http://schemas.microsoft.com/office/drawing/2014/main" id="{E8FF08B4-4744-FDB6-89F7-D8C0F7F5557E}"/>
              </a:ext>
            </a:extLst>
          </p:cNvPr>
          <p:cNvSpPr/>
          <p:nvPr/>
        </p:nvSpPr>
        <p:spPr>
          <a:xfrm>
            <a:off x="4391705" y="1727623"/>
            <a:ext cx="108857" cy="108857"/>
          </a:xfrm>
          <a:custGeom>
            <a:avLst/>
            <a:gdLst/>
            <a:ahLst/>
            <a:cxnLst/>
            <a:rect l="l" t="t" r="r" b="b"/>
            <a:pathLst>
              <a:path w="108857" h="108857">
                <a:moveTo>
                  <a:pt x="54429" y="0"/>
                </a:moveTo>
                <a:cubicBezTo>
                  <a:pt x="55407" y="0"/>
                  <a:pt x="56385" y="213"/>
                  <a:pt x="57278" y="617"/>
                </a:cubicBezTo>
                <a:lnTo>
                  <a:pt x="97334" y="17604"/>
                </a:lnTo>
                <a:cubicBezTo>
                  <a:pt x="102011" y="19582"/>
                  <a:pt x="105498" y="24195"/>
                  <a:pt x="105477" y="29766"/>
                </a:cubicBezTo>
                <a:cubicBezTo>
                  <a:pt x="105370" y="50857"/>
                  <a:pt x="96696" y="89446"/>
                  <a:pt x="60063" y="106986"/>
                </a:cubicBezTo>
                <a:cubicBezTo>
                  <a:pt x="56512" y="108687"/>
                  <a:pt x="52388" y="108687"/>
                  <a:pt x="48837" y="106986"/>
                </a:cubicBezTo>
                <a:cubicBezTo>
                  <a:pt x="12183" y="89446"/>
                  <a:pt x="3529" y="50857"/>
                  <a:pt x="3423" y="29766"/>
                </a:cubicBezTo>
                <a:cubicBezTo>
                  <a:pt x="3402" y="24195"/>
                  <a:pt x="6889" y="19582"/>
                  <a:pt x="11566" y="17604"/>
                </a:cubicBezTo>
                <a:lnTo>
                  <a:pt x="51601" y="617"/>
                </a:lnTo>
                <a:cubicBezTo>
                  <a:pt x="52494" y="213"/>
                  <a:pt x="53451" y="0"/>
                  <a:pt x="54429" y="0"/>
                </a:cubicBezTo>
                <a:close/>
                <a:moveTo>
                  <a:pt x="54429" y="14202"/>
                </a:moveTo>
                <a:lnTo>
                  <a:pt x="54429" y="94591"/>
                </a:lnTo>
                <a:cubicBezTo>
                  <a:pt x="83769" y="80388"/>
                  <a:pt x="91657" y="48922"/>
                  <a:pt x="91848" y="30085"/>
                </a:cubicBezTo>
                <a:lnTo>
                  <a:pt x="54429" y="14224"/>
                </a:lnTo>
                <a:lnTo>
                  <a:pt x="54429" y="14224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52">
            <a:extLst>
              <a:ext uri="{FF2B5EF4-FFF2-40B4-BE49-F238E27FC236}">
                <a16:creationId xmlns:a16="http://schemas.microsoft.com/office/drawing/2014/main" id="{5CA6C8DF-1A0E-3292-4A1F-D1DF34EE80F4}"/>
              </a:ext>
            </a:extLst>
          </p:cNvPr>
          <p:cNvSpPr/>
          <p:nvPr/>
        </p:nvSpPr>
        <p:spPr>
          <a:xfrm>
            <a:off x="4627563" y="1623302"/>
            <a:ext cx="9252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C19721"/>
                </a:solidFill>
                <a:latin typeface="+mn-ea"/>
                <a:cs typeface="Alimama ShuHeiTi" pitchFamily="34" charset="-120"/>
              </a:rPr>
              <a:t>三元锂策略</a:t>
            </a:r>
            <a:endParaRPr lang="en-US" sz="1600" dirty="0">
              <a:solidFill>
                <a:srgbClr val="C19721"/>
              </a:solidFill>
              <a:latin typeface="+mn-ea"/>
            </a:endParaRPr>
          </a:p>
        </p:txBody>
      </p:sp>
      <p:sp>
        <p:nvSpPr>
          <p:cNvPr id="106" name="Text 53">
            <a:extLst>
              <a:ext uri="{FF2B5EF4-FFF2-40B4-BE49-F238E27FC236}">
                <a16:creationId xmlns:a16="http://schemas.microsoft.com/office/drawing/2014/main" id="{0CBE98C2-03C1-18BA-E401-1C7F1F39D9BC}"/>
              </a:ext>
            </a:extLst>
          </p:cNvPr>
          <p:cNvSpPr/>
          <p:nvPr/>
        </p:nvSpPr>
        <p:spPr>
          <a:xfrm>
            <a:off x="4627563" y="1804730"/>
            <a:ext cx="907143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4" dirty="0">
                <a:solidFill>
                  <a:srgbClr val="8D99AE"/>
                </a:solidFill>
                <a:latin typeface="+mn-ea"/>
                <a:cs typeface="MiSans" pitchFamily="34" charset="-120"/>
              </a:rPr>
              <a:t>防御重点: 阻隔与排泄</a:t>
            </a:r>
            <a:endParaRPr lang="en-US" sz="1600" dirty="0">
              <a:latin typeface="+mn-ea"/>
            </a:endParaRPr>
          </a:p>
        </p:txBody>
      </p:sp>
      <p:sp>
        <p:nvSpPr>
          <p:cNvPr id="107" name="Shape 54">
            <a:extLst>
              <a:ext uri="{FF2B5EF4-FFF2-40B4-BE49-F238E27FC236}">
                <a16:creationId xmlns:a16="http://schemas.microsoft.com/office/drawing/2014/main" id="{CE938AF7-0280-F8F0-1E3C-A6514D140C48}"/>
              </a:ext>
            </a:extLst>
          </p:cNvPr>
          <p:cNvSpPr/>
          <p:nvPr/>
        </p:nvSpPr>
        <p:spPr>
          <a:xfrm>
            <a:off x="4344534" y="2013373"/>
            <a:ext cx="3508829" cy="399143"/>
          </a:xfrm>
          <a:custGeom>
            <a:avLst/>
            <a:gdLst/>
            <a:ahLst/>
            <a:cxnLst/>
            <a:rect l="l" t="t" r="r" b="b"/>
            <a:pathLst>
              <a:path w="3508829" h="399143">
                <a:moveTo>
                  <a:pt x="14514" y="0"/>
                </a:moveTo>
                <a:lnTo>
                  <a:pt x="3472542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362857"/>
                </a:lnTo>
                <a:cubicBezTo>
                  <a:pt x="3508829" y="382897"/>
                  <a:pt x="3492583" y="399143"/>
                  <a:pt x="3472542" y="399143"/>
                </a:cubicBez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504"/>
                  <a:pt x="6504" y="0"/>
                  <a:pt x="1451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8" name="Shape 55">
            <a:extLst>
              <a:ext uri="{FF2B5EF4-FFF2-40B4-BE49-F238E27FC236}">
                <a16:creationId xmlns:a16="http://schemas.microsoft.com/office/drawing/2014/main" id="{4461C22B-2232-A311-292A-CE98FAF78083}"/>
              </a:ext>
            </a:extLst>
          </p:cNvPr>
          <p:cNvSpPr/>
          <p:nvPr/>
        </p:nvSpPr>
        <p:spPr>
          <a:xfrm>
            <a:off x="4344534" y="2013373"/>
            <a:ext cx="14514" cy="399143"/>
          </a:xfrm>
          <a:custGeom>
            <a:avLst/>
            <a:gdLst/>
            <a:ahLst/>
            <a:cxnLst/>
            <a:rect l="l" t="t" r="r" b="b"/>
            <a:pathLst>
              <a:path w="14514" h="399143">
                <a:moveTo>
                  <a:pt x="14514" y="0"/>
                </a:moveTo>
                <a:lnTo>
                  <a:pt x="14514" y="0"/>
                </a:lnTo>
                <a:lnTo>
                  <a:pt x="14514" y="399143"/>
                </a:ln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498"/>
                  <a:pt x="6498" y="0"/>
                  <a:pt x="1451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9" name="Shape 56">
            <a:extLst>
              <a:ext uri="{FF2B5EF4-FFF2-40B4-BE49-F238E27FC236}">
                <a16:creationId xmlns:a16="http://schemas.microsoft.com/office/drawing/2014/main" id="{0183DC67-54B3-D534-D8D4-265094EC0AB4}"/>
              </a:ext>
            </a:extLst>
          </p:cNvPr>
          <p:cNvSpPr/>
          <p:nvPr/>
        </p:nvSpPr>
        <p:spPr>
          <a:xfrm>
            <a:off x="4443639" y="2102954"/>
            <a:ext cx="79375" cy="90714"/>
          </a:xfrm>
          <a:custGeom>
            <a:avLst/>
            <a:gdLst/>
            <a:ahLst/>
            <a:cxnLst/>
            <a:rect l="l" t="t" r="r" b="b"/>
            <a:pathLst>
              <a:path w="79375" h="90714">
                <a:moveTo>
                  <a:pt x="60027" y="-1754"/>
                </a:moveTo>
                <a:cubicBezTo>
                  <a:pt x="62136" y="-230"/>
                  <a:pt x="62915" y="2534"/>
                  <a:pt x="61959" y="4943"/>
                </a:cubicBezTo>
                <a:lnTo>
                  <a:pt x="48068" y="39688"/>
                </a:lnTo>
                <a:lnTo>
                  <a:pt x="73705" y="39688"/>
                </a:lnTo>
                <a:cubicBezTo>
                  <a:pt x="76097" y="39688"/>
                  <a:pt x="78223" y="41176"/>
                  <a:pt x="79038" y="43426"/>
                </a:cubicBezTo>
                <a:cubicBezTo>
                  <a:pt x="79853" y="45676"/>
                  <a:pt x="79162" y="48192"/>
                  <a:pt x="77337" y="49716"/>
                </a:cubicBezTo>
                <a:lnTo>
                  <a:pt x="26311" y="92238"/>
                </a:lnTo>
                <a:cubicBezTo>
                  <a:pt x="24309" y="93903"/>
                  <a:pt x="21456" y="93992"/>
                  <a:pt x="19348" y="92468"/>
                </a:cubicBezTo>
                <a:cubicBezTo>
                  <a:pt x="17239" y="90945"/>
                  <a:pt x="16460" y="88181"/>
                  <a:pt x="17416" y="85771"/>
                </a:cubicBezTo>
                <a:lnTo>
                  <a:pt x="31307" y="51027"/>
                </a:lnTo>
                <a:lnTo>
                  <a:pt x="5670" y="51027"/>
                </a:lnTo>
                <a:cubicBezTo>
                  <a:pt x="3278" y="51027"/>
                  <a:pt x="1152" y="49539"/>
                  <a:pt x="337" y="47288"/>
                </a:cubicBezTo>
                <a:cubicBezTo>
                  <a:pt x="-478" y="45038"/>
                  <a:pt x="213" y="42522"/>
                  <a:pt x="2038" y="40999"/>
                </a:cubicBezTo>
                <a:lnTo>
                  <a:pt x="53064" y="-1524"/>
                </a:lnTo>
                <a:cubicBezTo>
                  <a:pt x="55066" y="-3189"/>
                  <a:pt x="57919" y="-3278"/>
                  <a:pt x="60027" y="-175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0" name="Text 57">
            <a:extLst>
              <a:ext uri="{FF2B5EF4-FFF2-40B4-BE49-F238E27FC236}">
                <a16:creationId xmlns:a16="http://schemas.microsoft.com/office/drawing/2014/main" id="{C6AE7840-A37B-65D5-489A-3E8205556497}"/>
              </a:ext>
            </a:extLst>
          </p:cNvPr>
          <p:cNvSpPr/>
          <p:nvPr/>
        </p:nvSpPr>
        <p:spPr>
          <a:xfrm>
            <a:off x="4542291" y="2085945"/>
            <a:ext cx="3288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毫秒级切断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1" name="Text 58">
            <a:extLst>
              <a:ext uri="{FF2B5EF4-FFF2-40B4-BE49-F238E27FC236}">
                <a16:creationId xmlns:a16="http://schemas.microsoft.com/office/drawing/2014/main" id="{DD629F04-97A2-DC5B-B8EA-D638AD23DB9D}"/>
              </a:ext>
            </a:extLst>
          </p:cNvPr>
          <p:cNvSpPr/>
          <p:nvPr/>
        </p:nvSpPr>
        <p:spPr>
          <a:xfrm>
            <a:off x="4424363" y="2228820"/>
            <a:ext cx="3401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高灵敏度传感监测，电压/温度异常瞬间机械或电子切断回路</a:t>
            </a:r>
            <a:endParaRPr lang="en-US" sz="1600" dirty="0">
              <a:latin typeface="+mn-ea"/>
            </a:endParaRPr>
          </a:p>
        </p:txBody>
      </p:sp>
      <p:sp>
        <p:nvSpPr>
          <p:cNvPr id="112" name="Shape 59">
            <a:extLst>
              <a:ext uri="{FF2B5EF4-FFF2-40B4-BE49-F238E27FC236}">
                <a16:creationId xmlns:a16="http://schemas.microsoft.com/office/drawing/2014/main" id="{59147F57-1A3C-8B70-87AF-57E9CA3BB2A7}"/>
              </a:ext>
            </a:extLst>
          </p:cNvPr>
          <p:cNvSpPr/>
          <p:nvPr/>
        </p:nvSpPr>
        <p:spPr>
          <a:xfrm>
            <a:off x="4344534" y="2469213"/>
            <a:ext cx="3508829" cy="399143"/>
          </a:xfrm>
          <a:custGeom>
            <a:avLst/>
            <a:gdLst/>
            <a:ahLst/>
            <a:cxnLst/>
            <a:rect l="l" t="t" r="r" b="b"/>
            <a:pathLst>
              <a:path w="3508829" h="399143">
                <a:moveTo>
                  <a:pt x="14514" y="0"/>
                </a:moveTo>
                <a:lnTo>
                  <a:pt x="3472542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362857"/>
                </a:lnTo>
                <a:cubicBezTo>
                  <a:pt x="3508829" y="382897"/>
                  <a:pt x="3492583" y="399143"/>
                  <a:pt x="3472542" y="399143"/>
                </a:cubicBez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504"/>
                  <a:pt x="6504" y="0"/>
                  <a:pt x="1451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3" name="Shape 60">
            <a:extLst>
              <a:ext uri="{FF2B5EF4-FFF2-40B4-BE49-F238E27FC236}">
                <a16:creationId xmlns:a16="http://schemas.microsoft.com/office/drawing/2014/main" id="{07B56730-5339-A72C-ACD7-6D71642A8AFA}"/>
              </a:ext>
            </a:extLst>
          </p:cNvPr>
          <p:cNvSpPr/>
          <p:nvPr/>
        </p:nvSpPr>
        <p:spPr>
          <a:xfrm>
            <a:off x="4344534" y="2469213"/>
            <a:ext cx="14514" cy="399143"/>
          </a:xfrm>
          <a:custGeom>
            <a:avLst/>
            <a:gdLst/>
            <a:ahLst/>
            <a:cxnLst/>
            <a:rect l="l" t="t" r="r" b="b"/>
            <a:pathLst>
              <a:path w="14514" h="399143">
                <a:moveTo>
                  <a:pt x="14514" y="0"/>
                </a:moveTo>
                <a:lnTo>
                  <a:pt x="14514" y="0"/>
                </a:lnTo>
                <a:lnTo>
                  <a:pt x="14514" y="399143"/>
                </a:ln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498"/>
                  <a:pt x="6498" y="0"/>
                  <a:pt x="1451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4" name="Shape 61">
            <a:extLst>
              <a:ext uri="{FF2B5EF4-FFF2-40B4-BE49-F238E27FC236}">
                <a16:creationId xmlns:a16="http://schemas.microsoft.com/office/drawing/2014/main" id="{0856EE8B-EC26-94F6-4C8E-118576D90632}"/>
              </a:ext>
            </a:extLst>
          </p:cNvPr>
          <p:cNvSpPr/>
          <p:nvPr/>
        </p:nvSpPr>
        <p:spPr>
          <a:xfrm>
            <a:off x="4437970" y="2558793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90714" y="5670"/>
                </a:moveTo>
                <a:cubicBezTo>
                  <a:pt x="90714" y="3969"/>
                  <a:pt x="89952" y="2356"/>
                  <a:pt x="88641" y="1293"/>
                </a:cubicBezTo>
                <a:cubicBezTo>
                  <a:pt x="87330" y="230"/>
                  <a:pt x="85594" y="-230"/>
                  <a:pt x="83928" y="106"/>
                </a:cubicBezTo>
                <a:lnTo>
                  <a:pt x="55580" y="5776"/>
                </a:lnTo>
                <a:cubicBezTo>
                  <a:pt x="53419" y="6219"/>
                  <a:pt x="51735" y="7849"/>
                  <a:pt x="51204" y="9922"/>
                </a:cubicBezTo>
                <a:lnTo>
                  <a:pt x="39688" y="9922"/>
                </a:lnTo>
                <a:lnTo>
                  <a:pt x="39688" y="5670"/>
                </a:lnTo>
                <a:cubicBezTo>
                  <a:pt x="39688" y="2534"/>
                  <a:pt x="37154" y="0"/>
                  <a:pt x="34018" y="0"/>
                </a:cubicBezTo>
                <a:lnTo>
                  <a:pt x="28348" y="0"/>
                </a:lnTo>
                <a:cubicBezTo>
                  <a:pt x="25212" y="0"/>
                  <a:pt x="22679" y="2534"/>
                  <a:pt x="22679" y="5670"/>
                </a:cubicBezTo>
                <a:lnTo>
                  <a:pt x="22679" y="10701"/>
                </a:lnTo>
                <a:cubicBezTo>
                  <a:pt x="12881" y="12881"/>
                  <a:pt x="4731" y="19472"/>
                  <a:pt x="443" y="28260"/>
                </a:cubicBezTo>
                <a:cubicBezTo>
                  <a:pt x="-585" y="30368"/>
                  <a:pt x="283" y="32919"/>
                  <a:pt x="2410" y="33947"/>
                </a:cubicBezTo>
                <a:cubicBezTo>
                  <a:pt x="4536" y="34975"/>
                  <a:pt x="7069" y="34106"/>
                  <a:pt x="8097" y="31980"/>
                </a:cubicBezTo>
                <a:cubicBezTo>
                  <a:pt x="10985" y="26027"/>
                  <a:pt x="16265" y="21456"/>
                  <a:pt x="22679" y="19489"/>
                </a:cubicBezTo>
                <a:lnTo>
                  <a:pt x="22679" y="24592"/>
                </a:lnTo>
                <a:cubicBezTo>
                  <a:pt x="15981" y="27781"/>
                  <a:pt x="11339" y="34603"/>
                  <a:pt x="11339" y="42522"/>
                </a:cubicBezTo>
                <a:lnTo>
                  <a:pt x="11339" y="65201"/>
                </a:lnTo>
                <a:lnTo>
                  <a:pt x="51027" y="65201"/>
                </a:lnTo>
                <a:lnTo>
                  <a:pt x="51027" y="42522"/>
                </a:lnTo>
                <a:cubicBezTo>
                  <a:pt x="51027" y="34603"/>
                  <a:pt x="46385" y="27781"/>
                  <a:pt x="39688" y="24592"/>
                </a:cubicBezTo>
                <a:lnTo>
                  <a:pt x="39688" y="18426"/>
                </a:lnTo>
                <a:lnTo>
                  <a:pt x="51204" y="18426"/>
                </a:lnTo>
                <a:cubicBezTo>
                  <a:pt x="51735" y="20499"/>
                  <a:pt x="53419" y="22129"/>
                  <a:pt x="55580" y="22572"/>
                </a:cubicBezTo>
                <a:lnTo>
                  <a:pt x="83928" y="28242"/>
                </a:lnTo>
                <a:cubicBezTo>
                  <a:pt x="85594" y="28579"/>
                  <a:pt x="87313" y="28136"/>
                  <a:pt x="88641" y="27073"/>
                </a:cubicBezTo>
                <a:cubicBezTo>
                  <a:pt x="89970" y="26009"/>
                  <a:pt x="90714" y="24379"/>
                  <a:pt x="90714" y="22679"/>
                </a:cubicBezTo>
                <a:lnTo>
                  <a:pt x="90714" y="5670"/>
                </a:lnTo>
                <a:close/>
                <a:moveTo>
                  <a:pt x="51027" y="79375"/>
                </a:moveTo>
                <a:lnTo>
                  <a:pt x="51027" y="73705"/>
                </a:lnTo>
                <a:lnTo>
                  <a:pt x="11339" y="73705"/>
                </a:lnTo>
                <a:lnTo>
                  <a:pt x="11339" y="79375"/>
                </a:lnTo>
                <a:cubicBezTo>
                  <a:pt x="11339" y="85629"/>
                  <a:pt x="16424" y="90714"/>
                  <a:pt x="22679" y="90714"/>
                </a:cubicBezTo>
                <a:lnTo>
                  <a:pt x="39688" y="90714"/>
                </a:lnTo>
                <a:cubicBezTo>
                  <a:pt x="45942" y="90714"/>
                  <a:pt x="51027" y="85629"/>
                  <a:pt x="51027" y="7937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5" name="Text 62">
            <a:extLst>
              <a:ext uri="{FF2B5EF4-FFF2-40B4-BE49-F238E27FC236}">
                <a16:creationId xmlns:a16="http://schemas.microsoft.com/office/drawing/2014/main" id="{ED9D210E-BAC2-D80E-2CCA-AE3447A18A96}"/>
              </a:ext>
            </a:extLst>
          </p:cNvPr>
          <p:cNvSpPr/>
          <p:nvPr/>
        </p:nvSpPr>
        <p:spPr>
          <a:xfrm>
            <a:off x="4542291" y="2541784"/>
            <a:ext cx="3288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主动热阻隔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6" name="Text 63">
            <a:extLst>
              <a:ext uri="{FF2B5EF4-FFF2-40B4-BE49-F238E27FC236}">
                <a16:creationId xmlns:a16="http://schemas.microsoft.com/office/drawing/2014/main" id="{73C07852-FCE5-568E-A76C-64416AAE86BA}"/>
              </a:ext>
            </a:extLst>
          </p:cNvPr>
          <p:cNvSpPr/>
          <p:nvPr/>
        </p:nvSpPr>
        <p:spPr>
          <a:xfrm>
            <a:off x="4424363" y="2684659"/>
            <a:ext cx="3401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电芯间使用气凝胶或陶瓷纤维，阻止"多米诺骨牌式"热扩散</a:t>
            </a:r>
            <a:endParaRPr lang="en-US" sz="1600" dirty="0">
              <a:latin typeface="+mn-ea"/>
            </a:endParaRPr>
          </a:p>
        </p:txBody>
      </p:sp>
      <p:sp>
        <p:nvSpPr>
          <p:cNvPr id="117" name="Shape 64">
            <a:extLst>
              <a:ext uri="{FF2B5EF4-FFF2-40B4-BE49-F238E27FC236}">
                <a16:creationId xmlns:a16="http://schemas.microsoft.com/office/drawing/2014/main" id="{6F8AA665-4A90-7585-400D-CF0A79E3F65A}"/>
              </a:ext>
            </a:extLst>
          </p:cNvPr>
          <p:cNvSpPr/>
          <p:nvPr/>
        </p:nvSpPr>
        <p:spPr>
          <a:xfrm>
            <a:off x="4344534" y="2925052"/>
            <a:ext cx="3508829" cy="399143"/>
          </a:xfrm>
          <a:custGeom>
            <a:avLst/>
            <a:gdLst/>
            <a:ahLst/>
            <a:cxnLst/>
            <a:rect l="l" t="t" r="r" b="b"/>
            <a:pathLst>
              <a:path w="3508829" h="399143">
                <a:moveTo>
                  <a:pt x="14514" y="0"/>
                </a:moveTo>
                <a:lnTo>
                  <a:pt x="3472542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362857"/>
                </a:lnTo>
                <a:cubicBezTo>
                  <a:pt x="3508829" y="382897"/>
                  <a:pt x="3492583" y="399143"/>
                  <a:pt x="3472542" y="399143"/>
                </a:cubicBez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504"/>
                  <a:pt x="6504" y="0"/>
                  <a:pt x="1451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8" name="Shape 65">
            <a:extLst>
              <a:ext uri="{FF2B5EF4-FFF2-40B4-BE49-F238E27FC236}">
                <a16:creationId xmlns:a16="http://schemas.microsoft.com/office/drawing/2014/main" id="{D26FD2AA-CD24-1D79-0EC8-D56C069F0143}"/>
              </a:ext>
            </a:extLst>
          </p:cNvPr>
          <p:cNvSpPr/>
          <p:nvPr/>
        </p:nvSpPr>
        <p:spPr>
          <a:xfrm>
            <a:off x="4344534" y="2925052"/>
            <a:ext cx="14514" cy="399143"/>
          </a:xfrm>
          <a:custGeom>
            <a:avLst/>
            <a:gdLst/>
            <a:ahLst/>
            <a:cxnLst/>
            <a:rect l="l" t="t" r="r" b="b"/>
            <a:pathLst>
              <a:path w="14514" h="399143">
                <a:moveTo>
                  <a:pt x="14514" y="0"/>
                </a:moveTo>
                <a:lnTo>
                  <a:pt x="14514" y="0"/>
                </a:lnTo>
                <a:lnTo>
                  <a:pt x="14514" y="399143"/>
                </a:ln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498"/>
                  <a:pt x="6498" y="0"/>
                  <a:pt x="1451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9" name="Shape 66">
            <a:extLst>
              <a:ext uri="{FF2B5EF4-FFF2-40B4-BE49-F238E27FC236}">
                <a16:creationId xmlns:a16="http://schemas.microsoft.com/office/drawing/2014/main" id="{46EDDDE5-69D6-58BC-3460-4BC5B159F423}"/>
              </a:ext>
            </a:extLst>
          </p:cNvPr>
          <p:cNvSpPr/>
          <p:nvPr/>
        </p:nvSpPr>
        <p:spPr>
          <a:xfrm>
            <a:off x="4437970" y="3014632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51027" y="5670"/>
                </a:moveTo>
                <a:cubicBezTo>
                  <a:pt x="51027" y="8806"/>
                  <a:pt x="53560" y="11339"/>
                  <a:pt x="56696" y="11339"/>
                </a:cubicBezTo>
                <a:lnTo>
                  <a:pt x="63783" y="11339"/>
                </a:lnTo>
                <a:cubicBezTo>
                  <a:pt x="66140" y="11339"/>
                  <a:pt x="68036" y="13235"/>
                  <a:pt x="68036" y="15592"/>
                </a:cubicBezTo>
                <a:cubicBezTo>
                  <a:pt x="68036" y="17948"/>
                  <a:pt x="66140" y="19844"/>
                  <a:pt x="63783" y="19844"/>
                </a:cubicBezTo>
                <a:lnTo>
                  <a:pt x="5670" y="19844"/>
                </a:lnTo>
                <a:cubicBezTo>
                  <a:pt x="2534" y="19844"/>
                  <a:pt x="0" y="22377"/>
                  <a:pt x="0" y="25513"/>
                </a:cubicBezTo>
                <a:cubicBezTo>
                  <a:pt x="0" y="28649"/>
                  <a:pt x="2534" y="31183"/>
                  <a:pt x="5670" y="31183"/>
                </a:cubicBezTo>
                <a:lnTo>
                  <a:pt x="63783" y="31183"/>
                </a:lnTo>
                <a:cubicBezTo>
                  <a:pt x="72394" y="31183"/>
                  <a:pt x="79375" y="24202"/>
                  <a:pt x="79375" y="15592"/>
                </a:cubicBezTo>
                <a:cubicBezTo>
                  <a:pt x="79375" y="6981"/>
                  <a:pt x="72394" y="0"/>
                  <a:pt x="63783" y="0"/>
                </a:cubicBezTo>
                <a:lnTo>
                  <a:pt x="56696" y="0"/>
                </a:lnTo>
                <a:cubicBezTo>
                  <a:pt x="53560" y="0"/>
                  <a:pt x="51027" y="2534"/>
                  <a:pt x="51027" y="5670"/>
                </a:cubicBezTo>
                <a:close/>
                <a:moveTo>
                  <a:pt x="62366" y="68036"/>
                </a:moveTo>
                <a:cubicBezTo>
                  <a:pt x="62366" y="71172"/>
                  <a:pt x="64900" y="73705"/>
                  <a:pt x="68036" y="73705"/>
                </a:cubicBezTo>
                <a:lnTo>
                  <a:pt x="73705" y="73705"/>
                </a:lnTo>
                <a:cubicBezTo>
                  <a:pt x="83096" y="73705"/>
                  <a:pt x="90714" y="66087"/>
                  <a:pt x="90714" y="56696"/>
                </a:cubicBezTo>
                <a:cubicBezTo>
                  <a:pt x="90714" y="47306"/>
                  <a:pt x="83096" y="39688"/>
                  <a:pt x="73705" y="39688"/>
                </a:cubicBezTo>
                <a:lnTo>
                  <a:pt x="5670" y="39688"/>
                </a:lnTo>
                <a:cubicBezTo>
                  <a:pt x="2534" y="39688"/>
                  <a:pt x="0" y="42221"/>
                  <a:pt x="0" y="45357"/>
                </a:cubicBezTo>
                <a:cubicBezTo>
                  <a:pt x="0" y="48493"/>
                  <a:pt x="2534" y="51027"/>
                  <a:pt x="5670" y="51027"/>
                </a:cubicBezTo>
                <a:lnTo>
                  <a:pt x="73705" y="51027"/>
                </a:lnTo>
                <a:cubicBezTo>
                  <a:pt x="76841" y="51027"/>
                  <a:pt x="79375" y="53560"/>
                  <a:pt x="79375" y="56696"/>
                </a:cubicBezTo>
                <a:cubicBezTo>
                  <a:pt x="79375" y="59832"/>
                  <a:pt x="76841" y="62366"/>
                  <a:pt x="73705" y="62366"/>
                </a:cubicBezTo>
                <a:lnTo>
                  <a:pt x="68036" y="62366"/>
                </a:lnTo>
                <a:cubicBezTo>
                  <a:pt x="64900" y="62366"/>
                  <a:pt x="62366" y="64900"/>
                  <a:pt x="62366" y="68036"/>
                </a:cubicBezTo>
                <a:close/>
                <a:moveTo>
                  <a:pt x="22679" y="90714"/>
                </a:moveTo>
                <a:lnTo>
                  <a:pt x="29766" y="90714"/>
                </a:lnTo>
                <a:cubicBezTo>
                  <a:pt x="38376" y="90714"/>
                  <a:pt x="45357" y="83734"/>
                  <a:pt x="45357" y="75123"/>
                </a:cubicBezTo>
                <a:cubicBezTo>
                  <a:pt x="45357" y="66512"/>
                  <a:pt x="38376" y="59531"/>
                  <a:pt x="29766" y="59531"/>
                </a:cubicBezTo>
                <a:lnTo>
                  <a:pt x="5670" y="59531"/>
                </a:lnTo>
                <a:cubicBezTo>
                  <a:pt x="2534" y="59531"/>
                  <a:pt x="0" y="62065"/>
                  <a:pt x="0" y="65201"/>
                </a:cubicBezTo>
                <a:cubicBezTo>
                  <a:pt x="0" y="68337"/>
                  <a:pt x="2534" y="70871"/>
                  <a:pt x="5670" y="70871"/>
                </a:cubicBezTo>
                <a:lnTo>
                  <a:pt x="29766" y="70871"/>
                </a:lnTo>
                <a:cubicBezTo>
                  <a:pt x="32122" y="70871"/>
                  <a:pt x="34018" y="72766"/>
                  <a:pt x="34018" y="75123"/>
                </a:cubicBezTo>
                <a:cubicBezTo>
                  <a:pt x="34018" y="77479"/>
                  <a:pt x="32122" y="79375"/>
                  <a:pt x="29766" y="79375"/>
                </a:cubicBezTo>
                <a:lnTo>
                  <a:pt x="22679" y="79375"/>
                </a:lnTo>
                <a:cubicBezTo>
                  <a:pt x="19543" y="79375"/>
                  <a:pt x="17009" y="81909"/>
                  <a:pt x="17009" y="85045"/>
                </a:cubicBezTo>
                <a:cubicBezTo>
                  <a:pt x="17009" y="88181"/>
                  <a:pt x="19543" y="90714"/>
                  <a:pt x="22679" y="9071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0" name="Text 67">
            <a:extLst>
              <a:ext uri="{FF2B5EF4-FFF2-40B4-BE49-F238E27FC236}">
                <a16:creationId xmlns:a16="http://schemas.microsoft.com/office/drawing/2014/main" id="{97D7A7E1-57B5-9D78-9E09-36575C0559C6}"/>
              </a:ext>
            </a:extLst>
          </p:cNvPr>
          <p:cNvSpPr/>
          <p:nvPr/>
        </p:nvSpPr>
        <p:spPr>
          <a:xfrm>
            <a:off x="4542291" y="2997623"/>
            <a:ext cx="3288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定向排气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1" name="Text 68">
            <a:extLst>
              <a:ext uri="{FF2B5EF4-FFF2-40B4-BE49-F238E27FC236}">
                <a16:creationId xmlns:a16="http://schemas.microsoft.com/office/drawing/2014/main" id="{1BD57CC1-8D3E-5EF2-7EA7-BD445642DA9E}"/>
              </a:ext>
            </a:extLst>
          </p:cNvPr>
          <p:cNvSpPr/>
          <p:nvPr/>
        </p:nvSpPr>
        <p:spPr>
          <a:xfrm>
            <a:off x="4424363" y="3140498"/>
            <a:ext cx="3401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超大流量防爆阀，迅速排出高温产物和氧气，降低内压</a:t>
            </a:r>
            <a:endParaRPr lang="en-US" sz="1600" dirty="0">
              <a:latin typeface="+mn-ea"/>
            </a:endParaRPr>
          </a:p>
        </p:txBody>
      </p:sp>
      <p:sp>
        <p:nvSpPr>
          <p:cNvPr id="122" name="Shape 69">
            <a:extLst>
              <a:ext uri="{FF2B5EF4-FFF2-40B4-BE49-F238E27FC236}">
                <a16:creationId xmlns:a16="http://schemas.microsoft.com/office/drawing/2014/main" id="{06063FAD-E701-6D77-D707-790B48289050}"/>
              </a:ext>
            </a:extLst>
          </p:cNvPr>
          <p:cNvSpPr/>
          <p:nvPr/>
        </p:nvSpPr>
        <p:spPr>
          <a:xfrm>
            <a:off x="4344534" y="3380891"/>
            <a:ext cx="3508829" cy="399143"/>
          </a:xfrm>
          <a:custGeom>
            <a:avLst/>
            <a:gdLst/>
            <a:ahLst/>
            <a:cxnLst/>
            <a:rect l="l" t="t" r="r" b="b"/>
            <a:pathLst>
              <a:path w="3508829" h="399143">
                <a:moveTo>
                  <a:pt x="14514" y="0"/>
                </a:moveTo>
                <a:lnTo>
                  <a:pt x="3472542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362857"/>
                </a:lnTo>
                <a:cubicBezTo>
                  <a:pt x="3508829" y="382897"/>
                  <a:pt x="3492583" y="399143"/>
                  <a:pt x="3472542" y="399143"/>
                </a:cubicBez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504"/>
                  <a:pt x="6504" y="0"/>
                  <a:pt x="1451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3" name="Shape 70">
            <a:extLst>
              <a:ext uri="{FF2B5EF4-FFF2-40B4-BE49-F238E27FC236}">
                <a16:creationId xmlns:a16="http://schemas.microsoft.com/office/drawing/2014/main" id="{28194396-CA7B-D4AB-1213-769925C5897E}"/>
              </a:ext>
            </a:extLst>
          </p:cNvPr>
          <p:cNvSpPr/>
          <p:nvPr/>
        </p:nvSpPr>
        <p:spPr>
          <a:xfrm>
            <a:off x="4344534" y="3380891"/>
            <a:ext cx="14514" cy="399143"/>
          </a:xfrm>
          <a:custGeom>
            <a:avLst/>
            <a:gdLst/>
            <a:ahLst/>
            <a:cxnLst/>
            <a:rect l="l" t="t" r="r" b="b"/>
            <a:pathLst>
              <a:path w="14514" h="399143">
                <a:moveTo>
                  <a:pt x="14514" y="0"/>
                </a:moveTo>
                <a:lnTo>
                  <a:pt x="14514" y="0"/>
                </a:lnTo>
                <a:lnTo>
                  <a:pt x="14514" y="399143"/>
                </a:ln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498"/>
                  <a:pt x="6498" y="0"/>
                  <a:pt x="1451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4" name="Shape 71">
            <a:extLst>
              <a:ext uri="{FF2B5EF4-FFF2-40B4-BE49-F238E27FC236}">
                <a16:creationId xmlns:a16="http://schemas.microsoft.com/office/drawing/2014/main" id="{E40BCD60-2682-3949-5CBA-FD0C8D284293}"/>
              </a:ext>
            </a:extLst>
          </p:cNvPr>
          <p:cNvSpPr/>
          <p:nvPr/>
        </p:nvSpPr>
        <p:spPr>
          <a:xfrm>
            <a:off x="4437970" y="3470472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51062" y="0"/>
                </a:moveTo>
                <a:cubicBezTo>
                  <a:pt x="51062" y="-3136"/>
                  <a:pt x="48529" y="-5670"/>
                  <a:pt x="45393" y="-5670"/>
                </a:cubicBezTo>
                <a:cubicBezTo>
                  <a:pt x="42257" y="-5670"/>
                  <a:pt x="39723" y="-3136"/>
                  <a:pt x="39723" y="0"/>
                </a:cubicBezTo>
                <a:lnTo>
                  <a:pt x="39723" y="11003"/>
                </a:lnTo>
                <a:lnTo>
                  <a:pt x="37065" y="8345"/>
                </a:lnTo>
                <a:cubicBezTo>
                  <a:pt x="35400" y="6680"/>
                  <a:pt x="32707" y="6680"/>
                  <a:pt x="31059" y="8345"/>
                </a:cubicBezTo>
                <a:cubicBezTo>
                  <a:pt x="29411" y="10010"/>
                  <a:pt x="29394" y="12704"/>
                  <a:pt x="31059" y="14351"/>
                </a:cubicBezTo>
                <a:lnTo>
                  <a:pt x="39741" y="23033"/>
                </a:lnTo>
                <a:lnTo>
                  <a:pt x="39741" y="35542"/>
                </a:lnTo>
                <a:lnTo>
                  <a:pt x="28897" y="29287"/>
                </a:lnTo>
                <a:lnTo>
                  <a:pt x="25726" y="17434"/>
                </a:lnTo>
                <a:cubicBezTo>
                  <a:pt x="25124" y="15166"/>
                  <a:pt x="22785" y="13820"/>
                  <a:pt x="20517" y="14422"/>
                </a:cubicBezTo>
                <a:cubicBezTo>
                  <a:pt x="18249" y="15025"/>
                  <a:pt x="16885" y="17363"/>
                  <a:pt x="17487" y="19631"/>
                </a:cubicBezTo>
                <a:lnTo>
                  <a:pt x="18462" y="23263"/>
                </a:lnTo>
                <a:lnTo>
                  <a:pt x="8947" y="17771"/>
                </a:lnTo>
                <a:cubicBezTo>
                  <a:pt x="6237" y="16212"/>
                  <a:pt x="2764" y="17133"/>
                  <a:pt x="1205" y="19844"/>
                </a:cubicBezTo>
                <a:cubicBezTo>
                  <a:pt x="-354" y="22555"/>
                  <a:pt x="567" y="26027"/>
                  <a:pt x="3278" y="27586"/>
                </a:cubicBezTo>
                <a:lnTo>
                  <a:pt x="12792" y="33079"/>
                </a:lnTo>
                <a:lnTo>
                  <a:pt x="9160" y="34053"/>
                </a:lnTo>
                <a:cubicBezTo>
                  <a:pt x="6892" y="34656"/>
                  <a:pt x="5546" y="36994"/>
                  <a:pt x="6148" y="39262"/>
                </a:cubicBezTo>
                <a:cubicBezTo>
                  <a:pt x="6750" y="41530"/>
                  <a:pt x="9089" y="42877"/>
                  <a:pt x="11357" y="42274"/>
                </a:cubicBezTo>
                <a:lnTo>
                  <a:pt x="23210" y="39103"/>
                </a:lnTo>
                <a:lnTo>
                  <a:pt x="34053" y="45357"/>
                </a:lnTo>
                <a:lnTo>
                  <a:pt x="23210" y="51611"/>
                </a:lnTo>
                <a:lnTo>
                  <a:pt x="11357" y="48440"/>
                </a:lnTo>
                <a:cubicBezTo>
                  <a:pt x="9089" y="47838"/>
                  <a:pt x="6750" y="49184"/>
                  <a:pt x="6148" y="51452"/>
                </a:cubicBezTo>
                <a:cubicBezTo>
                  <a:pt x="5546" y="53720"/>
                  <a:pt x="6892" y="56059"/>
                  <a:pt x="9160" y="56661"/>
                </a:cubicBezTo>
                <a:lnTo>
                  <a:pt x="12792" y="57635"/>
                </a:lnTo>
                <a:lnTo>
                  <a:pt x="3278" y="63128"/>
                </a:lnTo>
                <a:cubicBezTo>
                  <a:pt x="567" y="64687"/>
                  <a:pt x="-354" y="68160"/>
                  <a:pt x="1205" y="70871"/>
                </a:cubicBezTo>
                <a:cubicBezTo>
                  <a:pt x="2764" y="73581"/>
                  <a:pt x="6237" y="74520"/>
                  <a:pt x="8947" y="72943"/>
                </a:cubicBezTo>
                <a:lnTo>
                  <a:pt x="18462" y="67451"/>
                </a:lnTo>
                <a:lnTo>
                  <a:pt x="17487" y="71083"/>
                </a:lnTo>
                <a:cubicBezTo>
                  <a:pt x="16885" y="73351"/>
                  <a:pt x="18231" y="75690"/>
                  <a:pt x="20499" y="76292"/>
                </a:cubicBezTo>
                <a:cubicBezTo>
                  <a:pt x="22767" y="76895"/>
                  <a:pt x="25106" y="75548"/>
                  <a:pt x="25708" y="73280"/>
                </a:cubicBezTo>
                <a:lnTo>
                  <a:pt x="28880" y="61427"/>
                </a:lnTo>
                <a:lnTo>
                  <a:pt x="39723" y="55173"/>
                </a:lnTo>
                <a:lnTo>
                  <a:pt x="39723" y="67681"/>
                </a:lnTo>
                <a:lnTo>
                  <a:pt x="31041" y="76363"/>
                </a:lnTo>
                <a:cubicBezTo>
                  <a:pt x="29376" y="78028"/>
                  <a:pt x="29376" y="80722"/>
                  <a:pt x="31041" y="82369"/>
                </a:cubicBezTo>
                <a:cubicBezTo>
                  <a:pt x="32707" y="84017"/>
                  <a:pt x="35400" y="84035"/>
                  <a:pt x="37048" y="82369"/>
                </a:cubicBezTo>
                <a:lnTo>
                  <a:pt x="39705" y="79712"/>
                </a:lnTo>
                <a:lnTo>
                  <a:pt x="39705" y="90714"/>
                </a:lnTo>
                <a:cubicBezTo>
                  <a:pt x="39705" y="93850"/>
                  <a:pt x="42239" y="96384"/>
                  <a:pt x="45375" y="96384"/>
                </a:cubicBezTo>
                <a:cubicBezTo>
                  <a:pt x="48511" y="96384"/>
                  <a:pt x="51045" y="93850"/>
                  <a:pt x="51045" y="90714"/>
                </a:cubicBezTo>
                <a:lnTo>
                  <a:pt x="51045" y="79712"/>
                </a:lnTo>
                <a:lnTo>
                  <a:pt x="53702" y="82369"/>
                </a:lnTo>
                <a:cubicBezTo>
                  <a:pt x="55368" y="84035"/>
                  <a:pt x="58061" y="84035"/>
                  <a:pt x="59708" y="82369"/>
                </a:cubicBezTo>
                <a:cubicBezTo>
                  <a:pt x="61356" y="80704"/>
                  <a:pt x="61374" y="78011"/>
                  <a:pt x="59708" y="76363"/>
                </a:cubicBezTo>
                <a:lnTo>
                  <a:pt x="51027" y="67681"/>
                </a:lnTo>
                <a:lnTo>
                  <a:pt x="51027" y="55173"/>
                </a:lnTo>
                <a:lnTo>
                  <a:pt x="61870" y="61427"/>
                </a:lnTo>
                <a:lnTo>
                  <a:pt x="65041" y="73280"/>
                </a:lnTo>
                <a:cubicBezTo>
                  <a:pt x="65644" y="75548"/>
                  <a:pt x="67983" y="76895"/>
                  <a:pt x="70250" y="76292"/>
                </a:cubicBezTo>
                <a:cubicBezTo>
                  <a:pt x="72518" y="75690"/>
                  <a:pt x="73865" y="73351"/>
                  <a:pt x="73262" y="71083"/>
                </a:cubicBezTo>
                <a:lnTo>
                  <a:pt x="72288" y="67451"/>
                </a:lnTo>
                <a:lnTo>
                  <a:pt x="81802" y="72943"/>
                </a:lnTo>
                <a:cubicBezTo>
                  <a:pt x="84513" y="74503"/>
                  <a:pt x="87986" y="73581"/>
                  <a:pt x="89545" y="70871"/>
                </a:cubicBezTo>
                <a:cubicBezTo>
                  <a:pt x="91104" y="68160"/>
                  <a:pt x="90183" y="64687"/>
                  <a:pt x="87472" y="63128"/>
                </a:cubicBezTo>
                <a:lnTo>
                  <a:pt x="77958" y="57635"/>
                </a:lnTo>
                <a:lnTo>
                  <a:pt x="81590" y="56661"/>
                </a:lnTo>
                <a:cubicBezTo>
                  <a:pt x="83858" y="56059"/>
                  <a:pt x="85204" y="53720"/>
                  <a:pt x="84602" y="51452"/>
                </a:cubicBezTo>
                <a:cubicBezTo>
                  <a:pt x="83999" y="49184"/>
                  <a:pt x="81661" y="47838"/>
                  <a:pt x="79393" y="48440"/>
                </a:cubicBezTo>
                <a:lnTo>
                  <a:pt x="67540" y="51611"/>
                </a:lnTo>
                <a:lnTo>
                  <a:pt x="56696" y="45357"/>
                </a:lnTo>
                <a:lnTo>
                  <a:pt x="67540" y="39103"/>
                </a:lnTo>
                <a:lnTo>
                  <a:pt x="79393" y="42274"/>
                </a:lnTo>
                <a:cubicBezTo>
                  <a:pt x="81661" y="42877"/>
                  <a:pt x="83999" y="41530"/>
                  <a:pt x="84602" y="39262"/>
                </a:cubicBezTo>
                <a:cubicBezTo>
                  <a:pt x="85204" y="36994"/>
                  <a:pt x="83858" y="34656"/>
                  <a:pt x="81590" y="34053"/>
                </a:cubicBezTo>
                <a:lnTo>
                  <a:pt x="77958" y="33079"/>
                </a:lnTo>
                <a:lnTo>
                  <a:pt x="87472" y="27586"/>
                </a:lnTo>
                <a:cubicBezTo>
                  <a:pt x="90183" y="26027"/>
                  <a:pt x="91122" y="22555"/>
                  <a:pt x="89545" y="19844"/>
                </a:cubicBezTo>
                <a:cubicBezTo>
                  <a:pt x="87968" y="17133"/>
                  <a:pt x="84513" y="16212"/>
                  <a:pt x="81802" y="17771"/>
                </a:cubicBezTo>
                <a:lnTo>
                  <a:pt x="72288" y="23263"/>
                </a:lnTo>
                <a:lnTo>
                  <a:pt x="73262" y="19631"/>
                </a:lnTo>
                <a:cubicBezTo>
                  <a:pt x="73865" y="17363"/>
                  <a:pt x="72518" y="15025"/>
                  <a:pt x="70250" y="14422"/>
                </a:cubicBezTo>
                <a:cubicBezTo>
                  <a:pt x="67983" y="13820"/>
                  <a:pt x="65644" y="15166"/>
                  <a:pt x="65041" y="17434"/>
                </a:cubicBezTo>
                <a:lnTo>
                  <a:pt x="61870" y="29287"/>
                </a:lnTo>
                <a:lnTo>
                  <a:pt x="51027" y="35542"/>
                </a:lnTo>
                <a:lnTo>
                  <a:pt x="51027" y="23033"/>
                </a:lnTo>
                <a:lnTo>
                  <a:pt x="59708" y="14351"/>
                </a:lnTo>
                <a:cubicBezTo>
                  <a:pt x="61374" y="12686"/>
                  <a:pt x="61374" y="9993"/>
                  <a:pt x="59708" y="8345"/>
                </a:cubicBezTo>
                <a:cubicBezTo>
                  <a:pt x="58043" y="6697"/>
                  <a:pt x="55350" y="6680"/>
                  <a:pt x="53702" y="8345"/>
                </a:cubicBezTo>
                <a:lnTo>
                  <a:pt x="51045" y="11003"/>
                </a:lnTo>
                <a:lnTo>
                  <a:pt x="51045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5" name="Text 72">
            <a:extLst>
              <a:ext uri="{FF2B5EF4-FFF2-40B4-BE49-F238E27FC236}">
                <a16:creationId xmlns:a16="http://schemas.microsoft.com/office/drawing/2014/main" id="{67FF3B95-C298-1364-C871-F79EC3F8A739}"/>
              </a:ext>
            </a:extLst>
          </p:cNvPr>
          <p:cNvSpPr/>
          <p:nvPr/>
        </p:nvSpPr>
        <p:spPr>
          <a:xfrm>
            <a:off x="4542291" y="3453463"/>
            <a:ext cx="3288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系统级冷却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6" name="Text 73">
            <a:extLst>
              <a:ext uri="{FF2B5EF4-FFF2-40B4-BE49-F238E27FC236}">
                <a16:creationId xmlns:a16="http://schemas.microsoft.com/office/drawing/2014/main" id="{0C93F18A-E75A-3A62-105E-EEA545BB0FFA}"/>
              </a:ext>
            </a:extLst>
          </p:cNvPr>
          <p:cNvSpPr/>
          <p:nvPr/>
        </p:nvSpPr>
        <p:spPr>
          <a:xfrm>
            <a:off x="4424363" y="3596338"/>
            <a:ext cx="3401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大功率液冷系统强行带走初始热量，压制在释氧临界点以下</a:t>
            </a:r>
            <a:endParaRPr lang="en-US" sz="1600" dirty="0">
              <a:latin typeface="+mn-ea"/>
            </a:endParaRPr>
          </a:p>
        </p:txBody>
      </p:sp>
      <p:sp>
        <p:nvSpPr>
          <p:cNvPr id="127" name="Shape 74">
            <a:extLst>
              <a:ext uri="{FF2B5EF4-FFF2-40B4-BE49-F238E27FC236}">
                <a16:creationId xmlns:a16="http://schemas.microsoft.com/office/drawing/2014/main" id="{075FE1C7-BF3A-CB8B-E4DF-B6434A913CA7}"/>
              </a:ext>
            </a:extLst>
          </p:cNvPr>
          <p:cNvSpPr/>
          <p:nvPr/>
        </p:nvSpPr>
        <p:spPr>
          <a:xfrm>
            <a:off x="4337277" y="3840359"/>
            <a:ext cx="3519714" cy="7257"/>
          </a:xfrm>
          <a:custGeom>
            <a:avLst/>
            <a:gdLst/>
            <a:ahLst/>
            <a:cxnLst/>
            <a:rect l="l" t="t" r="r" b="b"/>
            <a:pathLst>
              <a:path w="3519714" h="7257">
                <a:moveTo>
                  <a:pt x="0" y="0"/>
                </a:moveTo>
                <a:lnTo>
                  <a:pt x="3519714" y="0"/>
                </a:lnTo>
                <a:lnTo>
                  <a:pt x="3519714" y="7257"/>
                </a:lnTo>
                <a:lnTo>
                  <a:pt x="0" y="7257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8" name="Shape 75">
            <a:extLst>
              <a:ext uri="{FF2B5EF4-FFF2-40B4-BE49-F238E27FC236}">
                <a16:creationId xmlns:a16="http://schemas.microsoft.com/office/drawing/2014/main" id="{963DF539-C3FB-924E-F5E2-529804ED7A8E}"/>
              </a:ext>
            </a:extLst>
          </p:cNvPr>
          <p:cNvSpPr/>
          <p:nvPr/>
        </p:nvSpPr>
        <p:spPr>
          <a:xfrm>
            <a:off x="4350884" y="3905673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45357" y="0"/>
                </a:moveTo>
                <a:cubicBezTo>
                  <a:pt x="47962" y="0"/>
                  <a:pt x="50354" y="1435"/>
                  <a:pt x="51594" y="3721"/>
                </a:cubicBezTo>
                <a:lnTo>
                  <a:pt x="89864" y="74591"/>
                </a:lnTo>
                <a:cubicBezTo>
                  <a:pt x="91051" y="76788"/>
                  <a:pt x="90998" y="79446"/>
                  <a:pt x="89722" y="81590"/>
                </a:cubicBezTo>
                <a:cubicBezTo>
                  <a:pt x="88446" y="83734"/>
                  <a:pt x="86125" y="85045"/>
                  <a:pt x="83627" y="85045"/>
                </a:cubicBezTo>
                <a:lnTo>
                  <a:pt x="7087" y="85045"/>
                </a:lnTo>
                <a:cubicBezTo>
                  <a:pt x="4589" y="85045"/>
                  <a:pt x="2286" y="83734"/>
                  <a:pt x="992" y="81590"/>
                </a:cubicBezTo>
                <a:cubicBezTo>
                  <a:pt x="-301" y="79446"/>
                  <a:pt x="-337" y="76788"/>
                  <a:pt x="850" y="74591"/>
                </a:cubicBezTo>
                <a:lnTo>
                  <a:pt x="39121" y="3721"/>
                </a:lnTo>
                <a:cubicBezTo>
                  <a:pt x="40361" y="1435"/>
                  <a:pt x="42753" y="0"/>
                  <a:pt x="45357" y="0"/>
                </a:cubicBezTo>
                <a:close/>
                <a:moveTo>
                  <a:pt x="45357" y="29766"/>
                </a:moveTo>
                <a:cubicBezTo>
                  <a:pt x="43001" y="29766"/>
                  <a:pt x="41105" y="31661"/>
                  <a:pt x="41105" y="34018"/>
                </a:cubicBezTo>
                <a:lnTo>
                  <a:pt x="41105" y="53862"/>
                </a:lnTo>
                <a:cubicBezTo>
                  <a:pt x="41105" y="56218"/>
                  <a:pt x="43001" y="58114"/>
                  <a:pt x="45357" y="58114"/>
                </a:cubicBezTo>
                <a:cubicBezTo>
                  <a:pt x="47714" y="58114"/>
                  <a:pt x="49609" y="56218"/>
                  <a:pt x="49609" y="53862"/>
                </a:cubicBezTo>
                <a:lnTo>
                  <a:pt x="49609" y="34018"/>
                </a:lnTo>
                <a:cubicBezTo>
                  <a:pt x="49609" y="31661"/>
                  <a:pt x="47714" y="29766"/>
                  <a:pt x="45357" y="29766"/>
                </a:cubicBezTo>
                <a:close/>
                <a:moveTo>
                  <a:pt x="50088" y="68036"/>
                </a:moveTo>
                <a:cubicBezTo>
                  <a:pt x="50195" y="66280"/>
                  <a:pt x="49320" y="64609"/>
                  <a:pt x="47814" y="63699"/>
                </a:cubicBezTo>
                <a:cubicBezTo>
                  <a:pt x="46309" y="62788"/>
                  <a:pt x="44423" y="62788"/>
                  <a:pt x="42918" y="63699"/>
                </a:cubicBezTo>
                <a:cubicBezTo>
                  <a:pt x="41412" y="64609"/>
                  <a:pt x="40537" y="66280"/>
                  <a:pt x="40644" y="68036"/>
                </a:cubicBezTo>
                <a:cubicBezTo>
                  <a:pt x="40537" y="69792"/>
                  <a:pt x="41412" y="71462"/>
                  <a:pt x="42918" y="72373"/>
                </a:cubicBezTo>
                <a:cubicBezTo>
                  <a:pt x="44423" y="73283"/>
                  <a:pt x="46309" y="73283"/>
                  <a:pt x="47814" y="72373"/>
                </a:cubicBezTo>
                <a:cubicBezTo>
                  <a:pt x="49320" y="71462"/>
                  <a:pt x="50195" y="69792"/>
                  <a:pt x="50088" y="6803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9" name="Text 76">
            <a:extLst>
              <a:ext uri="{FF2B5EF4-FFF2-40B4-BE49-F238E27FC236}">
                <a16:creationId xmlns:a16="http://schemas.microsoft.com/office/drawing/2014/main" id="{4FA23712-3D64-CD29-CE20-1AFF7FB9CA1A}"/>
              </a:ext>
            </a:extLst>
          </p:cNvPr>
          <p:cNvSpPr/>
          <p:nvPr/>
        </p:nvSpPr>
        <p:spPr>
          <a:xfrm>
            <a:off x="4481124" y="3898416"/>
            <a:ext cx="3421224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核心挑战:</a:t>
            </a:r>
            <a:r>
              <a:rPr lang="en-US" sz="714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 </a:t>
            </a:r>
            <a:r>
              <a:rPr lang="en-US" sz="714" dirty="0">
                <a:solidFill>
                  <a:schemeClr val="bg1">
                    <a:lumMod val="75000"/>
                  </a:schemeClr>
                </a:solidFill>
                <a:latin typeface="+mn-ea"/>
                <a:cs typeface="MiSans" pitchFamily="34" charset="-120"/>
              </a:rPr>
              <a:t>不可逆自供氧性，即使隔绝空气也会持续燃烧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30" name="Shape 77">
            <a:extLst>
              <a:ext uri="{FF2B5EF4-FFF2-40B4-BE49-F238E27FC236}">
                <a16:creationId xmlns:a16="http://schemas.microsoft.com/office/drawing/2014/main" id="{650D2F7A-CBD4-3AD0-9770-E2FFB515464F}"/>
              </a:ext>
            </a:extLst>
          </p:cNvPr>
          <p:cNvSpPr/>
          <p:nvPr/>
        </p:nvSpPr>
        <p:spPr>
          <a:xfrm>
            <a:off x="4224791" y="4240409"/>
            <a:ext cx="3744686" cy="2438400"/>
          </a:xfrm>
          <a:custGeom>
            <a:avLst/>
            <a:gdLst/>
            <a:ahLst/>
            <a:cxnLst/>
            <a:rect l="l" t="t" r="r" b="b"/>
            <a:pathLst>
              <a:path w="3744686" h="2438400">
                <a:moveTo>
                  <a:pt x="72567" y="0"/>
                </a:moveTo>
                <a:lnTo>
                  <a:pt x="3672119" y="0"/>
                </a:lnTo>
                <a:cubicBezTo>
                  <a:pt x="3712196" y="0"/>
                  <a:pt x="3744686" y="32489"/>
                  <a:pt x="3744686" y="72567"/>
                </a:cubicBezTo>
                <a:lnTo>
                  <a:pt x="3744686" y="2365833"/>
                </a:lnTo>
                <a:cubicBezTo>
                  <a:pt x="3744686" y="2405911"/>
                  <a:pt x="3712196" y="2438400"/>
                  <a:pt x="3672119" y="2438400"/>
                </a:cubicBezTo>
                <a:lnTo>
                  <a:pt x="72567" y="2438400"/>
                </a:lnTo>
                <a:cubicBezTo>
                  <a:pt x="32489" y="2438400"/>
                  <a:pt x="0" y="2405911"/>
                  <a:pt x="0" y="2365833"/>
                </a:cubicBezTo>
                <a:lnTo>
                  <a:pt x="0" y="72567"/>
                </a:lnTo>
                <a:cubicBezTo>
                  <a:pt x="0" y="32489"/>
                  <a:pt x="32489" y="0"/>
                  <a:pt x="7256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C6A">
                  <a:alpha val="20000"/>
                </a:srgbClr>
              </a:gs>
              <a:gs pos="100000">
                <a:srgbClr val="2B2D42">
                  <a:alpha val="50000"/>
                </a:srgbClr>
              </a:gs>
            </a:gsLst>
            <a:lin ang="2700000" scaled="1"/>
          </a:gradFill>
          <a:ln w="10160">
            <a:solidFill>
              <a:srgbClr val="4A5C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Shape 78">
            <a:extLst>
              <a:ext uri="{FF2B5EF4-FFF2-40B4-BE49-F238E27FC236}">
                <a16:creationId xmlns:a16="http://schemas.microsoft.com/office/drawing/2014/main" id="{4A977809-1000-31A1-6B11-011F3661BA9A}"/>
              </a:ext>
            </a:extLst>
          </p:cNvPr>
          <p:cNvSpPr/>
          <p:nvPr/>
        </p:nvSpPr>
        <p:spPr>
          <a:xfrm>
            <a:off x="4337277" y="4402788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36286" y="0"/>
                </a:moveTo>
                <a:lnTo>
                  <a:pt x="181428" y="0"/>
                </a:lnTo>
                <a:cubicBezTo>
                  <a:pt x="201468" y="0"/>
                  <a:pt x="217714" y="16246"/>
                  <a:pt x="217714" y="36286"/>
                </a:cubicBezTo>
                <a:lnTo>
                  <a:pt x="217714" y="181428"/>
                </a:lnTo>
                <a:cubicBezTo>
                  <a:pt x="217714" y="201468"/>
                  <a:pt x="201468" y="217714"/>
                  <a:pt x="181428" y="217714"/>
                </a:cubicBezTo>
                <a:lnTo>
                  <a:pt x="36286" y="217714"/>
                </a:lnTo>
                <a:cubicBezTo>
                  <a:pt x="16246" y="217714"/>
                  <a:pt x="0" y="201468"/>
                  <a:pt x="0" y="181428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2" name="Shape 79">
            <a:extLst>
              <a:ext uri="{FF2B5EF4-FFF2-40B4-BE49-F238E27FC236}">
                <a16:creationId xmlns:a16="http://schemas.microsoft.com/office/drawing/2014/main" id="{EC87895F-993F-473D-4EC4-73DE83B14596}"/>
              </a:ext>
            </a:extLst>
          </p:cNvPr>
          <p:cNvSpPr/>
          <p:nvPr/>
        </p:nvSpPr>
        <p:spPr>
          <a:xfrm>
            <a:off x="4391705" y="4457216"/>
            <a:ext cx="108857" cy="108857"/>
          </a:xfrm>
          <a:custGeom>
            <a:avLst/>
            <a:gdLst/>
            <a:ahLst/>
            <a:cxnLst/>
            <a:rect l="l" t="t" r="r" b="b"/>
            <a:pathLst>
              <a:path w="108857" h="108857">
                <a:moveTo>
                  <a:pt x="54429" y="108857"/>
                </a:moveTo>
                <a:cubicBezTo>
                  <a:pt x="84469" y="108857"/>
                  <a:pt x="108857" y="84469"/>
                  <a:pt x="108857" y="54429"/>
                </a:cubicBezTo>
                <a:cubicBezTo>
                  <a:pt x="108857" y="24389"/>
                  <a:pt x="84469" y="0"/>
                  <a:pt x="54429" y="0"/>
                </a:cubicBezTo>
                <a:cubicBezTo>
                  <a:pt x="24389" y="0"/>
                  <a:pt x="0" y="24389"/>
                  <a:pt x="0" y="54429"/>
                </a:cubicBezTo>
                <a:cubicBezTo>
                  <a:pt x="0" y="84469"/>
                  <a:pt x="24389" y="108857"/>
                  <a:pt x="54429" y="108857"/>
                </a:cubicBezTo>
                <a:close/>
                <a:moveTo>
                  <a:pt x="72373" y="45222"/>
                </a:moveTo>
                <a:lnTo>
                  <a:pt x="55364" y="72437"/>
                </a:lnTo>
                <a:cubicBezTo>
                  <a:pt x="54471" y="73861"/>
                  <a:pt x="52940" y="74754"/>
                  <a:pt x="51261" y="74839"/>
                </a:cubicBezTo>
                <a:cubicBezTo>
                  <a:pt x="49581" y="74924"/>
                  <a:pt x="47965" y="74159"/>
                  <a:pt x="46966" y="72798"/>
                </a:cubicBezTo>
                <a:lnTo>
                  <a:pt x="36761" y="59191"/>
                </a:lnTo>
                <a:cubicBezTo>
                  <a:pt x="35060" y="56937"/>
                  <a:pt x="35527" y="53748"/>
                  <a:pt x="37781" y="52047"/>
                </a:cubicBezTo>
                <a:cubicBezTo>
                  <a:pt x="40035" y="50346"/>
                  <a:pt x="43224" y="50814"/>
                  <a:pt x="44925" y="53068"/>
                </a:cubicBezTo>
                <a:lnTo>
                  <a:pt x="50665" y="60722"/>
                </a:lnTo>
                <a:lnTo>
                  <a:pt x="63720" y="39822"/>
                </a:lnTo>
                <a:cubicBezTo>
                  <a:pt x="65208" y="37441"/>
                  <a:pt x="68355" y="36697"/>
                  <a:pt x="70757" y="38206"/>
                </a:cubicBezTo>
                <a:cubicBezTo>
                  <a:pt x="73160" y="39716"/>
                  <a:pt x="73883" y="42841"/>
                  <a:pt x="72373" y="45244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3" name="Text 80">
            <a:extLst>
              <a:ext uri="{FF2B5EF4-FFF2-40B4-BE49-F238E27FC236}">
                <a16:creationId xmlns:a16="http://schemas.microsoft.com/office/drawing/2014/main" id="{C8A879E5-A73C-CF82-BE3C-74E93BBA2049}"/>
              </a:ext>
            </a:extLst>
          </p:cNvPr>
          <p:cNvSpPr/>
          <p:nvPr/>
        </p:nvSpPr>
        <p:spPr>
          <a:xfrm>
            <a:off x="4627563" y="4352895"/>
            <a:ext cx="9252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8D99AE"/>
                </a:solidFill>
                <a:latin typeface="+mn-ea"/>
                <a:cs typeface="Alimama ShuHeiTi" pitchFamily="34" charset="-120"/>
              </a:rPr>
              <a:t>磷酸铁锂策略</a:t>
            </a:r>
            <a:endParaRPr lang="en-US" sz="1600" dirty="0">
              <a:latin typeface="+mn-ea"/>
            </a:endParaRPr>
          </a:p>
        </p:txBody>
      </p:sp>
      <p:sp>
        <p:nvSpPr>
          <p:cNvPr id="134" name="Text 81">
            <a:extLst>
              <a:ext uri="{FF2B5EF4-FFF2-40B4-BE49-F238E27FC236}">
                <a16:creationId xmlns:a16="http://schemas.microsoft.com/office/drawing/2014/main" id="{327B8A46-DF11-B41F-416A-7AED6A0689A8}"/>
              </a:ext>
            </a:extLst>
          </p:cNvPr>
          <p:cNvSpPr/>
          <p:nvPr/>
        </p:nvSpPr>
        <p:spPr>
          <a:xfrm>
            <a:off x="4627563" y="4534323"/>
            <a:ext cx="907143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4" dirty="0">
                <a:solidFill>
                  <a:srgbClr val="8D99AE"/>
                </a:solidFill>
                <a:latin typeface="+mn-ea"/>
                <a:cs typeface="MiSans" pitchFamily="34" charset="-120"/>
              </a:rPr>
              <a:t>防御重点: 控制与预警</a:t>
            </a:r>
            <a:endParaRPr lang="en-US" sz="1600" dirty="0">
              <a:latin typeface="+mn-ea"/>
            </a:endParaRPr>
          </a:p>
        </p:txBody>
      </p:sp>
      <p:sp>
        <p:nvSpPr>
          <p:cNvPr id="135" name="Shape 82">
            <a:extLst>
              <a:ext uri="{FF2B5EF4-FFF2-40B4-BE49-F238E27FC236}">
                <a16:creationId xmlns:a16="http://schemas.microsoft.com/office/drawing/2014/main" id="{F934390B-DF04-F5D9-C3D0-1A52C770CD3D}"/>
              </a:ext>
            </a:extLst>
          </p:cNvPr>
          <p:cNvSpPr/>
          <p:nvPr/>
        </p:nvSpPr>
        <p:spPr>
          <a:xfrm>
            <a:off x="4344534" y="4742967"/>
            <a:ext cx="3508829" cy="399143"/>
          </a:xfrm>
          <a:custGeom>
            <a:avLst/>
            <a:gdLst/>
            <a:ahLst/>
            <a:cxnLst/>
            <a:rect l="l" t="t" r="r" b="b"/>
            <a:pathLst>
              <a:path w="3508829" h="399143">
                <a:moveTo>
                  <a:pt x="14514" y="0"/>
                </a:moveTo>
                <a:lnTo>
                  <a:pt x="3472542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362857"/>
                </a:lnTo>
                <a:cubicBezTo>
                  <a:pt x="3508829" y="382897"/>
                  <a:pt x="3492583" y="399143"/>
                  <a:pt x="3472542" y="399143"/>
                </a:cubicBez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504"/>
                  <a:pt x="6504" y="0"/>
                  <a:pt x="1451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6" name="Shape 83">
            <a:extLst>
              <a:ext uri="{FF2B5EF4-FFF2-40B4-BE49-F238E27FC236}">
                <a16:creationId xmlns:a16="http://schemas.microsoft.com/office/drawing/2014/main" id="{4765AE53-5E08-E017-04F6-264FEA59F01E}"/>
              </a:ext>
            </a:extLst>
          </p:cNvPr>
          <p:cNvSpPr/>
          <p:nvPr/>
        </p:nvSpPr>
        <p:spPr>
          <a:xfrm>
            <a:off x="4344534" y="4742967"/>
            <a:ext cx="14514" cy="399143"/>
          </a:xfrm>
          <a:custGeom>
            <a:avLst/>
            <a:gdLst/>
            <a:ahLst/>
            <a:cxnLst/>
            <a:rect l="l" t="t" r="r" b="b"/>
            <a:pathLst>
              <a:path w="14514" h="399143">
                <a:moveTo>
                  <a:pt x="14514" y="0"/>
                </a:moveTo>
                <a:lnTo>
                  <a:pt x="14514" y="0"/>
                </a:lnTo>
                <a:lnTo>
                  <a:pt x="14514" y="399143"/>
                </a:ln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498"/>
                  <a:pt x="6498" y="0"/>
                  <a:pt x="14514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7" name="Shape 84">
            <a:extLst>
              <a:ext uri="{FF2B5EF4-FFF2-40B4-BE49-F238E27FC236}">
                <a16:creationId xmlns:a16="http://schemas.microsoft.com/office/drawing/2014/main" id="{58AD8201-5EA2-E12A-07E0-5D2A11DEB7B2}"/>
              </a:ext>
            </a:extLst>
          </p:cNvPr>
          <p:cNvSpPr/>
          <p:nvPr/>
        </p:nvSpPr>
        <p:spPr>
          <a:xfrm>
            <a:off x="4437970" y="4832547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17009" y="17009"/>
                </a:moveTo>
                <a:cubicBezTo>
                  <a:pt x="17009" y="7619"/>
                  <a:pt x="24628" y="0"/>
                  <a:pt x="34018" y="0"/>
                </a:cubicBezTo>
                <a:cubicBezTo>
                  <a:pt x="43408" y="0"/>
                  <a:pt x="51027" y="7619"/>
                  <a:pt x="51027" y="17009"/>
                </a:cubicBezTo>
                <a:lnTo>
                  <a:pt x="51027" y="46190"/>
                </a:lnTo>
                <a:cubicBezTo>
                  <a:pt x="56253" y="50867"/>
                  <a:pt x="59531" y="57653"/>
                  <a:pt x="59531" y="65201"/>
                </a:cubicBezTo>
                <a:cubicBezTo>
                  <a:pt x="59531" y="79286"/>
                  <a:pt x="48103" y="90714"/>
                  <a:pt x="34018" y="90714"/>
                </a:cubicBezTo>
                <a:cubicBezTo>
                  <a:pt x="19932" y="90714"/>
                  <a:pt x="8504" y="79286"/>
                  <a:pt x="8504" y="65201"/>
                </a:cubicBezTo>
                <a:cubicBezTo>
                  <a:pt x="8504" y="57653"/>
                  <a:pt x="11782" y="50850"/>
                  <a:pt x="17009" y="46190"/>
                </a:cubicBezTo>
                <a:lnTo>
                  <a:pt x="17009" y="17009"/>
                </a:lnTo>
                <a:close/>
                <a:moveTo>
                  <a:pt x="34018" y="76540"/>
                </a:moveTo>
                <a:cubicBezTo>
                  <a:pt x="40272" y="76540"/>
                  <a:pt x="45357" y="71455"/>
                  <a:pt x="45357" y="65201"/>
                </a:cubicBezTo>
                <a:cubicBezTo>
                  <a:pt x="45357" y="60435"/>
                  <a:pt x="42434" y="56360"/>
                  <a:pt x="38270" y="54694"/>
                </a:cubicBezTo>
                <a:lnTo>
                  <a:pt x="38270" y="49609"/>
                </a:lnTo>
                <a:cubicBezTo>
                  <a:pt x="38270" y="47253"/>
                  <a:pt x="36374" y="45357"/>
                  <a:pt x="34018" y="45357"/>
                </a:cubicBezTo>
                <a:cubicBezTo>
                  <a:pt x="31661" y="45357"/>
                  <a:pt x="29766" y="47253"/>
                  <a:pt x="29766" y="49609"/>
                </a:cubicBezTo>
                <a:lnTo>
                  <a:pt x="29766" y="54694"/>
                </a:lnTo>
                <a:cubicBezTo>
                  <a:pt x="25602" y="56378"/>
                  <a:pt x="22679" y="60453"/>
                  <a:pt x="22679" y="65201"/>
                </a:cubicBezTo>
                <a:cubicBezTo>
                  <a:pt x="22679" y="71455"/>
                  <a:pt x="27764" y="76540"/>
                  <a:pt x="34018" y="76540"/>
                </a:cubicBezTo>
                <a:close/>
                <a:moveTo>
                  <a:pt x="82210" y="14174"/>
                </a:moveTo>
                <a:cubicBezTo>
                  <a:pt x="82210" y="11045"/>
                  <a:pt x="79669" y="8504"/>
                  <a:pt x="76540" y="8504"/>
                </a:cubicBezTo>
                <a:cubicBezTo>
                  <a:pt x="73411" y="8504"/>
                  <a:pt x="70871" y="11045"/>
                  <a:pt x="70871" y="14174"/>
                </a:cubicBezTo>
                <a:cubicBezTo>
                  <a:pt x="70871" y="17303"/>
                  <a:pt x="73411" y="19844"/>
                  <a:pt x="76540" y="19844"/>
                </a:cubicBezTo>
                <a:cubicBezTo>
                  <a:pt x="79669" y="19844"/>
                  <a:pt x="82210" y="17303"/>
                  <a:pt x="82210" y="14174"/>
                </a:cubicBezTo>
                <a:close/>
                <a:moveTo>
                  <a:pt x="62366" y="14174"/>
                </a:moveTo>
                <a:cubicBezTo>
                  <a:pt x="62366" y="6351"/>
                  <a:pt x="68717" y="0"/>
                  <a:pt x="76540" y="0"/>
                </a:cubicBezTo>
                <a:cubicBezTo>
                  <a:pt x="84363" y="0"/>
                  <a:pt x="90714" y="6351"/>
                  <a:pt x="90714" y="14174"/>
                </a:cubicBezTo>
                <a:cubicBezTo>
                  <a:pt x="90714" y="21997"/>
                  <a:pt x="84363" y="28348"/>
                  <a:pt x="76540" y="28348"/>
                </a:cubicBezTo>
                <a:cubicBezTo>
                  <a:pt x="68717" y="28348"/>
                  <a:pt x="62366" y="21997"/>
                  <a:pt x="62366" y="14174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8" name="Text 85">
            <a:extLst>
              <a:ext uri="{FF2B5EF4-FFF2-40B4-BE49-F238E27FC236}">
                <a16:creationId xmlns:a16="http://schemas.microsoft.com/office/drawing/2014/main" id="{418E031D-3EA8-9A93-DDE5-B63C9021024E}"/>
              </a:ext>
            </a:extLst>
          </p:cNvPr>
          <p:cNvSpPr/>
          <p:nvPr/>
        </p:nvSpPr>
        <p:spPr>
          <a:xfrm>
            <a:off x="4542291" y="4815538"/>
            <a:ext cx="3288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热蔓延控制</a:t>
            </a:r>
            <a:endParaRPr lang="en-US" sz="1600" dirty="0">
              <a:latin typeface="+mn-ea"/>
            </a:endParaRPr>
          </a:p>
        </p:txBody>
      </p:sp>
      <p:sp>
        <p:nvSpPr>
          <p:cNvPr id="139" name="Text 86">
            <a:extLst>
              <a:ext uri="{FF2B5EF4-FFF2-40B4-BE49-F238E27FC236}">
                <a16:creationId xmlns:a16="http://schemas.microsoft.com/office/drawing/2014/main" id="{8E53B156-463E-66BA-13B6-4FDF78EF62A7}"/>
              </a:ext>
            </a:extLst>
          </p:cNvPr>
          <p:cNvSpPr/>
          <p:nvPr/>
        </p:nvSpPr>
        <p:spPr>
          <a:xfrm>
            <a:off x="4424363" y="4958413"/>
            <a:ext cx="3401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依靠材料高温稳定性，实现"只冒烟、不起火"，防止气体聚集次生爆炸</a:t>
            </a:r>
            <a:endParaRPr lang="en-US" sz="1600" dirty="0">
              <a:latin typeface="+mn-ea"/>
            </a:endParaRPr>
          </a:p>
        </p:txBody>
      </p:sp>
      <p:sp>
        <p:nvSpPr>
          <p:cNvPr id="140" name="Shape 87">
            <a:extLst>
              <a:ext uri="{FF2B5EF4-FFF2-40B4-BE49-F238E27FC236}">
                <a16:creationId xmlns:a16="http://schemas.microsoft.com/office/drawing/2014/main" id="{91A3FB43-8B9C-67FF-5B1C-7A799E4C0FC2}"/>
              </a:ext>
            </a:extLst>
          </p:cNvPr>
          <p:cNvSpPr/>
          <p:nvPr/>
        </p:nvSpPr>
        <p:spPr>
          <a:xfrm>
            <a:off x="4344534" y="5198806"/>
            <a:ext cx="3508829" cy="399143"/>
          </a:xfrm>
          <a:custGeom>
            <a:avLst/>
            <a:gdLst/>
            <a:ahLst/>
            <a:cxnLst/>
            <a:rect l="l" t="t" r="r" b="b"/>
            <a:pathLst>
              <a:path w="3508829" h="399143">
                <a:moveTo>
                  <a:pt x="14514" y="0"/>
                </a:moveTo>
                <a:lnTo>
                  <a:pt x="3472542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362857"/>
                </a:lnTo>
                <a:cubicBezTo>
                  <a:pt x="3508829" y="382897"/>
                  <a:pt x="3492583" y="399143"/>
                  <a:pt x="3472542" y="399143"/>
                </a:cubicBez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504"/>
                  <a:pt x="6504" y="0"/>
                  <a:pt x="1451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1" name="Shape 88">
            <a:extLst>
              <a:ext uri="{FF2B5EF4-FFF2-40B4-BE49-F238E27FC236}">
                <a16:creationId xmlns:a16="http://schemas.microsoft.com/office/drawing/2014/main" id="{5966604B-88E1-948B-8841-94D5ECB2B425}"/>
              </a:ext>
            </a:extLst>
          </p:cNvPr>
          <p:cNvSpPr/>
          <p:nvPr/>
        </p:nvSpPr>
        <p:spPr>
          <a:xfrm>
            <a:off x="4344534" y="5198806"/>
            <a:ext cx="14514" cy="399143"/>
          </a:xfrm>
          <a:custGeom>
            <a:avLst/>
            <a:gdLst/>
            <a:ahLst/>
            <a:cxnLst/>
            <a:rect l="l" t="t" r="r" b="b"/>
            <a:pathLst>
              <a:path w="14514" h="399143">
                <a:moveTo>
                  <a:pt x="14514" y="0"/>
                </a:moveTo>
                <a:lnTo>
                  <a:pt x="14514" y="0"/>
                </a:lnTo>
                <a:lnTo>
                  <a:pt x="14514" y="399143"/>
                </a:ln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498"/>
                  <a:pt x="6498" y="0"/>
                  <a:pt x="14514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2" name="Shape 89">
            <a:extLst>
              <a:ext uri="{FF2B5EF4-FFF2-40B4-BE49-F238E27FC236}">
                <a16:creationId xmlns:a16="http://schemas.microsoft.com/office/drawing/2014/main" id="{E789823C-1EBE-893E-289D-845908CEBE39}"/>
              </a:ext>
            </a:extLst>
          </p:cNvPr>
          <p:cNvSpPr/>
          <p:nvPr/>
        </p:nvSpPr>
        <p:spPr>
          <a:xfrm>
            <a:off x="4437970" y="5288386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21261" y="9922"/>
                </a:moveTo>
                <a:cubicBezTo>
                  <a:pt x="21261" y="4447"/>
                  <a:pt x="25708" y="0"/>
                  <a:pt x="31183" y="0"/>
                </a:cubicBezTo>
                <a:lnTo>
                  <a:pt x="35435" y="0"/>
                </a:lnTo>
                <a:cubicBezTo>
                  <a:pt x="38571" y="0"/>
                  <a:pt x="41105" y="2534"/>
                  <a:pt x="41105" y="5670"/>
                </a:cubicBezTo>
                <a:lnTo>
                  <a:pt x="41105" y="85045"/>
                </a:lnTo>
                <a:cubicBezTo>
                  <a:pt x="41105" y="88181"/>
                  <a:pt x="38571" y="90714"/>
                  <a:pt x="35435" y="90714"/>
                </a:cubicBezTo>
                <a:lnTo>
                  <a:pt x="29766" y="90714"/>
                </a:lnTo>
                <a:cubicBezTo>
                  <a:pt x="24486" y="90714"/>
                  <a:pt x="20039" y="87100"/>
                  <a:pt x="18781" y="82210"/>
                </a:cubicBezTo>
                <a:cubicBezTo>
                  <a:pt x="18657" y="82210"/>
                  <a:pt x="18550" y="82210"/>
                  <a:pt x="18426" y="82210"/>
                </a:cubicBezTo>
                <a:cubicBezTo>
                  <a:pt x="10595" y="82210"/>
                  <a:pt x="4252" y="75867"/>
                  <a:pt x="4252" y="68036"/>
                </a:cubicBezTo>
                <a:cubicBezTo>
                  <a:pt x="4252" y="64847"/>
                  <a:pt x="5315" y="61905"/>
                  <a:pt x="7087" y="59531"/>
                </a:cubicBezTo>
                <a:cubicBezTo>
                  <a:pt x="3650" y="56944"/>
                  <a:pt x="1417" y="52834"/>
                  <a:pt x="1417" y="48192"/>
                </a:cubicBezTo>
                <a:cubicBezTo>
                  <a:pt x="1417" y="42717"/>
                  <a:pt x="4536" y="37951"/>
                  <a:pt x="9071" y="35595"/>
                </a:cubicBezTo>
                <a:cubicBezTo>
                  <a:pt x="7813" y="33469"/>
                  <a:pt x="7087" y="30988"/>
                  <a:pt x="7087" y="28348"/>
                </a:cubicBezTo>
                <a:cubicBezTo>
                  <a:pt x="7087" y="20517"/>
                  <a:pt x="13430" y="14174"/>
                  <a:pt x="21261" y="14174"/>
                </a:cubicBezTo>
                <a:lnTo>
                  <a:pt x="21261" y="9922"/>
                </a:lnTo>
                <a:close/>
                <a:moveTo>
                  <a:pt x="69453" y="9922"/>
                </a:moveTo>
                <a:lnTo>
                  <a:pt x="69453" y="14174"/>
                </a:lnTo>
                <a:cubicBezTo>
                  <a:pt x="77284" y="14174"/>
                  <a:pt x="83627" y="20517"/>
                  <a:pt x="83627" y="28348"/>
                </a:cubicBezTo>
                <a:cubicBezTo>
                  <a:pt x="83627" y="31006"/>
                  <a:pt x="82901" y="33486"/>
                  <a:pt x="81643" y="35595"/>
                </a:cubicBezTo>
                <a:cubicBezTo>
                  <a:pt x="86196" y="37951"/>
                  <a:pt x="89297" y="42699"/>
                  <a:pt x="89297" y="48192"/>
                </a:cubicBezTo>
                <a:cubicBezTo>
                  <a:pt x="89297" y="52834"/>
                  <a:pt x="87064" y="56944"/>
                  <a:pt x="83627" y="59531"/>
                </a:cubicBezTo>
                <a:cubicBezTo>
                  <a:pt x="85399" y="61905"/>
                  <a:pt x="86462" y="64847"/>
                  <a:pt x="86462" y="68036"/>
                </a:cubicBezTo>
                <a:cubicBezTo>
                  <a:pt x="86462" y="75867"/>
                  <a:pt x="80119" y="82210"/>
                  <a:pt x="72288" y="82210"/>
                </a:cubicBezTo>
                <a:cubicBezTo>
                  <a:pt x="72164" y="82210"/>
                  <a:pt x="72058" y="82210"/>
                  <a:pt x="71934" y="82210"/>
                </a:cubicBezTo>
                <a:cubicBezTo>
                  <a:pt x="70676" y="87100"/>
                  <a:pt x="66229" y="90714"/>
                  <a:pt x="60949" y="90714"/>
                </a:cubicBezTo>
                <a:lnTo>
                  <a:pt x="55279" y="90714"/>
                </a:lnTo>
                <a:cubicBezTo>
                  <a:pt x="52143" y="90714"/>
                  <a:pt x="49609" y="88181"/>
                  <a:pt x="49609" y="85045"/>
                </a:cubicBezTo>
                <a:lnTo>
                  <a:pt x="49609" y="5670"/>
                </a:lnTo>
                <a:cubicBezTo>
                  <a:pt x="49609" y="2534"/>
                  <a:pt x="52143" y="0"/>
                  <a:pt x="55279" y="0"/>
                </a:cubicBezTo>
                <a:lnTo>
                  <a:pt x="59531" y="0"/>
                </a:lnTo>
                <a:cubicBezTo>
                  <a:pt x="65006" y="0"/>
                  <a:pt x="69453" y="4447"/>
                  <a:pt x="69453" y="9922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3" name="Text 90">
            <a:extLst>
              <a:ext uri="{FF2B5EF4-FFF2-40B4-BE49-F238E27FC236}">
                <a16:creationId xmlns:a16="http://schemas.microsoft.com/office/drawing/2014/main" id="{1900364C-BA1C-F166-FA0D-0D8219C51187}"/>
              </a:ext>
            </a:extLst>
          </p:cNvPr>
          <p:cNvSpPr/>
          <p:nvPr/>
        </p:nvSpPr>
        <p:spPr>
          <a:xfrm>
            <a:off x="4542291" y="5271377"/>
            <a:ext cx="3288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精细化BMS</a:t>
            </a:r>
            <a:endParaRPr lang="en-US" sz="1600" dirty="0">
              <a:latin typeface="+mn-ea"/>
            </a:endParaRPr>
          </a:p>
        </p:txBody>
      </p:sp>
      <p:sp>
        <p:nvSpPr>
          <p:cNvPr id="144" name="Text 91">
            <a:extLst>
              <a:ext uri="{FF2B5EF4-FFF2-40B4-BE49-F238E27FC236}">
                <a16:creationId xmlns:a16="http://schemas.microsoft.com/office/drawing/2014/main" id="{D366AB4E-2C20-4940-F1F6-1295A7EBFA28}"/>
              </a:ext>
            </a:extLst>
          </p:cNvPr>
          <p:cNvSpPr/>
          <p:nvPr/>
        </p:nvSpPr>
        <p:spPr>
          <a:xfrm>
            <a:off x="4424363" y="5414252"/>
            <a:ext cx="3401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LFP电压曲线平坦，通过内阻变化和细微电压波动预测热失控潜伏期</a:t>
            </a:r>
            <a:endParaRPr lang="en-US" sz="1600" dirty="0">
              <a:latin typeface="+mn-ea"/>
            </a:endParaRPr>
          </a:p>
        </p:txBody>
      </p:sp>
      <p:sp>
        <p:nvSpPr>
          <p:cNvPr id="145" name="Shape 92">
            <a:extLst>
              <a:ext uri="{FF2B5EF4-FFF2-40B4-BE49-F238E27FC236}">
                <a16:creationId xmlns:a16="http://schemas.microsoft.com/office/drawing/2014/main" id="{10AEEF45-5CC9-B09B-16C4-C2884636B399}"/>
              </a:ext>
            </a:extLst>
          </p:cNvPr>
          <p:cNvSpPr/>
          <p:nvPr/>
        </p:nvSpPr>
        <p:spPr>
          <a:xfrm>
            <a:off x="4344534" y="5654645"/>
            <a:ext cx="3508829" cy="399143"/>
          </a:xfrm>
          <a:custGeom>
            <a:avLst/>
            <a:gdLst/>
            <a:ahLst/>
            <a:cxnLst/>
            <a:rect l="l" t="t" r="r" b="b"/>
            <a:pathLst>
              <a:path w="3508829" h="399143">
                <a:moveTo>
                  <a:pt x="14514" y="0"/>
                </a:moveTo>
                <a:lnTo>
                  <a:pt x="3472542" y="0"/>
                </a:lnTo>
                <a:cubicBezTo>
                  <a:pt x="3492583" y="0"/>
                  <a:pt x="3508829" y="16246"/>
                  <a:pt x="3508829" y="36286"/>
                </a:cubicBezTo>
                <a:lnTo>
                  <a:pt x="3508829" y="362857"/>
                </a:lnTo>
                <a:cubicBezTo>
                  <a:pt x="3508829" y="382897"/>
                  <a:pt x="3492583" y="399143"/>
                  <a:pt x="3472542" y="399143"/>
                </a:cubicBez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504"/>
                  <a:pt x="6504" y="0"/>
                  <a:pt x="1451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6" name="Shape 93">
            <a:extLst>
              <a:ext uri="{FF2B5EF4-FFF2-40B4-BE49-F238E27FC236}">
                <a16:creationId xmlns:a16="http://schemas.microsoft.com/office/drawing/2014/main" id="{1E48A0FF-8571-5538-8131-F97E7B697B09}"/>
              </a:ext>
            </a:extLst>
          </p:cNvPr>
          <p:cNvSpPr/>
          <p:nvPr/>
        </p:nvSpPr>
        <p:spPr>
          <a:xfrm>
            <a:off x="4344534" y="5654645"/>
            <a:ext cx="14514" cy="399143"/>
          </a:xfrm>
          <a:custGeom>
            <a:avLst/>
            <a:gdLst/>
            <a:ahLst/>
            <a:cxnLst/>
            <a:rect l="l" t="t" r="r" b="b"/>
            <a:pathLst>
              <a:path w="14514" h="399143">
                <a:moveTo>
                  <a:pt x="14514" y="0"/>
                </a:moveTo>
                <a:lnTo>
                  <a:pt x="14514" y="0"/>
                </a:lnTo>
                <a:lnTo>
                  <a:pt x="14514" y="399143"/>
                </a:lnTo>
                <a:lnTo>
                  <a:pt x="14514" y="399143"/>
                </a:lnTo>
                <a:cubicBezTo>
                  <a:pt x="6498" y="399143"/>
                  <a:pt x="0" y="392645"/>
                  <a:pt x="0" y="384629"/>
                </a:cubicBezTo>
                <a:lnTo>
                  <a:pt x="0" y="14514"/>
                </a:lnTo>
                <a:cubicBezTo>
                  <a:pt x="0" y="6498"/>
                  <a:pt x="6498" y="0"/>
                  <a:pt x="14514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7" name="Shape 94">
            <a:extLst>
              <a:ext uri="{FF2B5EF4-FFF2-40B4-BE49-F238E27FC236}">
                <a16:creationId xmlns:a16="http://schemas.microsoft.com/office/drawing/2014/main" id="{5CA6D54C-FEC8-CA87-29CD-38CCDEA70151}"/>
              </a:ext>
            </a:extLst>
          </p:cNvPr>
          <p:cNvSpPr/>
          <p:nvPr/>
        </p:nvSpPr>
        <p:spPr>
          <a:xfrm>
            <a:off x="4437970" y="5744225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50318" y="-230"/>
                </a:moveTo>
                <a:cubicBezTo>
                  <a:pt x="47253" y="-2002"/>
                  <a:pt x="43461" y="-2002"/>
                  <a:pt x="40396" y="-230"/>
                </a:cubicBezTo>
                <a:lnTo>
                  <a:pt x="25478" y="8380"/>
                </a:lnTo>
                <a:cubicBezTo>
                  <a:pt x="22413" y="10152"/>
                  <a:pt x="20517" y="13430"/>
                  <a:pt x="20517" y="16973"/>
                </a:cubicBezTo>
                <a:lnTo>
                  <a:pt x="20517" y="35028"/>
                </a:lnTo>
                <a:lnTo>
                  <a:pt x="4872" y="44064"/>
                </a:lnTo>
                <a:cubicBezTo>
                  <a:pt x="1807" y="45836"/>
                  <a:pt x="-89" y="49113"/>
                  <a:pt x="-89" y="52657"/>
                </a:cubicBezTo>
                <a:lnTo>
                  <a:pt x="-89" y="69896"/>
                </a:lnTo>
                <a:cubicBezTo>
                  <a:pt x="-89" y="73440"/>
                  <a:pt x="1807" y="76717"/>
                  <a:pt x="4872" y="78489"/>
                </a:cubicBezTo>
                <a:lnTo>
                  <a:pt x="19808" y="87100"/>
                </a:lnTo>
                <a:cubicBezTo>
                  <a:pt x="22873" y="88872"/>
                  <a:pt x="26665" y="88872"/>
                  <a:pt x="29730" y="87100"/>
                </a:cubicBezTo>
                <a:lnTo>
                  <a:pt x="45375" y="78064"/>
                </a:lnTo>
                <a:lnTo>
                  <a:pt x="61020" y="87100"/>
                </a:lnTo>
                <a:cubicBezTo>
                  <a:pt x="64085" y="88872"/>
                  <a:pt x="67876" y="88872"/>
                  <a:pt x="70941" y="87100"/>
                </a:cubicBezTo>
                <a:lnTo>
                  <a:pt x="85842" y="78489"/>
                </a:lnTo>
                <a:cubicBezTo>
                  <a:pt x="88907" y="76717"/>
                  <a:pt x="90803" y="73440"/>
                  <a:pt x="90803" y="69896"/>
                </a:cubicBezTo>
                <a:lnTo>
                  <a:pt x="90803" y="52657"/>
                </a:lnTo>
                <a:cubicBezTo>
                  <a:pt x="90803" y="49113"/>
                  <a:pt x="88907" y="45836"/>
                  <a:pt x="85842" y="44064"/>
                </a:cubicBezTo>
                <a:lnTo>
                  <a:pt x="70197" y="35028"/>
                </a:lnTo>
                <a:lnTo>
                  <a:pt x="70197" y="16973"/>
                </a:lnTo>
                <a:cubicBezTo>
                  <a:pt x="70197" y="13430"/>
                  <a:pt x="68301" y="10152"/>
                  <a:pt x="65236" y="8380"/>
                </a:cubicBezTo>
                <a:lnTo>
                  <a:pt x="50318" y="-230"/>
                </a:lnTo>
                <a:close/>
                <a:moveTo>
                  <a:pt x="41105" y="51842"/>
                </a:moveTo>
                <a:lnTo>
                  <a:pt x="41105" y="70711"/>
                </a:lnTo>
                <a:lnTo>
                  <a:pt x="25460" y="79747"/>
                </a:lnTo>
                <a:cubicBezTo>
                  <a:pt x="25248" y="79871"/>
                  <a:pt x="25000" y="79942"/>
                  <a:pt x="24752" y="79942"/>
                </a:cubicBezTo>
                <a:lnTo>
                  <a:pt x="24752" y="61285"/>
                </a:lnTo>
                <a:lnTo>
                  <a:pt x="41105" y="51842"/>
                </a:lnTo>
                <a:close/>
                <a:moveTo>
                  <a:pt x="82104" y="51948"/>
                </a:moveTo>
                <a:cubicBezTo>
                  <a:pt x="82228" y="52161"/>
                  <a:pt x="82298" y="52409"/>
                  <a:pt x="82298" y="52657"/>
                </a:cubicBezTo>
                <a:lnTo>
                  <a:pt x="82298" y="69896"/>
                </a:lnTo>
                <a:cubicBezTo>
                  <a:pt x="82298" y="70410"/>
                  <a:pt x="82033" y="70871"/>
                  <a:pt x="81590" y="71119"/>
                </a:cubicBezTo>
                <a:lnTo>
                  <a:pt x="66654" y="79729"/>
                </a:lnTo>
                <a:cubicBezTo>
                  <a:pt x="66441" y="79853"/>
                  <a:pt x="66193" y="79924"/>
                  <a:pt x="65945" y="79924"/>
                </a:cubicBezTo>
                <a:lnTo>
                  <a:pt x="65945" y="61268"/>
                </a:lnTo>
                <a:lnTo>
                  <a:pt x="82104" y="51948"/>
                </a:lnTo>
                <a:close/>
                <a:moveTo>
                  <a:pt x="61711" y="16973"/>
                </a:moveTo>
                <a:lnTo>
                  <a:pt x="61711" y="35028"/>
                </a:lnTo>
                <a:lnTo>
                  <a:pt x="45357" y="44471"/>
                </a:lnTo>
                <a:lnTo>
                  <a:pt x="45357" y="25602"/>
                </a:lnTo>
                <a:lnTo>
                  <a:pt x="61516" y="16283"/>
                </a:lnTo>
                <a:cubicBezTo>
                  <a:pt x="61640" y="16495"/>
                  <a:pt x="61711" y="16743"/>
                  <a:pt x="61711" y="16991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8" name="Text 95">
            <a:extLst>
              <a:ext uri="{FF2B5EF4-FFF2-40B4-BE49-F238E27FC236}">
                <a16:creationId xmlns:a16="http://schemas.microsoft.com/office/drawing/2014/main" id="{626BFB37-1049-BE07-F73C-74C33EBFAFCE}"/>
              </a:ext>
            </a:extLst>
          </p:cNvPr>
          <p:cNvSpPr/>
          <p:nvPr/>
        </p:nvSpPr>
        <p:spPr>
          <a:xfrm>
            <a:off x="4542291" y="5727217"/>
            <a:ext cx="328839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86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机械结构冗余</a:t>
            </a:r>
            <a:endParaRPr lang="en-US" sz="1600" dirty="0">
              <a:latin typeface="+mn-ea"/>
            </a:endParaRPr>
          </a:p>
        </p:txBody>
      </p:sp>
      <p:sp>
        <p:nvSpPr>
          <p:cNvPr id="149" name="Text 96">
            <a:extLst>
              <a:ext uri="{FF2B5EF4-FFF2-40B4-BE49-F238E27FC236}">
                <a16:creationId xmlns:a16="http://schemas.microsoft.com/office/drawing/2014/main" id="{3612D858-A367-8966-13A8-3D6DB642B1E6}"/>
              </a:ext>
            </a:extLst>
          </p:cNvPr>
          <p:cNvSpPr/>
          <p:nvPr/>
        </p:nvSpPr>
        <p:spPr>
          <a:xfrm>
            <a:off x="4424363" y="5870092"/>
            <a:ext cx="3401786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利用能量密度稍低的物理间隙实现热隔离，降低隔热材料成本</a:t>
            </a:r>
            <a:endParaRPr lang="en-US" sz="1600" dirty="0">
              <a:latin typeface="+mn-ea"/>
            </a:endParaRPr>
          </a:p>
        </p:txBody>
      </p:sp>
      <p:sp>
        <p:nvSpPr>
          <p:cNvPr id="150" name="Shape 97">
            <a:extLst>
              <a:ext uri="{FF2B5EF4-FFF2-40B4-BE49-F238E27FC236}">
                <a16:creationId xmlns:a16="http://schemas.microsoft.com/office/drawing/2014/main" id="{16B005BE-4A47-01B0-05EF-4B030DC9BE28}"/>
              </a:ext>
            </a:extLst>
          </p:cNvPr>
          <p:cNvSpPr/>
          <p:nvPr/>
        </p:nvSpPr>
        <p:spPr>
          <a:xfrm>
            <a:off x="4337277" y="6269688"/>
            <a:ext cx="3519714" cy="7257"/>
          </a:xfrm>
          <a:custGeom>
            <a:avLst/>
            <a:gdLst/>
            <a:ahLst/>
            <a:cxnLst/>
            <a:rect l="l" t="t" r="r" b="b"/>
            <a:pathLst>
              <a:path w="3519714" h="7257">
                <a:moveTo>
                  <a:pt x="0" y="0"/>
                </a:moveTo>
                <a:lnTo>
                  <a:pt x="3519714" y="0"/>
                </a:lnTo>
                <a:lnTo>
                  <a:pt x="3519714" y="7257"/>
                </a:lnTo>
                <a:lnTo>
                  <a:pt x="0" y="7257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1" name="Shape 98">
            <a:extLst>
              <a:ext uri="{FF2B5EF4-FFF2-40B4-BE49-F238E27FC236}">
                <a16:creationId xmlns:a16="http://schemas.microsoft.com/office/drawing/2014/main" id="{ADD09FF9-A76F-9A93-3FCC-74EAC0A4423D}"/>
              </a:ext>
            </a:extLst>
          </p:cNvPr>
          <p:cNvSpPr/>
          <p:nvPr/>
        </p:nvSpPr>
        <p:spPr>
          <a:xfrm>
            <a:off x="4350884" y="6427530"/>
            <a:ext cx="90714" cy="90714"/>
          </a:xfrm>
          <a:custGeom>
            <a:avLst/>
            <a:gdLst/>
            <a:ahLst/>
            <a:cxnLst/>
            <a:rect l="l" t="t" r="r" b="b"/>
            <a:pathLst>
              <a:path w="90714" h="90714">
                <a:moveTo>
                  <a:pt x="45357" y="90714"/>
                </a:moveTo>
                <a:cubicBezTo>
                  <a:pt x="70390" y="90714"/>
                  <a:pt x="90714" y="70390"/>
                  <a:pt x="90714" y="45357"/>
                </a:cubicBezTo>
                <a:cubicBezTo>
                  <a:pt x="90714" y="20324"/>
                  <a:pt x="70390" y="0"/>
                  <a:pt x="45357" y="0"/>
                </a:cubicBezTo>
                <a:cubicBezTo>
                  <a:pt x="20324" y="0"/>
                  <a:pt x="0" y="20324"/>
                  <a:pt x="0" y="45357"/>
                </a:cubicBezTo>
                <a:cubicBezTo>
                  <a:pt x="0" y="70390"/>
                  <a:pt x="20324" y="90714"/>
                  <a:pt x="45357" y="90714"/>
                </a:cubicBezTo>
                <a:close/>
                <a:moveTo>
                  <a:pt x="39688" y="28348"/>
                </a:moveTo>
                <a:cubicBezTo>
                  <a:pt x="39688" y="25219"/>
                  <a:pt x="42228" y="22679"/>
                  <a:pt x="45357" y="22679"/>
                </a:cubicBezTo>
                <a:cubicBezTo>
                  <a:pt x="48486" y="22679"/>
                  <a:pt x="51027" y="25219"/>
                  <a:pt x="51027" y="28348"/>
                </a:cubicBezTo>
                <a:cubicBezTo>
                  <a:pt x="51027" y="31477"/>
                  <a:pt x="48486" y="34018"/>
                  <a:pt x="45357" y="34018"/>
                </a:cubicBezTo>
                <a:cubicBezTo>
                  <a:pt x="42228" y="34018"/>
                  <a:pt x="39688" y="31477"/>
                  <a:pt x="39688" y="28348"/>
                </a:cubicBezTo>
                <a:close/>
                <a:moveTo>
                  <a:pt x="38270" y="39688"/>
                </a:moveTo>
                <a:lnTo>
                  <a:pt x="46775" y="39688"/>
                </a:lnTo>
                <a:cubicBezTo>
                  <a:pt x="49131" y="39688"/>
                  <a:pt x="51027" y="41583"/>
                  <a:pt x="51027" y="43940"/>
                </a:cubicBezTo>
                <a:lnTo>
                  <a:pt x="51027" y="59531"/>
                </a:lnTo>
                <a:lnTo>
                  <a:pt x="52444" y="59531"/>
                </a:lnTo>
                <a:cubicBezTo>
                  <a:pt x="54801" y="59531"/>
                  <a:pt x="56696" y="61427"/>
                  <a:pt x="56696" y="63783"/>
                </a:cubicBezTo>
                <a:cubicBezTo>
                  <a:pt x="56696" y="66140"/>
                  <a:pt x="54801" y="68036"/>
                  <a:pt x="52444" y="68036"/>
                </a:cubicBezTo>
                <a:lnTo>
                  <a:pt x="38270" y="68036"/>
                </a:lnTo>
                <a:cubicBezTo>
                  <a:pt x="35914" y="68036"/>
                  <a:pt x="34018" y="66140"/>
                  <a:pt x="34018" y="63783"/>
                </a:cubicBezTo>
                <a:cubicBezTo>
                  <a:pt x="34018" y="61427"/>
                  <a:pt x="35914" y="59531"/>
                  <a:pt x="38270" y="59531"/>
                </a:cubicBezTo>
                <a:lnTo>
                  <a:pt x="42522" y="59531"/>
                </a:lnTo>
                <a:lnTo>
                  <a:pt x="42522" y="48192"/>
                </a:lnTo>
                <a:lnTo>
                  <a:pt x="38270" y="48192"/>
                </a:lnTo>
                <a:cubicBezTo>
                  <a:pt x="35914" y="48192"/>
                  <a:pt x="34018" y="46296"/>
                  <a:pt x="34018" y="43940"/>
                </a:cubicBezTo>
                <a:cubicBezTo>
                  <a:pt x="34018" y="41583"/>
                  <a:pt x="35914" y="39688"/>
                  <a:pt x="38270" y="39688"/>
                </a:cubicBezTo>
                <a:close/>
              </a:path>
            </a:pathLst>
          </a:custGeom>
          <a:solidFill>
            <a:srgbClr val="8D99AE">
              <a:alpha val="9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2" name="Text 99">
            <a:extLst>
              <a:ext uri="{FF2B5EF4-FFF2-40B4-BE49-F238E27FC236}">
                <a16:creationId xmlns:a16="http://schemas.microsoft.com/office/drawing/2014/main" id="{2EF5BA4B-3BF3-9E1C-23D4-90B9E50ADE53}"/>
              </a:ext>
            </a:extLst>
          </p:cNvPr>
          <p:cNvSpPr/>
          <p:nvPr/>
        </p:nvSpPr>
        <p:spPr>
          <a:xfrm>
            <a:off x="4522697" y="6406665"/>
            <a:ext cx="3421224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rgbClr val="8D99AE">
                    <a:alpha val="90000"/>
                  </a:srgbClr>
                </a:solidFill>
                <a:latin typeface="+mn-ea"/>
                <a:cs typeface="MiSans" pitchFamily="34" charset="-120"/>
              </a:rPr>
              <a:t>核心优势:</a:t>
            </a:r>
            <a:r>
              <a:rPr lang="en-US" sz="1000" dirty="0">
                <a:solidFill>
                  <a:srgbClr val="8D99AE">
                    <a:alpha val="90000"/>
                  </a:srgbClr>
                </a:solidFill>
                <a:latin typeface="+mn-ea"/>
                <a:cs typeface="MiSans" pitchFamily="34" charset="-120"/>
              </a:rPr>
              <a:t> 热稳定性高，反应过程相对温和可控</a:t>
            </a:r>
            <a:endParaRPr lang="en-US" sz="2400" dirty="0">
              <a:latin typeface="+mn-ea"/>
            </a:endParaRPr>
          </a:p>
        </p:txBody>
      </p:sp>
      <p:sp>
        <p:nvSpPr>
          <p:cNvPr id="153" name="Shape 100">
            <a:extLst>
              <a:ext uri="{FF2B5EF4-FFF2-40B4-BE49-F238E27FC236}">
                <a16:creationId xmlns:a16="http://schemas.microsoft.com/office/drawing/2014/main" id="{EA6523FA-A78C-4AF9-8AEE-E074E117BCA5}"/>
              </a:ext>
            </a:extLst>
          </p:cNvPr>
          <p:cNvSpPr/>
          <p:nvPr/>
        </p:nvSpPr>
        <p:spPr>
          <a:xfrm>
            <a:off x="8083210" y="1510816"/>
            <a:ext cx="3744686" cy="1767114"/>
          </a:xfrm>
          <a:custGeom>
            <a:avLst/>
            <a:gdLst/>
            <a:ahLst/>
            <a:cxnLst/>
            <a:rect l="l" t="t" r="r" b="b"/>
            <a:pathLst>
              <a:path w="3744686" h="1767114">
                <a:moveTo>
                  <a:pt x="72575" y="0"/>
                </a:moveTo>
                <a:lnTo>
                  <a:pt x="3672110" y="0"/>
                </a:lnTo>
                <a:cubicBezTo>
                  <a:pt x="3712193" y="0"/>
                  <a:pt x="3744686" y="32493"/>
                  <a:pt x="3744686" y="72575"/>
                </a:cubicBezTo>
                <a:lnTo>
                  <a:pt x="3744686" y="1694539"/>
                </a:lnTo>
                <a:cubicBezTo>
                  <a:pt x="3744686" y="1734621"/>
                  <a:pt x="3712193" y="1767114"/>
                  <a:pt x="3672110" y="1767114"/>
                </a:cubicBezTo>
                <a:lnTo>
                  <a:pt x="72575" y="1767114"/>
                </a:lnTo>
                <a:cubicBezTo>
                  <a:pt x="32493" y="1767114"/>
                  <a:pt x="0" y="1734621"/>
                  <a:pt x="0" y="1694539"/>
                </a:cubicBezTo>
                <a:lnTo>
                  <a:pt x="0" y="72575"/>
                </a:lnTo>
                <a:cubicBezTo>
                  <a:pt x="0" y="32493"/>
                  <a:pt x="32493" y="0"/>
                  <a:pt x="7257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Shape 101">
            <a:extLst>
              <a:ext uri="{FF2B5EF4-FFF2-40B4-BE49-F238E27FC236}">
                <a16:creationId xmlns:a16="http://schemas.microsoft.com/office/drawing/2014/main" id="{93AEA3EE-F24F-4752-AB74-1A3527103843}"/>
              </a:ext>
            </a:extLst>
          </p:cNvPr>
          <p:cNvSpPr/>
          <p:nvPr/>
        </p:nvSpPr>
        <p:spPr>
          <a:xfrm>
            <a:off x="8195696" y="1623302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36286" y="0"/>
                </a:moveTo>
                <a:lnTo>
                  <a:pt x="181428" y="0"/>
                </a:lnTo>
                <a:cubicBezTo>
                  <a:pt x="201468" y="0"/>
                  <a:pt x="217714" y="16246"/>
                  <a:pt x="217714" y="36286"/>
                </a:cubicBezTo>
                <a:lnTo>
                  <a:pt x="217714" y="181428"/>
                </a:lnTo>
                <a:cubicBezTo>
                  <a:pt x="217714" y="201468"/>
                  <a:pt x="201468" y="217714"/>
                  <a:pt x="181428" y="217714"/>
                </a:cubicBezTo>
                <a:lnTo>
                  <a:pt x="36286" y="217714"/>
                </a:lnTo>
                <a:cubicBezTo>
                  <a:pt x="16246" y="217714"/>
                  <a:pt x="0" y="201468"/>
                  <a:pt x="0" y="181428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5" name="Shape 102">
            <a:extLst>
              <a:ext uri="{FF2B5EF4-FFF2-40B4-BE49-F238E27FC236}">
                <a16:creationId xmlns:a16="http://schemas.microsoft.com/office/drawing/2014/main" id="{02F53F02-726D-76A3-C887-A1C501553E1B}"/>
              </a:ext>
            </a:extLst>
          </p:cNvPr>
          <p:cNvSpPr/>
          <p:nvPr/>
        </p:nvSpPr>
        <p:spPr>
          <a:xfrm>
            <a:off x="8263731" y="1677730"/>
            <a:ext cx="81643" cy="108857"/>
          </a:xfrm>
          <a:custGeom>
            <a:avLst/>
            <a:gdLst/>
            <a:ahLst/>
            <a:cxnLst/>
            <a:rect l="l" t="t" r="r" b="b"/>
            <a:pathLst>
              <a:path w="81643" h="108857">
                <a:moveTo>
                  <a:pt x="62274" y="81643"/>
                </a:moveTo>
                <a:cubicBezTo>
                  <a:pt x="63826" y="76902"/>
                  <a:pt x="66930" y="72607"/>
                  <a:pt x="70438" y="68907"/>
                </a:cubicBezTo>
                <a:cubicBezTo>
                  <a:pt x="77391" y="61594"/>
                  <a:pt x="81643" y="51707"/>
                  <a:pt x="81643" y="40821"/>
                </a:cubicBezTo>
                <a:cubicBezTo>
                  <a:pt x="81643" y="18285"/>
                  <a:pt x="63358" y="0"/>
                  <a:pt x="40821" y="0"/>
                </a:cubicBezTo>
                <a:cubicBezTo>
                  <a:pt x="18285" y="0"/>
                  <a:pt x="0" y="18285"/>
                  <a:pt x="0" y="40821"/>
                </a:cubicBezTo>
                <a:cubicBezTo>
                  <a:pt x="0" y="51707"/>
                  <a:pt x="4252" y="61594"/>
                  <a:pt x="11205" y="68907"/>
                </a:cubicBezTo>
                <a:cubicBezTo>
                  <a:pt x="14713" y="72607"/>
                  <a:pt x="17838" y="76902"/>
                  <a:pt x="19369" y="81643"/>
                </a:cubicBezTo>
                <a:lnTo>
                  <a:pt x="62253" y="81643"/>
                </a:lnTo>
                <a:close/>
                <a:moveTo>
                  <a:pt x="61232" y="91848"/>
                </a:moveTo>
                <a:lnTo>
                  <a:pt x="20411" y="91848"/>
                </a:lnTo>
                <a:lnTo>
                  <a:pt x="20411" y="95250"/>
                </a:lnTo>
                <a:cubicBezTo>
                  <a:pt x="20411" y="104647"/>
                  <a:pt x="28022" y="112259"/>
                  <a:pt x="37420" y="112259"/>
                </a:cubicBezTo>
                <a:lnTo>
                  <a:pt x="44223" y="112259"/>
                </a:lnTo>
                <a:cubicBezTo>
                  <a:pt x="53621" y="112259"/>
                  <a:pt x="61232" y="104647"/>
                  <a:pt x="61232" y="95250"/>
                </a:cubicBezTo>
                <a:lnTo>
                  <a:pt x="61232" y="91848"/>
                </a:lnTo>
                <a:close/>
                <a:moveTo>
                  <a:pt x="39121" y="23813"/>
                </a:moveTo>
                <a:cubicBezTo>
                  <a:pt x="30659" y="23813"/>
                  <a:pt x="23813" y="30659"/>
                  <a:pt x="23813" y="39121"/>
                </a:cubicBezTo>
                <a:cubicBezTo>
                  <a:pt x="23813" y="41948"/>
                  <a:pt x="21538" y="44223"/>
                  <a:pt x="18710" y="44223"/>
                </a:cubicBezTo>
                <a:cubicBezTo>
                  <a:pt x="15882" y="44223"/>
                  <a:pt x="13607" y="41948"/>
                  <a:pt x="13607" y="39121"/>
                </a:cubicBezTo>
                <a:cubicBezTo>
                  <a:pt x="13607" y="25024"/>
                  <a:pt x="25024" y="13607"/>
                  <a:pt x="39121" y="13607"/>
                </a:cubicBezTo>
                <a:cubicBezTo>
                  <a:pt x="41948" y="13607"/>
                  <a:pt x="44223" y="15882"/>
                  <a:pt x="44223" y="18710"/>
                </a:cubicBezTo>
                <a:cubicBezTo>
                  <a:pt x="44223" y="21538"/>
                  <a:pt x="41948" y="23813"/>
                  <a:pt x="39121" y="23813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6" name="Text 103">
            <a:extLst>
              <a:ext uri="{FF2B5EF4-FFF2-40B4-BE49-F238E27FC236}">
                <a16:creationId xmlns:a16="http://schemas.microsoft.com/office/drawing/2014/main" id="{0E51AC51-E967-5860-606C-88BCDF95144D}"/>
              </a:ext>
            </a:extLst>
          </p:cNvPr>
          <p:cNvSpPr/>
          <p:nvPr/>
        </p:nvSpPr>
        <p:spPr>
          <a:xfrm>
            <a:off x="8485981" y="1641445"/>
            <a:ext cx="952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EDF2F4"/>
                </a:solidFill>
                <a:latin typeface="+mn-ea"/>
                <a:cs typeface="Alimama ShuHeiTi" pitchFamily="34" charset="-120"/>
              </a:rPr>
              <a:t>第一性原理总结</a:t>
            </a:r>
            <a:endParaRPr lang="en-US" sz="1600" dirty="0">
              <a:latin typeface="+mn-ea"/>
            </a:endParaRPr>
          </a:p>
        </p:txBody>
      </p:sp>
      <p:sp>
        <p:nvSpPr>
          <p:cNvPr id="157" name="Shape 104">
            <a:extLst>
              <a:ext uri="{FF2B5EF4-FFF2-40B4-BE49-F238E27FC236}">
                <a16:creationId xmlns:a16="http://schemas.microsoft.com/office/drawing/2014/main" id="{164FBCAC-B4CE-0B1C-9821-3591E8E8E1DF}"/>
              </a:ext>
            </a:extLst>
          </p:cNvPr>
          <p:cNvSpPr/>
          <p:nvPr/>
        </p:nvSpPr>
        <p:spPr>
          <a:xfrm>
            <a:off x="8206581" y="1913588"/>
            <a:ext cx="3503386" cy="589643"/>
          </a:xfrm>
          <a:custGeom>
            <a:avLst/>
            <a:gdLst/>
            <a:ahLst/>
            <a:cxnLst/>
            <a:rect l="l" t="t" r="r" b="b"/>
            <a:pathLst>
              <a:path w="3503386" h="589643">
                <a:moveTo>
                  <a:pt x="21771" y="0"/>
                </a:moveTo>
                <a:lnTo>
                  <a:pt x="3430812" y="0"/>
                </a:lnTo>
                <a:cubicBezTo>
                  <a:pt x="3470894" y="0"/>
                  <a:pt x="3503386" y="32492"/>
                  <a:pt x="3503386" y="72573"/>
                </a:cubicBezTo>
                <a:lnTo>
                  <a:pt x="3503386" y="517070"/>
                </a:lnTo>
                <a:cubicBezTo>
                  <a:pt x="3503386" y="557151"/>
                  <a:pt x="3470894" y="589643"/>
                  <a:pt x="3430812" y="589643"/>
                </a:cubicBezTo>
                <a:lnTo>
                  <a:pt x="21771" y="589643"/>
                </a:lnTo>
                <a:cubicBezTo>
                  <a:pt x="9747" y="589643"/>
                  <a:pt x="0" y="579895"/>
                  <a:pt x="0" y="567871"/>
                </a:cubicBezTo>
                <a:lnTo>
                  <a:pt x="0" y="21771"/>
                </a:lnTo>
                <a:cubicBezTo>
                  <a:pt x="0" y="9747"/>
                  <a:pt x="9747" y="0"/>
                  <a:pt x="2177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40000"/>
                  <a:lumOff val="60000"/>
                  <a:alpha val="14000"/>
                </a:scheme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8" name="Shape 105">
            <a:extLst>
              <a:ext uri="{FF2B5EF4-FFF2-40B4-BE49-F238E27FC236}">
                <a16:creationId xmlns:a16="http://schemas.microsoft.com/office/drawing/2014/main" id="{017DF294-FFEC-4194-641B-B7EE3E801629}"/>
              </a:ext>
            </a:extLst>
          </p:cNvPr>
          <p:cNvSpPr/>
          <p:nvPr/>
        </p:nvSpPr>
        <p:spPr>
          <a:xfrm>
            <a:off x="8206581" y="1913588"/>
            <a:ext cx="21771" cy="589643"/>
          </a:xfrm>
          <a:custGeom>
            <a:avLst/>
            <a:gdLst/>
            <a:ahLst/>
            <a:cxnLst/>
            <a:rect l="l" t="t" r="r" b="b"/>
            <a:pathLst>
              <a:path w="21771" h="589643">
                <a:moveTo>
                  <a:pt x="21771" y="0"/>
                </a:moveTo>
                <a:lnTo>
                  <a:pt x="21771" y="0"/>
                </a:lnTo>
                <a:lnTo>
                  <a:pt x="21771" y="589643"/>
                </a:lnTo>
                <a:lnTo>
                  <a:pt x="21771" y="589643"/>
                </a:lnTo>
                <a:cubicBezTo>
                  <a:pt x="9747" y="589643"/>
                  <a:pt x="0" y="579895"/>
                  <a:pt x="0" y="567871"/>
                </a:cubicBezTo>
                <a:lnTo>
                  <a:pt x="0" y="21771"/>
                </a:lnTo>
                <a:cubicBezTo>
                  <a:pt x="0" y="9747"/>
                  <a:pt x="9747" y="0"/>
                  <a:pt x="2177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9" name="Shape 106">
            <a:extLst>
              <a:ext uri="{FF2B5EF4-FFF2-40B4-BE49-F238E27FC236}">
                <a16:creationId xmlns:a16="http://schemas.microsoft.com/office/drawing/2014/main" id="{F8269C58-6520-8809-0763-4ABA4936993A}"/>
              </a:ext>
            </a:extLst>
          </p:cNvPr>
          <p:cNvSpPr/>
          <p:nvPr/>
        </p:nvSpPr>
        <p:spPr>
          <a:xfrm>
            <a:off x="8290038" y="1986159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90714" y="0"/>
                </a:moveTo>
                <a:lnTo>
                  <a:pt x="90714" y="0"/>
                </a:lnTo>
                <a:cubicBezTo>
                  <a:pt x="140781" y="0"/>
                  <a:pt x="181429" y="40648"/>
                  <a:pt x="181429" y="90714"/>
                </a:cubicBezTo>
                <a:lnTo>
                  <a:pt x="181429" y="90714"/>
                </a:lnTo>
                <a:cubicBezTo>
                  <a:pt x="181429" y="140781"/>
                  <a:pt x="140781" y="181429"/>
                  <a:pt x="90714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0" name="Text 107">
            <a:extLst>
              <a:ext uri="{FF2B5EF4-FFF2-40B4-BE49-F238E27FC236}">
                <a16:creationId xmlns:a16="http://schemas.microsoft.com/office/drawing/2014/main" id="{DA9C0092-9376-39CE-F8B0-9783EBB797DA}"/>
              </a:ext>
            </a:extLst>
          </p:cNvPr>
          <p:cNvSpPr/>
          <p:nvPr/>
        </p:nvSpPr>
        <p:spPr>
          <a:xfrm>
            <a:off x="8276545" y="2008838"/>
            <a:ext cx="254000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4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NCM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1" name="Text 108">
            <a:extLst>
              <a:ext uri="{FF2B5EF4-FFF2-40B4-BE49-F238E27FC236}">
                <a16:creationId xmlns:a16="http://schemas.microsoft.com/office/drawing/2014/main" id="{786AADD5-1A70-8309-230F-6AD27C1B82F1}"/>
              </a:ext>
            </a:extLst>
          </p:cNvPr>
          <p:cNvSpPr/>
          <p:nvPr/>
        </p:nvSpPr>
        <p:spPr>
          <a:xfrm>
            <a:off x="8544038" y="2004302"/>
            <a:ext cx="580571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7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Alimama ShuHeiTi" pitchFamily="34" charset="-120"/>
              </a:rPr>
              <a:t>"压制熵增"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2" name="Text 109">
            <a:extLst>
              <a:ext uri="{FF2B5EF4-FFF2-40B4-BE49-F238E27FC236}">
                <a16:creationId xmlns:a16="http://schemas.microsoft.com/office/drawing/2014/main" id="{FAF8ACE4-B9DD-F5B4-7ED9-BA98863C3AB3}"/>
              </a:ext>
            </a:extLst>
          </p:cNvPr>
          <p:cNvSpPr/>
          <p:nvPr/>
        </p:nvSpPr>
        <p:spPr>
          <a:xfrm>
            <a:off x="8290038" y="2203873"/>
            <a:ext cx="3392714" cy="22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化学势能极高，利用外部功（冷却、隔离、泄压）对抗自发高速放热反应。与时间竞赛，确保5分钟以上无明火撤离时间。</a:t>
            </a:r>
            <a:endParaRPr lang="en-US" sz="1600" dirty="0">
              <a:latin typeface="+mn-ea"/>
            </a:endParaRPr>
          </a:p>
        </p:txBody>
      </p:sp>
      <p:sp>
        <p:nvSpPr>
          <p:cNvPr id="163" name="Shape 110">
            <a:extLst>
              <a:ext uri="{FF2B5EF4-FFF2-40B4-BE49-F238E27FC236}">
                <a16:creationId xmlns:a16="http://schemas.microsoft.com/office/drawing/2014/main" id="{E168114E-FEE9-A280-CDA4-EEE542A3EE51}"/>
              </a:ext>
            </a:extLst>
          </p:cNvPr>
          <p:cNvSpPr/>
          <p:nvPr/>
        </p:nvSpPr>
        <p:spPr>
          <a:xfrm>
            <a:off x="8206581" y="2575802"/>
            <a:ext cx="3503386" cy="589643"/>
          </a:xfrm>
          <a:custGeom>
            <a:avLst/>
            <a:gdLst/>
            <a:ahLst/>
            <a:cxnLst/>
            <a:rect l="l" t="t" r="r" b="b"/>
            <a:pathLst>
              <a:path w="3503386" h="589643">
                <a:moveTo>
                  <a:pt x="21771" y="0"/>
                </a:moveTo>
                <a:lnTo>
                  <a:pt x="3430812" y="0"/>
                </a:lnTo>
                <a:cubicBezTo>
                  <a:pt x="3470894" y="0"/>
                  <a:pt x="3503386" y="32492"/>
                  <a:pt x="3503386" y="72573"/>
                </a:cubicBezTo>
                <a:lnTo>
                  <a:pt x="3503386" y="517070"/>
                </a:lnTo>
                <a:cubicBezTo>
                  <a:pt x="3503386" y="557151"/>
                  <a:pt x="3470894" y="589643"/>
                  <a:pt x="3430812" y="589643"/>
                </a:cubicBezTo>
                <a:lnTo>
                  <a:pt x="21771" y="589643"/>
                </a:lnTo>
                <a:cubicBezTo>
                  <a:pt x="9747" y="589643"/>
                  <a:pt x="0" y="579895"/>
                  <a:pt x="0" y="567871"/>
                </a:cubicBezTo>
                <a:lnTo>
                  <a:pt x="0" y="21771"/>
                </a:lnTo>
                <a:cubicBezTo>
                  <a:pt x="0" y="9747"/>
                  <a:pt x="9747" y="0"/>
                  <a:pt x="21771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4" name="Shape 111">
            <a:extLst>
              <a:ext uri="{FF2B5EF4-FFF2-40B4-BE49-F238E27FC236}">
                <a16:creationId xmlns:a16="http://schemas.microsoft.com/office/drawing/2014/main" id="{4169CF14-A371-F579-C6D5-672FD4ABA595}"/>
              </a:ext>
            </a:extLst>
          </p:cNvPr>
          <p:cNvSpPr/>
          <p:nvPr/>
        </p:nvSpPr>
        <p:spPr>
          <a:xfrm>
            <a:off x="8206581" y="2575802"/>
            <a:ext cx="21771" cy="589643"/>
          </a:xfrm>
          <a:custGeom>
            <a:avLst/>
            <a:gdLst/>
            <a:ahLst/>
            <a:cxnLst/>
            <a:rect l="l" t="t" r="r" b="b"/>
            <a:pathLst>
              <a:path w="21771" h="589643">
                <a:moveTo>
                  <a:pt x="21771" y="0"/>
                </a:moveTo>
                <a:lnTo>
                  <a:pt x="21771" y="0"/>
                </a:lnTo>
                <a:lnTo>
                  <a:pt x="21771" y="589643"/>
                </a:lnTo>
                <a:lnTo>
                  <a:pt x="21771" y="589643"/>
                </a:lnTo>
                <a:cubicBezTo>
                  <a:pt x="9747" y="589643"/>
                  <a:pt x="0" y="579895"/>
                  <a:pt x="0" y="567871"/>
                </a:cubicBezTo>
                <a:lnTo>
                  <a:pt x="0" y="21771"/>
                </a:lnTo>
                <a:cubicBezTo>
                  <a:pt x="0" y="9747"/>
                  <a:pt x="9747" y="0"/>
                  <a:pt x="21771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5" name="Shape 112">
            <a:extLst>
              <a:ext uri="{FF2B5EF4-FFF2-40B4-BE49-F238E27FC236}">
                <a16:creationId xmlns:a16="http://schemas.microsoft.com/office/drawing/2014/main" id="{839329D7-02FB-C98D-189C-B2DB4AD215B1}"/>
              </a:ext>
            </a:extLst>
          </p:cNvPr>
          <p:cNvSpPr/>
          <p:nvPr/>
        </p:nvSpPr>
        <p:spPr>
          <a:xfrm>
            <a:off x="8290038" y="2648373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90714" y="0"/>
                </a:moveTo>
                <a:lnTo>
                  <a:pt x="90714" y="0"/>
                </a:lnTo>
                <a:cubicBezTo>
                  <a:pt x="140781" y="0"/>
                  <a:pt x="181429" y="40648"/>
                  <a:pt x="181429" y="90714"/>
                </a:cubicBezTo>
                <a:lnTo>
                  <a:pt x="181429" y="90714"/>
                </a:lnTo>
                <a:cubicBezTo>
                  <a:pt x="181429" y="140781"/>
                  <a:pt x="140781" y="181429"/>
                  <a:pt x="90714" y="181429"/>
                </a:cubicBezTo>
                <a:lnTo>
                  <a:pt x="90714" y="181429"/>
                </a:lnTo>
                <a:cubicBezTo>
                  <a:pt x="40648" y="181429"/>
                  <a:pt x="0" y="140781"/>
                  <a:pt x="0" y="90714"/>
                </a:cubicBezTo>
                <a:lnTo>
                  <a:pt x="0" y="90714"/>
                </a:lnTo>
                <a:cubicBezTo>
                  <a:pt x="0" y="40648"/>
                  <a:pt x="40648" y="0"/>
                  <a:pt x="90714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6" name="Text 113">
            <a:extLst>
              <a:ext uri="{FF2B5EF4-FFF2-40B4-BE49-F238E27FC236}">
                <a16:creationId xmlns:a16="http://schemas.microsoft.com/office/drawing/2014/main" id="{C9523366-72F7-2856-1B7B-62D4DE235821}"/>
              </a:ext>
            </a:extLst>
          </p:cNvPr>
          <p:cNvSpPr/>
          <p:nvPr/>
        </p:nvSpPr>
        <p:spPr>
          <a:xfrm>
            <a:off x="8301378" y="2671052"/>
            <a:ext cx="199571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4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LFP</a:t>
            </a:r>
            <a:endParaRPr lang="en-US" sz="1600" dirty="0">
              <a:latin typeface="+mn-ea"/>
            </a:endParaRPr>
          </a:p>
        </p:txBody>
      </p:sp>
      <p:sp>
        <p:nvSpPr>
          <p:cNvPr id="167" name="Text 114">
            <a:extLst>
              <a:ext uri="{FF2B5EF4-FFF2-40B4-BE49-F238E27FC236}">
                <a16:creationId xmlns:a16="http://schemas.microsoft.com/office/drawing/2014/main" id="{AA96F1E4-AD56-0085-D5B2-0AD6C33D78C7}"/>
              </a:ext>
            </a:extLst>
          </p:cNvPr>
          <p:cNvSpPr/>
          <p:nvPr/>
        </p:nvSpPr>
        <p:spPr>
          <a:xfrm>
            <a:off x="8544038" y="2666516"/>
            <a:ext cx="580571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7" b="1" dirty="0">
                <a:solidFill>
                  <a:srgbClr val="8D99AE"/>
                </a:solidFill>
                <a:latin typeface="+mn-ea"/>
                <a:cs typeface="Alimama ShuHeiTi" pitchFamily="34" charset="-120"/>
              </a:rPr>
              <a:t>"结构稳定"</a:t>
            </a:r>
            <a:endParaRPr lang="en-US" sz="1600" dirty="0">
              <a:latin typeface="+mn-ea"/>
            </a:endParaRPr>
          </a:p>
        </p:txBody>
      </p:sp>
      <p:sp>
        <p:nvSpPr>
          <p:cNvPr id="168" name="Text 115">
            <a:extLst>
              <a:ext uri="{FF2B5EF4-FFF2-40B4-BE49-F238E27FC236}">
                <a16:creationId xmlns:a16="http://schemas.microsoft.com/office/drawing/2014/main" id="{D5E6D439-9BAF-DE9F-0FC3-AF1234224010}"/>
              </a:ext>
            </a:extLst>
          </p:cNvPr>
          <p:cNvSpPr/>
          <p:nvPr/>
        </p:nvSpPr>
        <p:spPr>
          <a:xfrm>
            <a:off x="8290038" y="2866088"/>
            <a:ext cx="3392714" cy="226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14" dirty="0">
                <a:solidFill>
                  <a:srgbClr val="EDF2F4">
                    <a:alpha val="80000"/>
                  </a:srgbClr>
                </a:solidFill>
                <a:latin typeface="+mn-ea"/>
                <a:cs typeface="MiSans" pitchFamily="34" charset="-120"/>
              </a:rPr>
              <a:t>依靠强共价键的本征稳定性，策略是保持材料结构完整性，防止过度滥用导致电解液干涸及正负极短路。</a:t>
            </a:r>
            <a:endParaRPr lang="en-US" sz="1600" dirty="0">
              <a:latin typeface="+mn-ea"/>
            </a:endParaRPr>
          </a:p>
        </p:txBody>
      </p:sp>
      <p:sp>
        <p:nvSpPr>
          <p:cNvPr id="169" name="Shape 116">
            <a:extLst>
              <a:ext uri="{FF2B5EF4-FFF2-40B4-BE49-F238E27FC236}">
                <a16:creationId xmlns:a16="http://schemas.microsoft.com/office/drawing/2014/main" id="{36D08A3B-F020-6454-3454-74F04FC6A923}"/>
              </a:ext>
            </a:extLst>
          </p:cNvPr>
          <p:cNvSpPr/>
          <p:nvPr/>
        </p:nvSpPr>
        <p:spPr>
          <a:xfrm>
            <a:off x="8083210" y="3394045"/>
            <a:ext cx="3744686" cy="3282043"/>
          </a:xfrm>
          <a:custGeom>
            <a:avLst/>
            <a:gdLst/>
            <a:ahLst/>
            <a:cxnLst/>
            <a:rect l="l" t="t" r="r" b="b"/>
            <a:pathLst>
              <a:path w="3744686" h="3282043">
                <a:moveTo>
                  <a:pt x="72566" y="0"/>
                </a:moveTo>
                <a:lnTo>
                  <a:pt x="3672120" y="0"/>
                </a:lnTo>
                <a:cubicBezTo>
                  <a:pt x="3712197" y="0"/>
                  <a:pt x="3744686" y="32489"/>
                  <a:pt x="3744686" y="72566"/>
                </a:cubicBezTo>
                <a:lnTo>
                  <a:pt x="3744686" y="3209477"/>
                </a:lnTo>
                <a:cubicBezTo>
                  <a:pt x="3744686" y="3249554"/>
                  <a:pt x="3712197" y="3282043"/>
                  <a:pt x="3672120" y="3282043"/>
                </a:cubicBezTo>
                <a:lnTo>
                  <a:pt x="72566" y="3282043"/>
                </a:lnTo>
                <a:cubicBezTo>
                  <a:pt x="32489" y="3282043"/>
                  <a:pt x="0" y="3249554"/>
                  <a:pt x="0" y="3209477"/>
                </a:cubicBezTo>
                <a:lnTo>
                  <a:pt x="0" y="72566"/>
                </a:lnTo>
                <a:cubicBezTo>
                  <a:pt x="0" y="32516"/>
                  <a:pt x="32516" y="0"/>
                  <a:pt x="7256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Shape 117">
            <a:extLst>
              <a:ext uri="{FF2B5EF4-FFF2-40B4-BE49-F238E27FC236}">
                <a16:creationId xmlns:a16="http://schemas.microsoft.com/office/drawing/2014/main" id="{6801B7F5-0FF8-881D-1732-4EF31018F100}"/>
              </a:ext>
            </a:extLst>
          </p:cNvPr>
          <p:cNvSpPr/>
          <p:nvPr/>
        </p:nvSpPr>
        <p:spPr>
          <a:xfrm>
            <a:off x="8195696" y="3506531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36286" y="0"/>
                </a:moveTo>
                <a:lnTo>
                  <a:pt x="181428" y="0"/>
                </a:lnTo>
                <a:cubicBezTo>
                  <a:pt x="201468" y="0"/>
                  <a:pt x="217714" y="16246"/>
                  <a:pt x="217714" y="36286"/>
                </a:cubicBezTo>
                <a:lnTo>
                  <a:pt x="217714" y="181428"/>
                </a:lnTo>
                <a:cubicBezTo>
                  <a:pt x="217714" y="201468"/>
                  <a:pt x="201468" y="217714"/>
                  <a:pt x="181428" y="217714"/>
                </a:cubicBezTo>
                <a:lnTo>
                  <a:pt x="36286" y="217714"/>
                </a:lnTo>
                <a:cubicBezTo>
                  <a:pt x="16246" y="217714"/>
                  <a:pt x="0" y="201468"/>
                  <a:pt x="0" y="181428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1" name="Shape 118">
            <a:extLst>
              <a:ext uri="{FF2B5EF4-FFF2-40B4-BE49-F238E27FC236}">
                <a16:creationId xmlns:a16="http://schemas.microsoft.com/office/drawing/2014/main" id="{3507F0C9-EBBF-9C54-5578-B6F398350CEC}"/>
              </a:ext>
            </a:extLst>
          </p:cNvPr>
          <p:cNvSpPr/>
          <p:nvPr/>
        </p:nvSpPr>
        <p:spPr>
          <a:xfrm>
            <a:off x="8250124" y="3560959"/>
            <a:ext cx="108857" cy="108857"/>
          </a:xfrm>
          <a:custGeom>
            <a:avLst/>
            <a:gdLst/>
            <a:ahLst/>
            <a:cxnLst/>
            <a:rect l="l" t="t" r="r" b="b"/>
            <a:pathLst>
              <a:path w="108857" h="108857">
                <a:moveTo>
                  <a:pt x="6804" y="6804"/>
                </a:moveTo>
                <a:cubicBezTo>
                  <a:pt x="10567" y="6804"/>
                  <a:pt x="13607" y="9844"/>
                  <a:pt x="13607" y="13607"/>
                </a:cubicBezTo>
                <a:lnTo>
                  <a:pt x="13607" y="85045"/>
                </a:lnTo>
                <a:cubicBezTo>
                  <a:pt x="13607" y="86916"/>
                  <a:pt x="15138" y="88446"/>
                  <a:pt x="17009" y="88446"/>
                </a:cubicBezTo>
                <a:lnTo>
                  <a:pt x="102054" y="88446"/>
                </a:lnTo>
                <a:cubicBezTo>
                  <a:pt x="105817" y="88446"/>
                  <a:pt x="108857" y="91487"/>
                  <a:pt x="108857" y="95250"/>
                </a:cubicBezTo>
                <a:cubicBezTo>
                  <a:pt x="108857" y="99013"/>
                  <a:pt x="105817" y="102054"/>
                  <a:pt x="102054" y="102054"/>
                </a:cubicBezTo>
                <a:lnTo>
                  <a:pt x="17009" y="102054"/>
                </a:lnTo>
                <a:cubicBezTo>
                  <a:pt x="7611" y="102054"/>
                  <a:pt x="0" y="94442"/>
                  <a:pt x="0" y="85045"/>
                </a:cubicBezTo>
                <a:lnTo>
                  <a:pt x="0" y="13607"/>
                </a:lnTo>
                <a:cubicBezTo>
                  <a:pt x="0" y="9844"/>
                  <a:pt x="3040" y="6804"/>
                  <a:pt x="6804" y="6804"/>
                </a:cubicBezTo>
                <a:close/>
                <a:moveTo>
                  <a:pt x="27214" y="20411"/>
                </a:moveTo>
                <a:cubicBezTo>
                  <a:pt x="27214" y="16647"/>
                  <a:pt x="30255" y="13607"/>
                  <a:pt x="34018" y="13607"/>
                </a:cubicBezTo>
                <a:lnTo>
                  <a:pt x="74839" y="13607"/>
                </a:lnTo>
                <a:cubicBezTo>
                  <a:pt x="78603" y="13607"/>
                  <a:pt x="81643" y="16647"/>
                  <a:pt x="81643" y="20411"/>
                </a:cubicBezTo>
                <a:cubicBezTo>
                  <a:pt x="81643" y="24174"/>
                  <a:pt x="78603" y="27214"/>
                  <a:pt x="74839" y="27214"/>
                </a:cubicBezTo>
                <a:lnTo>
                  <a:pt x="34018" y="27214"/>
                </a:lnTo>
                <a:cubicBezTo>
                  <a:pt x="30255" y="27214"/>
                  <a:pt x="27214" y="24174"/>
                  <a:pt x="27214" y="20411"/>
                </a:cubicBezTo>
                <a:close/>
                <a:moveTo>
                  <a:pt x="34018" y="37420"/>
                </a:moveTo>
                <a:lnTo>
                  <a:pt x="61232" y="37420"/>
                </a:lnTo>
                <a:cubicBezTo>
                  <a:pt x="64995" y="37420"/>
                  <a:pt x="68036" y="40460"/>
                  <a:pt x="68036" y="44223"/>
                </a:cubicBezTo>
                <a:cubicBezTo>
                  <a:pt x="68036" y="47986"/>
                  <a:pt x="64995" y="51027"/>
                  <a:pt x="61232" y="51027"/>
                </a:cubicBezTo>
                <a:lnTo>
                  <a:pt x="34018" y="51027"/>
                </a:lnTo>
                <a:cubicBezTo>
                  <a:pt x="30255" y="51027"/>
                  <a:pt x="27214" y="47986"/>
                  <a:pt x="27214" y="44223"/>
                </a:cubicBezTo>
                <a:cubicBezTo>
                  <a:pt x="27214" y="40460"/>
                  <a:pt x="30255" y="37420"/>
                  <a:pt x="34018" y="37420"/>
                </a:cubicBezTo>
                <a:close/>
                <a:moveTo>
                  <a:pt x="34018" y="61232"/>
                </a:moveTo>
                <a:lnTo>
                  <a:pt x="88446" y="61232"/>
                </a:lnTo>
                <a:cubicBezTo>
                  <a:pt x="92210" y="61232"/>
                  <a:pt x="95250" y="64272"/>
                  <a:pt x="95250" y="68036"/>
                </a:cubicBezTo>
                <a:cubicBezTo>
                  <a:pt x="95250" y="71799"/>
                  <a:pt x="92210" y="74839"/>
                  <a:pt x="88446" y="74839"/>
                </a:cubicBezTo>
                <a:lnTo>
                  <a:pt x="34018" y="74839"/>
                </a:lnTo>
                <a:cubicBezTo>
                  <a:pt x="30255" y="74839"/>
                  <a:pt x="27214" y="71799"/>
                  <a:pt x="27214" y="68036"/>
                </a:cubicBezTo>
                <a:cubicBezTo>
                  <a:pt x="27214" y="64272"/>
                  <a:pt x="30255" y="61232"/>
                  <a:pt x="34018" y="61232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2" name="Text 119">
            <a:extLst>
              <a:ext uri="{FF2B5EF4-FFF2-40B4-BE49-F238E27FC236}">
                <a16:creationId xmlns:a16="http://schemas.microsoft.com/office/drawing/2014/main" id="{D697C679-D52F-E703-8FF5-7CC80D37F584}"/>
              </a:ext>
            </a:extLst>
          </p:cNvPr>
          <p:cNvSpPr/>
          <p:nvPr/>
        </p:nvSpPr>
        <p:spPr>
          <a:xfrm>
            <a:off x="8485981" y="3524673"/>
            <a:ext cx="1206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EDF2F4"/>
                </a:solidFill>
                <a:latin typeface="+mn-ea"/>
                <a:cs typeface="Alimama ShuHeiTi" pitchFamily="34" charset="-120"/>
              </a:rPr>
              <a:t>热失控起始温度对比</a:t>
            </a:r>
            <a:endParaRPr lang="en-US" sz="1600" dirty="0">
              <a:latin typeface="+mn-ea"/>
            </a:endParaRPr>
          </a:p>
        </p:txBody>
      </p:sp>
      <p:pic>
        <p:nvPicPr>
          <p:cNvPr id="173" name="Image 0" descr="https://kimi-img.moonshot.cn/pub/slides/26-02-07-14:17:44-d63di27b6fip8bs9oojg.png">
            <a:extLst>
              <a:ext uri="{FF2B5EF4-FFF2-40B4-BE49-F238E27FC236}">
                <a16:creationId xmlns:a16="http://schemas.microsoft.com/office/drawing/2014/main" id="{752A3FDD-964F-2E39-A93C-FBB7ED75D1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" r="56"/>
          <a:stretch/>
        </p:blipFill>
        <p:spPr>
          <a:xfrm>
            <a:off x="8195696" y="3796816"/>
            <a:ext cx="3320143" cy="2458357"/>
          </a:xfrm>
          <a:prstGeom prst="roundRect">
            <a:avLst>
              <a:gd name="adj" fmla="val 0"/>
            </a:avLst>
          </a:prstGeom>
        </p:spPr>
      </p:pic>
      <p:sp>
        <p:nvSpPr>
          <p:cNvPr id="174" name="Text 120">
            <a:extLst>
              <a:ext uri="{FF2B5EF4-FFF2-40B4-BE49-F238E27FC236}">
                <a16:creationId xmlns:a16="http://schemas.microsoft.com/office/drawing/2014/main" id="{4214EDFA-3E0D-4F51-CECA-35F4E7A1BF30}"/>
              </a:ext>
            </a:extLst>
          </p:cNvPr>
          <p:cNvSpPr/>
          <p:nvPr/>
        </p:nvSpPr>
        <p:spPr>
          <a:xfrm>
            <a:off x="8173017" y="6291459"/>
            <a:ext cx="1768929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14" b="1" dirty="0">
                <a:solidFill>
                  <a:schemeClr val="accent4">
                    <a:lumMod val="75000"/>
                  </a:schemeClr>
                </a:solidFill>
                <a:latin typeface="+mn-ea"/>
                <a:cs typeface="MiSans" pitchFamily="34" charset="-120"/>
              </a:rPr>
              <a:t>NCM 811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75" name="Text 121">
            <a:extLst>
              <a:ext uri="{FF2B5EF4-FFF2-40B4-BE49-F238E27FC236}">
                <a16:creationId xmlns:a16="http://schemas.microsoft.com/office/drawing/2014/main" id="{891000E7-76CC-2D57-5A85-75094D357C1E}"/>
              </a:ext>
            </a:extLst>
          </p:cNvPr>
          <p:cNvSpPr/>
          <p:nvPr/>
        </p:nvSpPr>
        <p:spPr>
          <a:xfrm>
            <a:off x="8173017" y="6427530"/>
            <a:ext cx="1768929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14" dirty="0">
                <a:solidFill>
                  <a:srgbClr val="EDF2F4">
                    <a:alpha val="70000"/>
                  </a:srgbClr>
                </a:solidFill>
                <a:latin typeface="+mn-ea"/>
                <a:cs typeface="MiSans" pitchFamily="34" charset="-120"/>
              </a:rPr>
              <a:t>~200°C 剧烈相变</a:t>
            </a:r>
            <a:endParaRPr lang="en-US" sz="1600" dirty="0">
              <a:latin typeface="+mn-ea"/>
            </a:endParaRPr>
          </a:p>
        </p:txBody>
      </p:sp>
      <p:sp>
        <p:nvSpPr>
          <p:cNvPr id="176" name="Text 122">
            <a:extLst>
              <a:ext uri="{FF2B5EF4-FFF2-40B4-BE49-F238E27FC236}">
                <a16:creationId xmlns:a16="http://schemas.microsoft.com/office/drawing/2014/main" id="{5F505DA8-41BE-396B-F5DE-DBC64EAE88E3}"/>
              </a:ext>
            </a:extLst>
          </p:cNvPr>
          <p:cNvSpPr/>
          <p:nvPr/>
        </p:nvSpPr>
        <p:spPr>
          <a:xfrm>
            <a:off x="9967913" y="6291459"/>
            <a:ext cx="1768929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14" b="1" dirty="0">
                <a:solidFill>
                  <a:srgbClr val="8D99AE"/>
                </a:solidFill>
                <a:latin typeface="+mn-ea"/>
                <a:cs typeface="MiSans" pitchFamily="34" charset="-120"/>
              </a:rPr>
              <a:t>LFP</a:t>
            </a:r>
            <a:endParaRPr lang="en-US" sz="1600" dirty="0">
              <a:latin typeface="+mn-ea"/>
            </a:endParaRPr>
          </a:p>
        </p:txBody>
      </p:sp>
      <p:sp>
        <p:nvSpPr>
          <p:cNvPr id="177" name="Text 123">
            <a:extLst>
              <a:ext uri="{FF2B5EF4-FFF2-40B4-BE49-F238E27FC236}">
                <a16:creationId xmlns:a16="http://schemas.microsoft.com/office/drawing/2014/main" id="{6EB7D735-F6E0-EBA8-FA4C-D6C7CC0A9AA0}"/>
              </a:ext>
            </a:extLst>
          </p:cNvPr>
          <p:cNvSpPr/>
          <p:nvPr/>
        </p:nvSpPr>
        <p:spPr>
          <a:xfrm>
            <a:off x="9967913" y="6427530"/>
            <a:ext cx="1768929" cy="13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14" dirty="0">
                <a:solidFill>
                  <a:srgbClr val="EDF2F4">
                    <a:alpha val="70000"/>
                  </a:srgbClr>
                </a:solidFill>
                <a:latin typeface="+mn-ea"/>
                <a:cs typeface="MiSans" pitchFamily="34" charset="-120"/>
              </a:rPr>
              <a:t>~500°C 开始放热</a:t>
            </a:r>
            <a:endParaRPr 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0669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078" y="354962"/>
            <a:ext cx="2162876" cy="278873"/>
          </a:xfrm>
          <a:custGeom>
            <a:avLst/>
            <a:gdLst/>
            <a:ahLst/>
            <a:cxnLst/>
            <a:rect l="l" t="t" r="r" b="b"/>
            <a:pathLst>
              <a:path w="1586093" h="278873">
                <a:moveTo>
                  <a:pt x="34859" y="0"/>
                </a:moveTo>
                <a:lnTo>
                  <a:pt x="1551234" y="0"/>
                </a:lnTo>
                <a:cubicBezTo>
                  <a:pt x="1570486" y="0"/>
                  <a:pt x="1586093" y="15607"/>
                  <a:pt x="1586093" y="34859"/>
                </a:cubicBezTo>
                <a:lnTo>
                  <a:pt x="1586093" y="244014"/>
                </a:lnTo>
                <a:cubicBezTo>
                  <a:pt x="1586093" y="263266"/>
                  <a:pt x="1570486" y="278873"/>
                  <a:pt x="1551234" y="278873"/>
                </a:cubicBezTo>
                <a:lnTo>
                  <a:pt x="34859" y="278873"/>
                </a:lnTo>
                <a:cubicBezTo>
                  <a:pt x="15607" y="278873"/>
                  <a:pt x="0" y="263266"/>
                  <a:pt x="0" y="24401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3168" y="432256"/>
            <a:ext cx="1732623" cy="12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kern="0" spc="4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ADVANCED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8592" y="697184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深度洞察：基因图谱与热失控预警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592" y="1150353"/>
            <a:ext cx="697184" cy="34859"/>
          </a:xfrm>
          <a:custGeom>
            <a:avLst/>
            <a:gdLst/>
            <a:ahLst/>
            <a:cxnLst/>
            <a:rect l="l" t="t" r="r" b="b"/>
            <a:pathLst>
              <a:path w="697184" h="34859">
                <a:moveTo>
                  <a:pt x="0" y="0"/>
                </a:moveTo>
                <a:lnTo>
                  <a:pt x="697184" y="0"/>
                </a:lnTo>
                <a:lnTo>
                  <a:pt x="697184" y="34859"/>
                </a:lnTo>
                <a:lnTo>
                  <a:pt x="0" y="3485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52078" y="1362994"/>
            <a:ext cx="6821943" cy="3167066"/>
          </a:xfrm>
          <a:custGeom>
            <a:avLst/>
            <a:gdLst/>
            <a:ahLst/>
            <a:cxnLst/>
            <a:rect l="l" t="t" r="r" b="b"/>
            <a:pathLst>
              <a:path w="6821943" h="3641042">
                <a:moveTo>
                  <a:pt x="104571" y="0"/>
                </a:moveTo>
                <a:lnTo>
                  <a:pt x="6717372" y="0"/>
                </a:lnTo>
                <a:cubicBezTo>
                  <a:pt x="6775125" y="0"/>
                  <a:pt x="6821943" y="46818"/>
                  <a:pt x="6821943" y="104571"/>
                </a:cubicBezTo>
                <a:lnTo>
                  <a:pt x="6821943" y="3536471"/>
                </a:lnTo>
                <a:cubicBezTo>
                  <a:pt x="6821943" y="3594224"/>
                  <a:pt x="6775125" y="3641042"/>
                  <a:pt x="6717372" y="3641042"/>
                </a:cubicBezTo>
                <a:lnTo>
                  <a:pt x="104571" y="3641042"/>
                </a:lnTo>
                <a:cubicBezTo>
                  <a:pt x="46818" y="3641042"/>
                  <a:pt x="0" y="3594224"/>
                  <a:pt x="0" y="3536471"/>
                </a:cubicBezTo>
                <a:lnTo>
                  <a:pt x="0" y="104571"/>
                </a:lnTo>
                <a:cubicBezTo>
                  <a:pt x="0" y="46857"/>
                  <a:pt x="46857" y="0"/>
                  <a:pt x="10457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9860" y="1540774"/>
            <a:ext cx="418310" cy="418310"/>
          </a:xfrm>
          <a:custGeom>
            <a:avLst/>
            <a:gdLst/>
            <a:ahLst/>
            <a:cxnLst/>
            <a:rect l="l" t="t" r="r" b="b"/>
            <a:pathLst>
              <a:path w="418310" h="418310">
                <a:moveTo>
                  <a:pt x="104578" y="0"/>
                </a:moveTo>
                <a:lnTo>
                  <a:pt x="313733" y="0"/>
                </a:lnTo>
                <a:cubicBezTo>
                  <a:pt x="371451" y="0"/>
                  <a:pt x="418310" y="46860"/>
                  <a:pt x="418310" y="104578"/>
                </a:cubicBezTo>
                <a:lnTo>
                  <a:pt x="418310" y="313733"/>
                </a:lnTo>
                <a:cubicBezTo>
                  <a:pt x="418310" y="371451"/>
                  <a:pt x="371451" y="418310"/>
                  <a:pt x="313733" y="418310"/>
                </a:cubicBezTo>
                <a:lnTo>
                  <a:pt x="104578" y="418310"/>
                </a:lnTo>
                <a:cubicBezTo>
                  <a:pt x="46860" y="418310"/>
                  <a:pt x="0" y="371451"/>
                  <a:pt x="0" y="313733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73654" y="1662781"/>
            <a:ext cx="130722" cy="174296"/>
          </a:xfrm>
          <a:custGeom>
            <a:avLst/>
            <a:gdLst/>
            <a:ahLst/>
            <a:cxnLst/>
            <a:rect l="l" t="t" r="r" b="b"/>
            <a:pathLst>
              <a:path w="130722" h="174296">
                <a:moveTo>
                  <a:pt x="119828" y="0"/>
                </a:moveTo>
                <a:cubicBezTo>
                  <a:pt x="125854" y="0"/>
                  <a:pt x="130722" y="4868"/>
                  <a:pt x="130722" y="10893"/>
                </a:cubicBezTo>
                <a:cubicBezTo>
                  <a:pt x="130722" y="30570"/>
                  <a:pt x="122416" y="46570"/>
                  <a:pt x="111182" y="60084"/>
                </a:cubicBezTo>
                <a:cubicBezTo>
                  <a:pt x="102978" y="69923"/>
                  <a:pt x="92867" y="78842"/>
                  <a:pt x="82722" y="87148"/>
                </a:cubicBezTo>
                <a:cubicBezTo>
                  <a:pt x="92867" y="95488"/>
                  <a:pt x="102978" y="104373"/>
                  <a:pt x="111182" y="114211"/>
                </a:cubicBezTo>
                <a:cubicBezTo>
                  <a:pt x="122416" y="127692"/>
                  <a:pt x="130722" y="143726"/>
                  <a:pt x="130722" y="163402"/>
                </a:cubicBezTo>
                <a:cubicBezTo>
                  <a:pt x="130722" y="169428"/>
                  <a:pt x="125854" y="174296"/>
                  <a:pt x="119828" y="174296"/>
                </a:cubicBezTo>
                <a:cubicBezTo>
                  <a:pt x="113803" y="174296"/>
                  <a:pt x="108935" y="169428"/>
                  <a:pt x="108935" y="163402"/>
                </a:cubicBezTo>
                <a:lnTo>
                  <a:pt x="21787" y="163402"/>
                </a:lnTo>
                <a:cubicBezTo>
                  <a:pt x="21787" y="169428"/>
                  <a:pt x="16919" y="174296"/>
                  <a:pt x="10893" y="174296"/>
                </a:cubicBezTo>
                <a:cubicBezTo>
                  <a:pt x="4868" y="174296"/>
                  <a:pt x="0" y="169428"/>
                  <a:pt x="0" y="163402"/>
                </a:cubicBezTo>
                <a:cubicBezTo>
                  <a:pt x="0" y="143726"/>
                  <a:pt x="8306" y="127726"/>
                  <a:pt x="19540" y="114211"/>
                </a:cubicBezTo>
                <a:cubicBezTo>
                  <a:pt x="27744" y="104373"/>
                  <a:pt x="37855" y="95488"/>
                  <a:pt x="47999" y="87148"/>
                </a:cubicBezTo>
                <a:cubicBezTo>
                  <a:pt x="37855" y="78808"/>
                  <a:pt x="27744" y="69923"/>
                  <a:pt x="19540" y="60084"/>
                </a:cubicBezTo>
                <a:cubicBezTo>
                  <a:pt x="8306" y="46570"/>
                  <a:pt x="0" y="30570"/>
                  <a:pt x="0" y="10893"/>
                </a:cubicBezTo>
                <a:cubicBezTo>
                  <a:pt x="0" y="4868"/>
                  <a:pt x="4868" y="0"/>
                  <a:pt x="10893" y="0"/>
                </a:cubicBezTo>
                <a:cubicBezTo>
                  <a:pt x="16919" y="0"/>
                  <a:pt x="21787" y="4868"/>
                  <a:pt x="21787" y="10893"/>
                </a:cubicBezTo>
                <a:lnTo>
                  <a:pt x="108935" y="10893"/>
                </a:lnTo>
                <a:cubicBezTo>
                  <a:pt x="108935" y="4868"/>
                  <a:pt x="113803" y="0"/>
                  <a:pt x="119828" y="0"/>
                </a:cubicBezTo>
                <a:close/>
                <a:moveTo>
                  <a:pt x="96510" y="130722"/>
                </a:moveTo>
                <a:lnTo>
                  <a:pt x="34246" y="130722"/>
                </a:lnTo>
                <a:cubicBezTo>
                  <a:pt x="31455" y="134296"/>
                  <a:pt x="29106" y="137905"/>
                  <a:pt x="27234" y="141615"/>
                </a:cubicBezTo>
                <a:lnTo>
                  <a:pt x="103556" y="141615"/>
                </a:lnTo>
                <a:cubicBezTo>
                  <a:pt x="101650" y="137905"/>
                  <a:pt x="99301" y="134296"/>
                  <a:pt x="96544" y="130722"/>
                </a:cubicBezTo>
                <a:close/>
                <a:moveTo>
                  <a:pt x="81020" y="114382"/>
                </a:moveTo>
                <a:cubicBezTo>
                  <a:pt x="76152" y="109956"/>
                  <a:pt x="70876" y="105599"/>
                  <a:pt x="65361" y="101105"/>
                </a:cubicBezTo>
                <a:cubicBezTo>
                  <a:pt x="59846" y="105565"/>
                  <a:pt x="54570" y="109956"/>
                  <a:pt x="49702" y="114382"/>
                </a:cubicBezTo>
                <a:lnTo>
                  <a:pt x="81020" y="114382"/>
                </a:lnTo>
                <a:close/>
                <a:moveTo>
                  <a:pt x="34212" y="43574"/>
                </a:moveTo>
                <a:lnTo>
                  <a:pt x="96476" y="43574"/>
                </a:lnTo>
                <a:cubicBezTo>
                  <a:pt x="99267" y="40000"/>
                  <a:pt x="101616" y="36391"/>
                  <a:pt x="103488" y="32680"/>
                </a:cubicBezTo>
                <a:lnTo>
                  <a:pt x="27200" y="32680"/>
                </a:lnTo>
                <a:cubicBezTo>
                  <a:pt x="29106" y="36391"/>
                  <a:pt x="31455" y="40000"/>
                  <a:pt x="34212" y="43574"/>
                </a:cubicBezTo>
                <a:close/>
                <a:moveTo>
                  <a:pt x="49702" y="59914"/>
                </a:moveTo>
                <a:cubicBezTo>
                  <a:pt x="54570" y="64340"/>
                  <a:pt x="59846" y="68697"/>
                  <a:pt x="65361" y="73191"/>
                </a:cubicBezTo>
                <a:cubicBezTo>
                  <a:pt x="70876" y="68731"/>
                  <a:pt x="76152" y="64340"/>
                  <a:pt x="81020" y="59914"/>
                </a:cubicBezTo>
                <a:lnTo>
                  <a:pt x="49702" y="59914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52747" y="1540774"/>
            <a:ext cx="2230988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电芯基因图谱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2747" y="1784789"/>
            <a:ext cx="2204843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SOS演化分析 — 北京瑶想科技独家技术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9860" y="2098521"/>
            <a:ext cx="6466379" cy="1376938"/>
          </a:xfrm>
          <a:custGeom>
            <a:avLst/>
            <a:gdLst/>
            <a:ahLst/>
            <a:cxnLst/>
            <a:rect l="l" t="t" r="r" b="b"/>
            <a:pathLst>
              <a:path w="6466379" h="1376938">
                <a:moveTo>
                  <a:pt x="69714" y="0"/>
                </a:moveTo>
                <a:lnTo>
                  <a:pt x="6396664" y="0"/>
                </a:lnTo>
                <a:cubicBezTo>
                  <a:pt x="6435167" y="0"/>
                  <a:pt x="6466379" y="31212"/>
                  <a:pt x="6466379" y="69714"/>
                </a:cubicBezTo>
                <a:lnTo>
                  <a:pt x="6466379" y="1307223"/>
                </a:lnTo>
                <a:cubicBezTo>
                  <a:pt x="6466379" y="1345726"/>
                  <a:pt x="6435167" y="1376938"/>
                  <a:pt x="6396664" y="1376938"/>
                </a:cubicBezTo>
                <a:lnTo>
                  <a:pt x="69714" y="1376938"/>
                </a:lnTo>
                <a:cubicBezTo>
                  <a:pt x="31212" y="1376938"/>
                  <a:pt x="0" y="1345726"/>
                  <a:pt x="0" y="1307223"/>
                </a:cubicBezTo>
                <a:lnTo>
                  <a:pt x="0" y="69714"/>
                </a:lnTo>
                <a:cubicBezTo>
                  <a:pt x="0" y="31212"/>
                  <a:pt x="31212" y="0"/>
                  <a:pt x="6971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69296" y="2237958"/>
            <a:ext cx="6248509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核心逻辑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9296" y="2534261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104578" y="0"/>
                </a:moveTo>
                <a:lnTo>
                  <a:pt x="104578" y="0"/>
                </a:lnTo>
                <a:cubicBezTo>
                  <a:pt x="162295" y="0"/>
                  <a:pt x="209155" y="46860"/>
                  <a:pt x="209155" y="104578"/>
                </a:cubicBezTo>
                <a:lnTo>
                  <a:pt x="209155" y="104578"/>
                </a:lnTo>
                <a:cubicBezTo>
                  <a:pt x="209155" y="162295"/>
                  <a:pt x="162295" y="209155"/>
                  <a:pt x="104578" y="209155"/>
                </a:cubicBezTo>
                <a:lnTo>
                  <a:pt x="104578" y="209155"/>
                </a:lnTo>
                <a:cubicBezTo>
                  <a:pt x="46860" y="209155"/>
                  <a:pt x="0" y="162295"/>
                  <a:pt x="0" y="104578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53285" y="2569120"/>
            <a:ext cx="95863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3029" y="2516831"/>
            <a:ext cx="3843225" cy="20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不假设电池出厂一致，而是追踪单体在全生命周期中的</a:t>
            </a:r>
            <a:r>
              <a:rPr lang="en-US" sz="961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「本征衰减率」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9296" y="2830564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104578" y="0"/>
                </a:moveTo>
                <a:lnTo>
                  <a:pt x="104578" y="0"/>
                </a:lnTo>
                <a:cubicBezTo>
                  <a:pt x="162295" y="0"/>
                  <a:pt x="209155" y="46860"/>
                  <a:pt x="209155" y="104578"/>
                </a:cubicBezTo>
                <a:lnTo>
                  <a:pt x="209155" y="104578"/>
                </a:lnTo>
                <a:cubicBezTo>
                  <a:pt x="209155" y="162295"/>
                  <a:pt x="162295" y="209155"/>
                  <a:pt x="104578" y="209155"/>
                </a:cubicBezTo>
                <a:lnTo>
                  <a:pt x="104578" y="209155"/>
                </a:lnTo>
                <a:cubicBezTo>
                  <a:pt x="46860" y="209155"/>
                  <a:pt x="0" y="162295"/>
                  <a:pt x="0" y="104578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44461" y="2865423"/>
            <a:ext cx="113292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3029" y="2813135"/>
            <a:ext cx="3843225" cy="20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建立每个电芯的</a:t>
            </a:r>
            <a:r>
              <a:rPr lang="en-US" sz="961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衰减档案（基因库）</a:t>
            </a: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，剔除因制造工艺导致的先天差异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9296" y="3126867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104578" y="0"/>
                </a:moveTo>
                <a:lnTo>
                  <a:pt x="104578" y="0"/>
                </a:lnTo>
                <a:cubicBezTo>
                  <a:pt x="162295" y="0"/>
                  <a:pt x="209155" y="46860"/>
                  <a:pt x="209155" y="104578"/>
                </a:cubicBezTo>
                <a:lnTo>
                  <a:pt x="209155" y="104578"/>
                </a:lnTo>
                <a:cubicBezTo>
                  <a:pt x="209155" y="162295"/>
                  <a:pt x="162295" y="209155"/>
                  <a:pt x="104578" y="209155"/>
                </a:cubicBezTo>
                <a:lnTo>
                  <a:pt x="104578" y="209155"/>
                </a:lnTo>
                <a:cubicBezTo>
                  <a:pt x="46860" y="209155"/>
                  <a:pt x="0" y="162295"/>
                  <a:pt x="0" y="104578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43045" y="3161726"/>
            <a:ext cx="113292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3029" y="3109438"/>
            <a:ext cx="2989175" cy="20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精准锁定后天突变的</a:t>
            </a:r>
            <a:r>
              <a:rPr lang="en-US" sz="961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「病变电芯」</a:t>
            </a: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，极大降低虚假报警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346" y="3618382"/>
            <a:ext cx="6455921" cy="739015"/>
          </a:xfrm>
          <a:custGeom>
            <a:avLst/>
            <a:gdLst/>
            <a:ahLst/>
            <a:cxnLst/>
            <a:rect l="l" t="t" r="r" b="b"/>
            <a:pathLst>
              <a:path w="6455921" h="739015">
                <a:moveTo>
                  <a:pt x="69719" y="0"/>
                </a:moveTo>
                <a:lnTo>
                  <a:pt x="6386202" y="0"/>
                </a:lnTo>
                <a:cubicBezTo>
                  <a:pt x="6424707" y="0"/>
                  <a:pt x="6455921" y="31214"/>
                  <a:pt x="6455921" y="69719"/>
                </a:cubicBezTo>
                <a:lnTo>
                  <a:pt x="6455921" y="669296"/>
                </a:lnTo>
                <a:cubicBezTo>
                  <a:pt x="6455921" y="707775"/>
                  <a:pt x="6424681" y="739015"/>
                  <a:pt x="6386202" y="739015"/>
                </a:cubicBezTo>
                <a:lnTo>
                  <a:pt x="69719" y="739015"/>
                </a:lnTo>
                <a:cubicBezTo>
                  <a:pt x="31214" y="739015"/>
                  <a:pt x="0" y="707801"/>
                  <a:pt x="0" y="669296"/>
                </a:cubicBezTo>
                <a:lnTo>
                  <a:pt x="0" y="69719"/>
                </a:lnTo>
                <a:cubicBezTo>
                  <a:pt x="0" y="31214"/>
                  <a:pt x="31214" y="0"/>
                  <a:pt x="69719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76268" y="3801613"/>
            <a:ext cx="2492432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技术效果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268" y="3975798"/>
            <a:ext cx="2501147" cy="20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从「千人一面」到</a:t>
            </a:r>
            <a:r>
              <a:rPr lang="en-US" sz="961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「一芯一策」</a:t>
            </a: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的基因级管理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37827" y="3761307"/>
            <a:ext cx="915054" cy="31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5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↓85%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16260" y="4075040"/>
            <a:ext cx="836620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虚假报警率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2078" y="4624287"/>
            <a:ext cx="6821943" cy="2088068"/>
          </a:xfrm>
          <a:custGeom>
            <a:avLst/>
            <a:gdLst/>
            <a:ahLst/>
            <a:cxnLst/>
            <a:rect l="l" t="t" r="r" b="b"/>
            <a:pathLst>
              <a:path w="6821943" h="1993945">
                <a:moveTo>
                  <a:pt x="104582" y="0"/>
                </a:moveTo>
                <a:lnTo>
                  <a:pt x="6717360" y="0"/>
                </a:lnTo>
                <a:cubicBezTo>
                  <a:pt x="6775119" y="0"/>
                  <a:pt x="6821943" y="46823"/>
                  <a:pt x="6821943" y="104582"/>
                </a:cubicBezTo>
                <a:lnTo>
                  <a:pt x="6821943" y="1889363"/>
                </a:lnTo>
                <a:cubicBezTo>
                  <a:pt x="6821943" y="1947122"/>
                  <a:pt x="6775119" y="1993945"/>
                  <a:pt x="6717360" y="1993945"/>
                </a:cubicBezTo>
                <a:lnTo>
                  <a:pt x="104582" y="1993945"/>
                </a:lnTo>
                <a:cubicBezTo>
                  <a:pt x="46823" y="1993945"/>
                  <a:pt x="0" y="1947122"/>
                  <a:pt x="0" y="1889363"/>
                </a:cubicBezTo>
                <a:lnTo>
                  <a:pt x="0" y="104582"/>
                </a:lnTo>
                <a:cubicBezTo>
                  <a:pt x="0" y="46862"/>
                  <a:pt x="46862" y="0"/>
                  <a:pt x="104582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12430" y="4802068"/>
            <a:ext cx="139437" cy="139437"/>
          </a:xfrm>
          <a:custGeom>
            <a:avLst/>
            <a:gdLst/>
            <a:ahLst/>
            <a:cxnLst/>
            <a:rect l="l" t="t" r="r" b="b"/>
            <a:pathLst>
              <a:path w="139437" h="139437">
                <a:moveTo>
                  <a:pt x="17430" y="17430"/>
                </a:moveTo>
                <a:cubicBezTo>
                  <a:pt x="17430" y="12609"/>
                  <a:pt x="13535" y="8715"/>
                  <a:pt x="8715" y="8715"/>
                </a:cubicBezTo>
                <a:cubicBezTo>
                  <a:pt x="3894" y="8715"/>
                  <a:pt x="0" y="12609"/>
                  <a:pt x="0" y="17430"/>
                </a:cubicBezTo>
                <a:lnTo>
                  <a:pt x="0" y="108935"/>
                </a:lnTo>
                <a:cubicBezTo>
                  <a:pt x="0" y="120972"/>
                  <a:pt x="9750" y="130722"/>
                  <a:pt x="21787" y="130722"/>
                </a:cubicBezTo>
                <a:lnTo>
                  <a:pt x="130722" y="130722"/>
                </a:lnTo>
                <a:cubicBezTo>
                  <a:pt x="135542" y="130722"/>
                  <a:pt x="139437" y="126828"/>
                  <a:pt x="139437" y="122007"/>
                </a:cubicBezTo>
                <a:cubicBezTo>
                  <a:pt x="139437" y="117187"/>
                  <a:pt x="135542" y="113292"/>
                  <a:pt x="130722" y="113292"/>
                </a:cubicBezTo>
                <a:lnTo>
                  <a:pt x="21787" y="113292"/>
                </a:lnTo>
                <a:cubicBezTo>
                  <a:pt x="19390" y="113292"/>
                  <a:pt x="17430" y="111332"/>
                  <a:pt x="17430" y="108935"/>
                </a:cubicBezTo>
                <a:lnTo>
                  <a:pt x="17430" y="17430"/>
                </a:lnTo>
                <a:close/>
                <a:moveTo>
                  <a:pt x="128162" y="41014"/>
                </a:moveTo>
                <a:cubicBezTo>
                  <a:pt x="131566" y="37610"/>
                  <a:pt x="131566" y="32081"/>
                  <a:pt x="128162" y="28677"/>
                </a:cubicBezTo>
                <a:cubicBezTo>
                  <a:pt x="124758" y="25273"/>
                  <a:pt x="119229" y="25273"/>
                  <a:pt x="115825" y="28677"/>
                </a:cubicBezTo>
                <a:lnTo>
                  <a:pt x="87148" y="57381"/>
                </a:lnTo>
                <a:lnTo>
                  <a:pt x="71516" y="41777"/>
                </a:lnTo>
                <a:cubicBezTo>
                  <a:pt x="68112" y="38372"/>
                  <a:pt x="62583" y="38372"/>
                  <a:pt x="59179" y="41777"/>
                </a:cubicBezTo>
                <a:lnTo>
                  <a:pt x="33035" y="67921"/>
                </a:lnTo>
                <a:cubicBezTo>
                  <a:pt x="29630" y="71325"/>
                  <a:pt x="29630" y="76854"/>
                  <a:pt x="33035" y="80258"/>
                </a:cubicBezTo>
                <a:cubicBezTo>
                  <a:pt x="36439" y="83662"/>
                  <a:pt x="41967" y="83662"/>
                  <a:pt x="45371" y="80258"/>
                </a:cubicBezTo>
                <a:lnTo>
                  <a:pt x="65361" y="60268"/>
                </a:lnTo>
                <a:lnTo>
                  <a:pt x="80993" y="75900"/>
                </a:lnTo>
                <a:cubicBezTo>
                  <a:pt x="84397" y="79305"/>
                  <a:pt x="89926" y="79305"/>
                  <a:pt x="93330" y="75900"/>
                </a:cubicBezTo>
                <a:lnTo>
                  <a:pt x="128189" y="41041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69296" y="4767208"/>
            <a:ext cx="6431520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基因图谱演化示意</a:t>
            </a:r>
            <a:endParaRPr lang="en-US" sz="1600" dirty="0"/>
          </a:p>
        </p:txBody>
      </p:sp>
      <p:pic>
        <p:nvPicPr>
          <p:cNvPr id="30" name="Image 0" descr="https://kimi-img.moonshot.cn/pub/slides/26-02-01-21:23:29-d5vl7k9ic4u0a4g9lleg.png"/>
          <p:cNvPicPr>
            <a:picLocks noChangeAspect="1"/>
          </p:cNvPicPr>
          <p:nvPr/>
        </p:nvPicPr>
        <p:blipFill>
          <a:blip r:embed="rId3"/>
          <a:srcRect t="30" b="30"/>
          <a:stretch/>
        </p:blipFill>
        <p:spPr>
          <a:xfrm>
            <a:off x="495000" y="5080941"/>
            <a:ext cx="5908632" cy="1394367"/>
          </a:xfrm>
          <a:prstGeom prst="roundRect">
            <a:avLst>
              <a:gd name="adj" fmla="val 0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7353981" y="1362995"/>
            <a:ext cx="4486377" cy="3961960"/>
          </a:xfrm>
          <a:custGeom>
            <a:avLst/>
            <a:gdLst/>
            <a:ahLst/>
            <a:cxnLst/>
            <a:rect l="l" t="t" r="r" b="b"/>
            <a:pathLst>
              <a:path w="4486377" h="4373085">
                <a:moveTo>
                  <a:pt x="104560" y="0"/>
                </a:moveTo>
                <a:lnTo>
                  <a:pt x="4381817" y="0"/>
                </a:lnTo>
                <a:cubicBezTo>
                  <a:pt x="4439564" y="0"/>
                  <a:pt x="4486377" y="46813"/>
                  <a:pt x="4486377" y="104560"/>
                </a:cubicBezTo>
                <a:lnTo>
                  <a:pt x="4486377" y="4268524"/>
                </a:lnTo>
                <a:cubicBezTo>
                  <a:pt x="4486377" y="4326271"/>
                  <a:pt x="4439564" y="4373085"/>
                  <a:pt x="4381817" y="4373085"/>
                </a:cubicBezTo>
                <a:lnTo>
                  <a:pt x="104560" y="4373085"/>
                </a:lnTo>
                <a:cubicBezTo>
                  <a:pt x="46813" y="4373085"/>
                  <a:pt x="0" y="4326271"/>
                  <a:pt x="0" y="4268524"/>
                </a:cubicBezTo>
                <a:lnTo>
                  <a:pt x="0" y="104560"/>
                </a:lnTo>
                <a:cubicBezTo>
                  <a:pt x="0" y="46852"/>
                  <a:pt x="46852" y="0"/>
                  <a:pt x="10456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7531763" y="1540774"/>
            <a:ext cx="418310" cy="418310"/>
          </a:xfrm>
          <a:custGeom>
            <a:avLst/>
            <a:gdLst/>
            <a:ahLst/>
            <a:cxnLst/>
            <a:rect l="l" t="t" r="r" b="b"/>
            <a:pathLst>
              <a:path w="418310" h="418310">
                <a:moveTo>
                  <a:pt x="104578" y="0"/>
                </a:moveTo>
                <a:lnTo>
                  <a:pt x="313733" y="0"/>
                </a:lnTo>
                <a:cubicBezTo>
                  <a:pt x="371451" y="0"/>
                  <a:pt x="418310" y="46860"/>
                  <a:pt x="418310" y="104578"/>
                </a:cubicBezTo>
                <a:lnTo>
                  <a:pt x="418310" y="313733"/>
                </a:lnTo>
                <a:cubicBezTo>
                  <a:pt x="418310" y="371451"/>
                  <a:pt x="371451" y="418310"/>
                  <a:pt x="313733" y="418310"/>
                </a:cubicBezTo>
                <a:lnTo>
                  <a:pt x="104578" y="418310"/>
                </a:lnTo>
                <a:cubicBezTo>
                  <a:pt x="46860" y="418310"/>
                  <a:pt x="0" y="371451"/>
                  <a:pt x="0" y="313733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7653770" y="1662781"/>
            <a:ext cx="174296" cy="174296"/>
          </a:xfrm>
          <a:custGeom>
            <a:avLst/>
            <a:gdLst/>
            <a:ahLst/>
            <a:cxnLst/>
            <a:rect l="l" t="t" r="r" b="b"/>
            <a:pathLst>
              <a:path w="174296" h="174296">
                <a:moveTo>
                  <a:pt x="174296" y="10893"/>
                </a:moveTo>
                <a:cubicBezTo>
                  <a:pt x="174296" y="7625"/>
                  <a:pt x="172832" y="4528"/>
                  <a:pt x="170313" y="2485"/>
                </a:cubicBezTo>
                <a:cubicBezTo>
                  <a:pt x="167794" y="443"/>
                  <a:pt x="164458" y="-443"/>
                  <a:pt x="161258" y="204"/>
                </a:cubicBezTo>
                <a:lnTo>
                  <a:pt x="106790" y="11098"/>
                </a:lnTo>
                <a:cubicBezTo>
                  <a:pt x="102637" y="11949"/>
                  <a:pt x="99403" y="15081"/>
                  <a:pt x="98382" y="19064"/>
                </a:cubicBezTo>
                <a:lnTo>
                  <a:pt x="76254" y="19064"/>
                </a:lnTo>
                <a:lnTo>
                  <a:pt x="76254" y="10893"/>
                </a:lnTo>
                <a:cubicBezTo>
                  <a:pt x="76254" y="4868"/>
                  <a:pt x="71386" y="0"/>
                  <a:pt x="65361" y="0"/>
                </a:cubicBezTo>
                <a:lnTo>
                  <a:pt x="54467" y="0"/>
                </a:lnTo>
                <a:cubicBezTo>
                  <a:pt x="48442" y="0"/>
                  <a:pt x="43574" y="4868"/>
                  <a:pt x="43574" y="10893"/>
                </a:cubicBezTo>
                <a:lnTo>
                  <a:pt x="43574" y="20561"/>
                </a:lnTo>
                <a:cubicBezTo>
                  <a:pt x="24749" y="24749"/>
                  <a:pt x="9089" y="37412"/>
                  <a:pt x="851" y="54297"/>
                </a:cubicBezTo>
                <a:cubicBezTo>
                  <a:pt x="-1123" y="58348"/>
                  <a:pt x="545" y="63250"/>
                  <a:pt x="4630" y="65225"/>
                </a:cubicBezTo>
                <a:cubicBezTo>
                  <a:pt x="8715" y="67199"/>
                  <a:pt x="13583" y="65531"/>
                  <a:pt x="15557" y="61446"/>
                </a:cubicBezTo>
                <a:cubicBezTo>
                  <a:pt x="21106" y="50008"/>
                  <a:pt x="31251" y="41225"/>
                  <a:pt x="43574" y="37446"/>
                </a:cubicBezTo>
                <a:lnTo>
                  <a:pt x="43574" y="47251"/>
                </a:lnTo>
                <a:cubicBezTo>
                  <a:pt x="30706" y="53378"/>
                  <a:pt x="21787" y="66484"/>
                  <a:pt x="21787" y="81701"/>
                </a:cubicBezTo>
                <a:lnTo>
                  <a:pt x="21787" y="125275"/>
                </a:lnTo>
                <a:lnTo>
                  <a:pt x="98041" y="125275"/>
                </a:lnTo>
                <a:lnTo>
                  <a:pt x="98041" y="81701"/>
                </a:lnTo>
                <a:cubicBezTo>
                  <a:pt x="98041" y="66484"/>
                  <a:pt x="89122" y="53378"/>
                  <a:pt x="76254" y="47251"/>
                </a:cubicBezTo>
                <a:lnTo>
                  <a:pt x="76254" y="35404"/>
                </a:lnTo>
                <a:lnTo>
                  <a:pt x="98382" y="35404"/>
                </a:lnTo>
                <a:cubicBezTo>
                  <a:pt x="99403" y="39387"/>
                  <a:pt x="102637" y="42519"/>
                  <a:pt x="106790" y="43370"/>
                </a:cubicBezTo>
                <a:lnTo>
                  <a:pt x="161258" y="54263"/>
                </a:lnTo>
                <a:cubicBezTo>
                  <a:pt x="164458" y="54910"/>
                  <a:pt x="167760" y="54059"/>
                  <a:pt x="170313" y="52016"/>
                </a:cubicBezTo>
                <a:cubicBezTo>
                  <a:pt x="172866" y="49974"/>
                  <a:pt x="174296" y="46842"/>
                  <a:pt x="174296" y="43574"/>
                </a:cubicBezTo>
                <a:lnTo>
                  <a:pt x="174296" y="10893"/>
                </a:lnTo>
                <a:close/>
                <a:moveTo>
                  <a:pt x="98041" y="152509"/>
                </a:moveTo>
                <a:lnTo>
                  <a:pt x="98041" y="141615"/>
                </a:lnTo>
                <a:lnTo>
                  <a:pt x="21787" y="141615"/>
                </a:lnTo>
                <a:lnTo>
                  <a:pt x="21787" y="152509"/>
                </a:lnTo>
                <a:cubicBezTo>
                  <a:pt x="21787" y="164526"/>
                  <a:pt x="31557" y="174296"/>
                  <a:pt x="43574" y="174296"/>
                </a:cubicBezTo>
                <a:lnTo>
                  <a:pt x="76254" y="174296"/>
                </a:lnTo>
                <a:cubicBezTo>
                  <a:pt x="88271" y="174296"/>
                  <a:pt x="98041" y="164526"/>
                  <a:pt x="98041" y="152509"/>
                </a:cubicBez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8054650" y="1540774"/>
            <a:ext cx="1978259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2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热失控预警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054650" y="1784789"/>
            <a:ext cx="1952114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终极防线 — MEMS气体传感器阵列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31763" y="2098521"/>
            <a:ext cx="4130813" cy="618751"/>
          </a:xfrm>
          <a:custGeom>
            <a:avLst/>
            <a:gdLst/>
            <a:ahLst/>
            <a:cxnLst/>
            <a:rect l="l" t="t" r="r" b="b"/>
            <a:pathLst>
              <a:path w="4130813" h="618751">
                <a:moveTo>
                  <a:pt x="69721" y="0"/>
                </a:moveTo>
                <a:lnTo>
                  <a:pt x="4061093" y="0"/>
                </a:lnTo>
                <a:cubicBezTo>
                  <a:pt x="4099598" y="0"/>
                  <a:pt x="4130813" y="31215"/>
                  <a:pt x="4130813" y="69721"/>
                </a:cubicBezTo>
                <a:lnTo>
                  <a:pt x="4130813" y="549030"/>
                </a:lnTo>
                <a:cubicBezTo>
                  <a:pt x="4130813" y="587535"/>
                  <a:pt x="4099598" y="618751"/>
                  <a:pt x="4061093" y="618751"/>
                </a:cubicBezTo>
                <a:lnTo>
                  <a:pt x="69721" y="618751"/>
                </a:lnTo>
                <a:cubicBezTo>
                  <a:pt x="31241" y="618751"/>
                  <a:pt x="0" y="587510"/>
                  <a:pt x="0" y="549030"/>
                </a:cubicBezTo>
                <a:lnTo>
                  <a:pt x="0" y="69721"/>
                </a:lnTo>
                <a:cubicBezTo>
                  <a:pt x="0" y="31241"/>
                  <a:pt x="31241" y="0"/>
                  <a:pt x="6972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7636340" y="2203099"/>
            <a:ext cx="3973947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终极防线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636340" y="2412148"/>
            <a:ext cx="3982662" cy="20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当电化学手段失效时，依靠</a:t>
            </a:r>
            <a:r>
              <a:rPr lang="en-US" sz="961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物理产物</a:t>
            </a: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进行最后预警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531763" y="2819564"/>
            <a:ext cx="4130813" cy="801761"/>
          </a:xfrm>
          <a:custGeom>
            <a:avLst/>
            <a:gdLst/>
            <a:ahLst/>
            <a:cxnLst/>
            <a:rect l="l" t="t" r="r" b="b"/>
            <a:pathLst>
              <a:path w="4130813" h="801761">
                <a:moveTo>
                  <a:pt x="69721" y="0"/>
                </a:moveTo>
                <a:lnTo>
                  <a:pt x="4061092" y="0"/>
                </a:lnTo>
                <a:cubicBezTo>
                  <a:pt x="4099572" y="0"/>
                  <a:pt x="4130813" y="31241"/>
                  <a:pt x="4130813" y="69721"/>
                </a:cubicBezTo>
                <a:lnTo>
                  <a:pt x="4130813" y="732040"/>
                </a:lnTo>
                <a:cubicBezTo>
                  <a:pt x="4130813" y="770520"/>
                  <a:pt x="4099572" y="801761"/>
                  <a:pt x="4061092" y="801761"/>
                </a:cubicBezTo>
                <a:lnTo>
                  <a:pt x="69721" y="801761"/>
                </a:lnTo>
                <a:cubicBezTo>
                  <a:pt x="31241" y="801761"/>
                  <a:pt x="0" y="770520"/>
                  <a:pt x="0" y="732040"/>
                </a:cubicBezTo>
                <a:lnTo>
                  <a:pt x="0" y="69721"/>
                </a:lnTo>
                <a:cubicBezTo>
                  <a:pt x="0" y="31241"/>
                  <a:pt x="31241" y="0"/>
                  <a:pt x="6972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7636340" y="2924142"/>
            <a:ext cx="3973947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多模态融合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636340" y="3133186"/>
            <a:ext cx="662325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H₂/CO监测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307598" y="3150616"/>
            <a:ext cx="1124209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热失控早期特征气体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636340" y="3342341"/>
            <a:ext cx="618751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VOCs检测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267945" y="3359771"/>
            <a:ext cx="915054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电解液挥发成分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31763" y="3725792"/>
            <a:ext cx="4130813" cy="583891"/>
          </a:xfrm>
          <a:custGeom>
            <a:avLst/>
            <a:gdLst/>
            <a:ahLst/>
            <a:cxnLst/>
            <a:rect l="l" t="t" r="r" b="b"/>
            <a:pathLst>
              <a:path w="4130813" h="583891">
                <a:moveTo>
                  <a:pt x="69717" y="0"/>
                </a:moveTo>
                <a:lnTo>
                  <a:pt x="4061097" y="0"/>
                </a:lnTo>
                <a:cubicBezTo>
                  <a:pt x="4099600" y="0"/>
                  <a:pt x="4130813" y="31213"/>
                  <a:pt x="4130813" y="69717"/>
                </a:cubicBezTo>
                <a:lnTo>
                  <a:pt x="4130813" y="514175"/>
                </a:lnTo>
                <a:cubicBezTo>
                  <a:pt x="4130813" y="552678"/>
                  <a:pt x="4099600" y="583891"/>
                  <a:pt x="4061097" y="583891"/>
                </a:cubicBezTo>
                <a:lnTo>
                  <a:pt x="69717" y="583891"/>
                </a:lnTo>
                <a:cubicBezTo>
                  <a:pt x="31239" y="583891"/>
                  <a:pt x="0" y="552652"/>
                  <a:pt x="0" y="514175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7636340" y="3830370"/>
            <a:ext cx="3973947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时序逻辑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636340" y="4039419"/>
            <a:ext cx="3973947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3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电压压差异常 → 温度异常 → </a:t>
            </a:r>
            <a:r>
              <a:rPr lang="en-US" sz="823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气体逸散</a:t>
            </a:r>
            <a:r>
              <a:rPr lang="en-US" sz="823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烟雾/明火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535249" y="4421998"/>
            <a:ext cx="4120356" cy="773221"/>
          </a:xfrm>
          <a:custGeom>
            <a:avLst/>
            <a:gdLst/>
            <a:ahLst/>
            <a:cxnLst/>
            <a:rect l="l" t="t" r="r" b="b"/>
            <a:pathLst>
              <a:path w="4120356" h="843592">
                <a:moveTo>
                  <a:pt x="69714" y="0"/>
                </a:moveTo>
                <a:lnTo>
                  <a:pt x="4050641" y="0"/>
                </a:lnTo>
                <a:cubicBezTo>
                  <a:pt x="4089143" y="0"/>
                  <a:pt x="4120356" y="31212"/>
                  <a:pt x="4120356" y="69714"/>
                </a:cubicBezTo>
                <a:lnTo>
                  <a:pt x="4120356" y="773878"/>
                </a:lnTo>
                <a:cubicBezTo>
                  <a:pt x="4120356" y="812380"/>
                  <a:pt x="4089143" y="843592"/>
                  <a:pt x="4050641" y="843592"/>
                </a:cubicBezTo>
                <a:lnTo>
                  <a:pt x="69714" y="843592"/>
                </a:lnTo>
                <a:cubicBezTo>
                  <a:pt x="31212" y="843592"/>
                  <a:pt x="0" y="812380"/>
                  <a:pt x="0" y="773878"/>
                </a:cubicBezTo>
                <a:lnTo>
                  <a:pt x="0" y="69714"/>
                </a:lnTo>
                <a:cubicBezTo>
                  <a:pt x="0" y="31238"/>
                  <a:pt x="31238" y="0"/>
                  <a:pt x="6971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7617168" y="4530060"/>
            <a:ext cx="3956518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预警提前量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577951" y="4704245"/>
            <a:ext cx="4034951" cy="31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2-5 min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617168" y="5017978"/>
            <a:ext cx="3956518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3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比温控提前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353981" y="5450452"/>
            <a:ext cx="4486377" cy="1261903"/>
          </a:xfrm>
          <a:custGeom>
            <a:avLst/>
            <a:gdLst/>
            <a:ahLst/>
            <a:cxnLst/>
            <a:rect l="l" t="t" r="r" b="b"/>
            <a:pathLst>
              <a:path w="4486377" h="1261903">
                <a:moveTo>
                  <a:pt x="104574" y="0"/>
                </a:moveTo>
                <a:lnTo>
                  <a:pt x="4381803" y="0"/>
                </a:lnTo>
                <a:cubicBezTo>
                  <a:pt x="4439558" y="0"/>
                  <a:pt x="4486377" y="46819"/>
                  <a:pt x="4486377" y="104574"/>
                </a:cubicBezTo>
                <a:lnTo>
                  <a:pt x="4486377" y="1157329"/>
                </a:lnTo>
                <a:cubicBezTo>
                  <a:pt x="4486377" y="1215083"/>
                  <a:pt x="4439558" y="1261903"/>
                  <a:pt x="4381803" y="1261903"/>
                </a:cubicBezTo>
                <a:lnTo>
                  <a:pt x="104574" y="1261903"/>
                </a:lnTo>
                <a:cubicBezTo>
                  <a:pt x="46819" y="1261903"/>
                  <a:pt x="0" y="1215083"/>
                  <a:pt x="0" y="1157329"/>
                </a:cubicBezTo>
                <a:lnTo>
                  <a:pt x="0" y="104574"/>
                </a:lnTo>
                <a:cubicBezTo>
                  <a:pt x="0" y="46858"/>
                  <a:pt x="46858" y="0"/>
                  <a:pt x="104574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0"/>
          <p:cNvSpPr/>
          <p:nvPr/>
        </p:nvSpPr>
        <p:spPr>
          <a:xfrm>
            <a:off x="7514333" y="5628233"/>
            <a:ext cx="139437" cy="139437"/>
          </a:xfrm>
          <a:custGeom>
            <a:avLst/>
            <a:gdLst/>
            <a:ahLst/>
            <a:cxnLst/>
            <a:rect l="l" t="t" r="r" b="b"/>
            <a:pathLst>
              <a:path w="139437" h="139437">
                <a:moveTo>
                  <a:pt x="63318" y="1416"/>
                </a:moveTo>
                <a:cubicBezTo>
                  <a:pt x="67376" y="-463"/>
                  <a:pt x="72060" y="-463"/>
                  <a:pt x="76118" y="1416"/>
                </a:cubicBezTo>
                <a:lnTo>
                  <a:pt x="135651" y="28922"/>
                </a:lnTo>
                <a:cubicBezTo>
                  <a:pt x="137966" y="29984"/>
                  <a:pt x="139437" y="32299"/>
                  <a:pt x="139437" y="34859"/>
                </a:cubicBezTo>
                <a:cubicBezTo>
                  <a:pt x="139437" y="37419"/>
                  <a:pt x="137966" y="39734"/>
                  <a:pt x="135651" y="40796"/>
                </a:cubicBezTo>
                <a:lnTo>
                  <a:pt x="76118" y="68302"/>
                </a:lnTo>
                <a:cubicBezTo>
                  <a:pt x="72060" y="70181"/>
                  <a:pt x="67376" y="70181"/>
                  <a:pt x="63318" y="68302"/>
                </a:cubicBezTo>
                <a:lnTo>
                  <a:pt x="3785" y="40796"/>
                </a:lnTo>
                <a:cubicBezTo>
                  <a:pt x="1471" y="39707"/>
                  <a:pt x="0" y="37392"/>
                  <a:pt x="0" y="34859"/>
                </a:cubicBezTo>
                <a:cubicBezTo>
                  <a:pt x="0" y="32326"/>
                  <a:pt x="1471" y="29984"/>
                  <a:pt x="3785" y="28922"/>
                </a:cubicBezTo>
                <a:lnTo>
                  <a:pt x="63318" y="1416"/>
                </a:lnTo>
                <a:close/>
                <a:moveTo>
                  <a:pt x="13099" y="59478"/>
                </a:moveTo>
                <a:lnTo>
                  <a:pt x="57844" y="80149"/>
                </a:lnTo>
                <a:cubicBezTo>
                  <a:pt x="65388" y="83635"/>
                  <a:pt x="74076" y="83635"/>
                  <a:pt x="81620" y="80149"/>
                </a:cubicBezTo>
                <a:lnTo>
                  <a:pt x="126365" y="59478"/>
                </a:lnTo>
                <a:lnTo>
                  <a:pt x="135651" y="63781"/>
                </a:lnTo>
                <a:cubicBezTo>
                  <a:pt x="137966" y="64844"/>
                  <a:pt x="139437" y="67158"/>
                  <a:pt x="139437" y="69718"/>
                </a:cubicBezTo>
                <a:cubicBezTo>
                  <a:pt x="139437" y="72278"/>
                  <a:pt x="137966" y="74593"/>
                  <a:pt x="135651" y="75655"/>
                </a:cubicBezTo>
                <a:lnTo>
                  <a:pt x="76118" y="103161"/>
                </a:lnTo>
                <a:cubicBezTo>
                  <a:pt x="72060" y="105041"/>
                  <a:pt x="67376" y="105041"/>
                  <a:pt x="63318" y="103161"/>
                </a:cubicBezTo>
                <a:lnTo>
                  <a:pt x="3785" y="75655"/>
                </a:lnTo>
                <a:cubicBezTo>
                  <a:pt x="1471" y="74566"/>
                  <a:pt x="0" y="72251"/>
                  <a:pt x="0" y="69718"/>
                </a:cubicBezTo>
                <a:cubicBezTo>
                  <a:pt x="0" y="67186"/>
                  <a:pt x="1471" y="64844"/>
                  <a:pt x="3785" y="63781"/>
                </a:cubicBezTo>
                <a:lnTo>
                  <a:pt x="13072" y="59478"/>
                </a:lnTo>
                <a:close/>
                <a:moveTo>
                  <a:pt x="3785" y="98641"/>
                </a:moveTo>
                <a:lnTo>
                  <a:pt x="13072" y="94338"/>
                </a:lnTo>
                <a:lnTo>
                  <a:pt x="57817" y="115008"/>
                </a:lnTo>
                <a:cubicBezTo>
                  <a:pt x="65361" y="118494"/>
                  <a:pt x="74049" y="118494"/>
                  <a:pt x="81592" y="115008"/>
                </a:cubicBezTo>
                <a:lnTo>
                  <a:pt x="126337" y="94338"/>
                </a:lnTo>
                <a:lnTo>
                  <a:pt x="135624" y="98641"/>
                </a:lnTo>
                <a:cubicBezTo>
                  <a:pt x="137939" y="99703"/>
                  <a:pt x="139410" y="102018"/>
                  <a:pt x="139410" y="104578"/>
                </a:cubicBezTo>
                <a:cubicBezTo>
                  <a:pt x="139410" y="107138"/>
                  <a:pt x="137939" y="109452"/>
                  <a:pt x="135624" y="110515"/>
                </a:cubicBezTo>
                <a:lnTo>
                  <a:pt x="76091" y="138021"/>
                </a:lnTo>
                <a:cubicBezTo>
                  <a:pt x="72033" y="139900"/>
                  <a:pt x="67349" y="139900"/>
                  <a:pt x="63291" y="138021"/>
                </a:cubicBezTo>
                <a:lnTo>
                  <a:pt x="3785" y="110515"/>
                </a:lnTo>
                <a:cubicBezTo>
                  <a:pt x="1471" y="109425"/>
                  <a:pt x="0" y="107110"/>
                  <a:pt x="0" y="104578"/>
                </a:cubicBezTo>
                <a:cubicBezTo>
                  <a:pt x="0" y="102045"/>
                  <a:pt x="1471" y="99703"/>
                  <a:pt x="3785" y="98641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7671199" y="5593373"/>
            <a:ext cx="4095954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预警层级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496904" y="5941965"/>
            <a:ext cx="104578" cy="104578"/>
          </a:xfrm>
          <a:custGeom>
            <a:avLst/>
            <a:gdLst/>
            <a:ahLst/>
            <a:cxnLst/>
            <a:rect l="l" t="t" r="r" b="b"/>
            <a:pathLst>
              <a:path w="104578" h="104578">
                <a:moveTo>
                  <a:pt x="52289" y="0"/>
                </a:moveTo>
                <a:lnTo>
                  <a:pt x="52289" y="0"/>
                </a:lnTo>
                <a:cubicBezTo>
                  <a:pt x="81148" y="0"/>
                  <a:pt x="104578" y="23430"/>
                  <a:pt x="104578" y="52289"/>
                </a:cubicBezTo>
                <a:lnTo>
                  <a:pt x="104578" y="52289"/>
                </a:lnTo>
                <a:cubicBezTo>
                  <a:pt x="104578" y="81148"/>
                  <a:pt x="81148" y="104578"/>
                  <a:pt x="52289" y="104578"/>
                </a:cubicBezTo>
                <a:lnTo>
                  <a:pt x="52289" y="104578"/>
                </a:lnTo>
                <a:cubicBezTo>
                  <a:pt x="23430" y="104578"/>
                  <a:pt x="0" y="81148"/>
                  <a:pt x="0" y="52289"/>
                </a:cubicBezTo>
                <a:lnTo>
                  <a:pt x="0" y="52289"/>
                </a:lnTo>
                <a:cubicBezTo>
                  <a:pt x="0" y="23430"/>
                  <a:pt x="23430" y="0"/>
                  <a:pt x="52289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7706059" y="5914080"/>
            <a:ext cx="549032" cy="16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一级预警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299100" y="5928025"/>
            <a:ext cx="470599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电压异常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496904" y="6185979"/>
            <a:ext cx="104578" cy="104578"/>
          </a:xfrm>
          <a:custGeom>
            <a:avLst/>
            <a:gdLst/>
            <a:ahLst/>
            <a:cxnLst/>
            <a:rect l="l" t="t" r="r" b="b"/>
            <a:pathLst>
              <a:path w="104578" h="104578">
                <a:moveTo>
                  <a:pt x="52289" y="0"/>
                </a:moveTo>
                <a:lnTo>
                  <a:pt x="52289" y="0"/>
                </a:lnTo>
                <a:cubicBezTo>
                  <a:pt x="81148" y="0"/>
                  <a:pt x="104578" y="23430"/>
                  <a:pt x="104578" y="52289"/>
                </a:cubicBezTo>
                <a:lnTo>
                  <a:pt x="104578" y="52289"/>
                </a:lnTo>
                <a:cubicBezTo>
                  <a:pt x="104578" y="81148"/>
                  <a:pt x="81148" y="104578"/>
                  <a:pt x="52289" y="104578"/>
                </a:cubicBezTo>
                <a:lnTo>
                  <a:pt x="52289" y="104578"/>
                </a:lnTo>
                <a:cubicBezTo>
                  <a:pt x="23430" y="104578"/>
                  <a:pt x="0" y="81148"/>
                  <a:pt x="0" y="52289"/>
                </a:cubicBezTo>
                <a:lnTo>
                  <a:pt x="0" y="52289"/>
                </a:lnTo>
                <a:cubicBezTo>
                  <a:pt x="0" y="23430"/>
                  <a:pt x="23430" y="0"/>
                  <a:pt x="52289" y="0"/>
                </a:cubicBez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6"/>
          <p:cNvSpPr/>
          <p:nvPr/>
        </p:nvSpPr>
        <p:spPr>
          <a:xfrm>
            <a:off x="7706059" y="6158095"/>
            <a:ext cx="549032" cy="16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二级预警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8299100" y="6172039"/>
            <a:ext cx="470599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温度上升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496904" y="6429994"/>
            <a:ext cx="104578" cy="104578"/>
          </a:xfrm>
          <a:custGeom>
            <a:avLst/>
            <a:gdLst/>
            <a:ahLst/>
            <a:cxnLst/>
            <a:rect l="l" t="t" r="r" b="b"/>
            <a:pathLst>
              <a:path w="104578" h="104578">
                <a:moveTo>
                  <a:pt x="52289" y="0"/>
                </a:moveTo>
                <a:lnTo>
                  <a:pt x="52289" y="0"/>
                </a:lnTo>
                <a:cubicBezTo>
                  <a:pt x="81148" y="0"/>
                  <a:pt x="104578" y="23430"/>
                  <a:pt x="104578" y="52289"/>
                </a:cubicBezTo>
                <a:lnTo>
                  <a:pt x="104578" y="52289"/>
                </a:lnTo>
                <a:cubicBezTo>
                  <a:pt x="104578" y="81148"/>
                  <a:pt x="81148" y="104578"/>
                  <a:pt x="52289" y="104578"/>
                </a:cubicBezTo>
                <a:lnTo>
                  <a:pt x="52289" y="104578"/>
                </a:lnTo>
                <a:cubicBezTo>
                  <a:pt x="23430" y="104578"/>
                  <a:pt x="0" y="81148"/>
                  <a:pt x="0" y="52289"/>
                </a:cubicBezTo>
                <a:lnTo>
                  <a:pt x="0" y="52289"/>
                </a:lnTo>
                <a:cubicBezTo>
                  <a:pt x="0" y="23430"/>
                  <a:pt x="23430" y="0"/>
                  <a:pt x="52289" y="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59"/>
          <p:cNvSpPr/>
          <p:nvPr/>
        </p:nvSpPr>
        <p:spPr>
          <a:xfrm>
            <a:off x="7706059" y="6402109"/>
            <a:ext cx="549032" cy="16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三级预警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299100" y="6416053"/>
            <a:ext cx="888909" cy="13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3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气体逸散（关键）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F90A-3272-05EE-2D49-91A141C5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2A2B0B-CDBE-1E71-38AD-4396C78C72A3}"/>
              </a:ext>
            </a:extLst>
          </p:cNvPr>
          <p:cNvSpPr/>
          <p:nvPr/>
        </p:nvSpPr>
        <p:spPr>
          <a:xfrm>
            <a:off x="381000" y="381000"/>
            <a:ext cx="2019300" cy="304800"/>
          </a:xfrm>
          <a:custGeom>
            <a:avLst/>
            <a:gdLst/>
            <a:ahLst/>
            <a:cxnLst/>
            <a:rect l="l" t="t" r="r" b="b"/>
            <a:pathLst>
              <a:path w="2019300" h="304800">
                <a:moveTo>
                  <a:pt x="38100" y="0"/>
                </a:moveTo>
                <a:lnTo>
                  <a:pt x="1981200" y="0"/>
                </a:lnTo>
                <a:cubicBezTo>
                  <a:pt x="2002228" y="0"/>
                  <a:pt x="2019300" y="17072"/>
                  <a:pt x="2019300" y="38100"/>
                </a:cubicBezTo>
                <a:lnTo>
                  <a:pt x="2019300" y="266700"/>
                </a:lnTo>
                <a:cubicBezTo>
                  <a:pt x="2019300" y="287728"/>
                  <a:pt x="2002228" y="304800"/>
                  <a:pt x="19812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24177C-B919-8C1A-F27D-5CCF5BD8EE41}"/>
              </a:ext>
            </a:extLst>
          </p:cNvPr>
          <p:cNvSpPr/>
          <p:nvPr/>
        </p:nvSpPr>
        <p:spPr>
          <a:xfrm>
            <a:off x="495300" y="462630"/>
            <a:ext cx="18433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LIFECYCLE MANAGEMENT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94092C-6833-D1FC-057C-1B07F0B588B2}"/>
              </a:ext>
            </a:extLst>
          </p:cNvPr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温度场重构：透视电芯中心热点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8D8E711-2B6B-FDBC-336C-44A076FC8D34}"/>
              </a:ext>
            </a:extLst>
          </p:cNvPr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30A0B13-17FE-3638-0429-E043855B7BCB}"/>
              </a:ext>
            </a:extLst>
          </p:cNvPr>
          <p:cNvGrpSpPr/>
          <p:nvPr/>
        </p:nvGrpSpPr>
        <p:grpSpPr>
          <a:xfrm>
            <a:off x="384809" y="1489711"/>
            <a:ext cx="5133925" cy="5104582"/>
            <a:chOff x="384810" y="1489710"/>
            <a:chExt cx="3703320" cy="4055745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4689B048-857B-E407-E23E-7C842163C3BF}"/>
                </a:ext>
              </a:extLst>
            </p:cNvPr>
            <p:cNvSpPr/>
            <p:nvPr/>
          </p:nvSpPr>
          <p:spPr>
            <a:xfrm>
              <a:off x="384810" y="1489710"/>
              <a:ext cx="3703320" cy="4055745"/>
            </a:xfrm>
            <a:custGeom>
              <a:avLst/>
              <a:gdLst/>
              <a:ahLst/>
              <a:cxnLst/>
              <a:rect l="l" t="t" r="r" b="b"/>
              <a:pathLst>
                <a:path w="3703320" h="4055745">
                  <a:moveTo>
                    <a:pt x="114284" y="0"/>
                  </a:moveTo>
                  <a:lnTo>
                    <a:pt x="3589036" y="0"/>
                  </a:lnTo>
                  <a:cubicBezTo>
                    <a:pt x="3652153" y="0"/>
                    <a:pt x="3703320" y="51167"/>
                    <a:pt x="3703320" y="114284"/>
                  </a:cubicBezTo>
                  <a:lnTo>
                    <a:pt x="3703320" y="3941461"/>
                  </a:lnTo>
                  <a:cubicBezTo>
                    <a:pt x="3703320" y="4004578"/>
                    <a:pt x="3652153" y="4055745"/>
                    <a:pt x="3589036" y="4055745"/>
                  </a:cubicBezTo>
                  <a:lnTo>
                    <a:pt x="114284" y="4055745"/>
                  </a:lnTo>
                  <a:cubicBezTo>
                    <a:pt x="51167" y="4055745"/>
                    <a:pt x="0" y="4004578"/>
                    <a:pt x="0" y="3941461"/>
                  </a:cubicBezTo>
                  <a:lnTo>
                    <a:pt x="0" y="114284"/>
                  </a:lnTo>
                  <a:cubicBezTo>
                    <a:pt x="0" y="51209"/>
                    <a:pt x="51209" y="0"/>
                    <a:pt x="11428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6D8C">
                    <a:alpha val="20000"/>
                  </a:srgbClr>
                </a:gs>
                <a:gs pos="100000">
                  <a:srgbClr val="4A6D8C">
                    <a:alpha val="5000"/>
                  </a:srgbClr>
                </a:gs>
              </a:gsLst>
              <a:lin ang="2700000" scaled="1"/>
            </a:gradFill>
            <a:ln w="10160">
              <a:solidFill>
                <a:srgbClr val="4A6D8C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31502EA4-1A17-2EBA-5AF7-F76CA8139B43}"/>
                </a:ext>
              </a:extLst>
            </p:cNvPr>
            <p:cNvSpPr/>
            <p:nvPr/>
          </p:nvSpPr>
          <p:spPr>
            <a:xfrm>
              <a:off x="541020" y="1645918"/>
              <a:ext cx="414525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C9A86A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909371B2-4209-FD46-5895-F377F645E5A0}"/>
                </a:ext>
              </a:extLst>
            </p:cNvPr>
            <p:cNvSpPr/>
            <p:nvPr/>
          </p:nvSpPr>
          <p:spPr>
            <a:xfrm>
              <a:off x="1112520" y="1664968"/>
              <a:ext cx="199953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+mn-ea"/>
                </a:rPr>
                <a:t>算法原理</a:t>
              </a:r>
              <a:endParaRPr lang="en-US" altLang="zh-CN" sz="1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B733115-1D12-6329-7128-F5460EF6AC59}"/>
                </a:ext>
              </a:extLst>
            </p:cNvPr>
            <p:cNvSpPr/>
            <p:nvPr/>
          </p:nvSpPr>
          <p:spPr>
            <a:xfrm>
              <a:off x="1112520" y="1931668"/>
              <a:ext cx="120015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00" dirty="0">
                  <a:solidFill>
                    <a:srgbClr val="6B7D8A"/>
                  </a:solidFill>
                  <a:latin typeface="+mn-ea"/>
                  <a:cs typeface="MiSans" pitchFamily="34" charset="-120"/>
                </a:rPr>
                <a:t>Algorithms</a:t>
              </a:r>
              <a:endParaRPr lang="en-US" dirty="0">
                <a:latin typeface="+mn-ea"/>
              </a:endParaRPr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0E549FE2-7CF1-23FC-ED58-9EA4659F283D}"/>
                </a:ext>
              </a:extLst>
            </p:cNvPr>
            <p:cNvSpPr/>
            <p:nvPr/>
          </p:nvSpPr>
          <p:spPr>
            <a:xfrm>
              <a:off x="544830" y="4482271"/>
              <a:ext cx="3379470" cy="893445"/>
            </a:xfrm>
            <a:custGeom>
              <a:avLst/>
              <a:gdLst/>
              <a:ahLst/>
              <a:cxnLst/>
              <a:rect l="l" t="t" r="r" b="b"/>
              <a:pathLst>
                <a:path w="3379470" h="893445">
                  <a:moveTo>
                    <a:pt x="76202" y="0"/>
                  </a:moveTo>
                  <a:lnTo>
                    <a:pt x="3303268" y="0"/>
                  </a:lnTo>
                  <a:cubicBezTo>
                    <a:pt x="3345353" y="0"/>
                    <a:pt x="3379470" y="34117"/>
                    <a:pt x="3379470" y="76202"/>
                  </a:cubicBezTo>
                  <a:lnTo>
                    <a:pt x="3379470" y="817243"/>
                  </a:lnTo>
                  <a:cubicBezTo>
                    <a:pt x="3379470" y="859328"/>
                    <a:pt x="3345353" y="893445"/>
                    <a:pt x="3303268" y="893445"/>
                  </a:cubicBezTo>
                  <a:lnTo>
                    <a:pt x="76202" y="893445"/>
                  </a:lnTo>
                  <a:cubicBezTo>
                    <a:pt x="34145" y="893445"/>
                    <a:pt x="0" y="859300"/>
                    <a:pt x="0" y="817243"/>
                  </a:cubicBezTo>
                  <a:lnTo>
                    <a:pt x="0" y="76202"/>
                  </a:lnTo>
                  <a:cubicBezTo>
                    <a:pt x="0" y="34145"/>
                    <a:pt x="34145" y="0"/>
                    <a:pt x="76202" y="0"/>
                  </a:cubicBezTo>
                  <a:close/>
                </a:path>
              </a:pathLst>
            </a:custGeom>
            <a:solidFill>
              <a:srgbClr val="C9A86A">
                <a:alpha val="10196"/>
              </a:srgbClr>
            </a:solidFill>
            <a:ln w="10160">
              <a:solidFill>
                <a:srgbClr val="C9A86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42C10E78-EDB2-D699-82A9-B06B1010D748}"/>
                </a:ext>
              </a:extLst>
            </p:cNvPr>
            <p:cNvSpPr/>
            <p:nvPr/>
          </p:nvSpPr>
          <p:spPr>
            <a:xfrm>
              <a:off x="662940" y="4600384"/>
              <a:ext cx="3200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zh-CN" altLang="en-US" sz="1400" b="1" dirty="0">
                  <a:solidFill>
                    <a:srgbClr val="6B7D8A"/>
                  </a:solidFill>
                  <a:latin typeface="+mn-ea"/>
                  <a:cs typeface="MiSans" pitchFamily="34" charset="-120"/>
                </a:rPr>
                <a:t>实时热预警</a:t>
              </a: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53C492CA-20A0-F9E5-446C-A631D4E859E5}"/>
                </a:ext>
              </a:extLst>
            </p:cNvPr>
            <p:cNvSpPr/>
            <p:nvPr/>
          </p:nvSpPr>
          <p:spPr>
            <a:xfrm>
              <a:off x="662940" y="4828863"/>
              <a:ext cx="3209925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zh-CN" altLang="en-US" sz="1100" dirty="0">
                  <a:solidFill>
                    <a:srgbClr val="E8EAED"/>
                  </a:solidFill>
                  <a:latin typeface="+mn-ea"/>
                  <a:cs typeface="MiSans" pitchFamily="34" charset="-120"/>
                </a:rPr>
                <a:t>区分短期温度突变与长期温差扩大，精准识别热失控风险，保障电池安全运行。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2E6E8A70-365D-0BB2-FD56-EEE541926B47}"/>
                </a:ext>
              </a:extLst>
            </p:cNvPr>
            <p:cNvGrpSpPr/>
            <p:nvPr/>
          </p:nvGrpSpPr>
          <p:grpSpPr>
            <a:xfrm>
              <a:off x="541020" y="2217418"/>
              <a:ext cx="3390900" cy="909521"/>
              <a:chOff x="541020" y="2217418"/>
              <a:chExt cx="3390900" cy="909521"/>
            </a:xfrm>
          </p:grpSpPr>
          <p:sp>
            <p:nvSpPr>
              <p:cNvPr id="11" name="Shape 9">
                <a:extLst>
                  <a:ext uri="{FF2B5EF4-FFF2-40B4-BE49-F238E27FC236}">
                    <a16:creationId xmlns:a16="http://schemas.microsoft.com/office/drawing/2014/main" id="{FF285358-DD59-0D1D-CF66-283DAB6BBE21}"/>
                  </a:ext>
                </a:extLst>
              </p:cNvPr>
              <p:cNvSpPr/>
              <p:nvPr/>
            </p:nvSpPr>
            <p:spPr>
              <a:xfrm>
                <a:off x="541020" y="2217418"/>
                <a:ext cx="3390900" cy="909521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1219200">
                    <a:moveTo>
                      <a:pt x="76200" y="0"/>
                    </a:moveTo>
                    <a:lnTo>
                      <a:pt x="3314700" y="0"/>
                    </a:lnTo>
                    <a:cubicBezTo>
                      <a:pt x="3356756" y="0"/>
                      <a:pt x="3390900" y="34144"/>
                      <a:pt x="3390900" y="76200"/>
                    </a:cubicBezTo>
                    <a:lnTo>
                      <a:pt x="3390900" y="1143000"/>
                    </a:lnTo>
                    <a:cubicBezTo>
                      <a:pt x="3390900" y="1185056"/>
                      <a:pt x="3356756" y="1219200"/>
                      <a:pt x="3314700" y="1219200"/>
                    </a:cubicBezTo>
                    <a:lnTo>
                      <a:pt x="76200" y="1219200"/>
                    </a:lnTo>
                    <a:cubicBezTo>
                      <a:pt x="34144" y="1219200"/>
                      <a:pt x="0" y="1185056"/>
                      <a:pt x="0" y="114300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2D3136">
                  <a:alpha val="60000"/>
                </a:srgbClr>
              </a:solidFill>
              <a:ln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F7D4B700-B23E-9B5E-F46C-644D3B3EC771}"/>
                  </a:ext>
                </a:extLst>
              </p:cNvPr>
              <p:cNvSpPr/>
              <p:nvPr/>
            </p:nvSpPr>
            <p:spPr>
              <a:xfrm>
                <a:off x="655320" y="2348344"/>
                <a:ext cx="3219450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1400" b="1" dirty="0">
                    <a:solidFill>
                      <a:srgbClr val="C9A86A"/>
                    </a:solidFill>
                    <a:latin typeface="+mn-ea"/>
                    <a:cs typeface="MiSans" pitchFamily="34" charset="-120"/>
                  </a:rPr>
                  <a:t>边端算法：一维径向反演</a:t>
                </a: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70D3FA21-14F7-C3FC-B326-9C026AE16AEE}"/>
                </a:ext>
              </a:extLst>
            </p:cNvPr>
            <p:cNvGrpSpPr/>
            <p:nvPr/>
          </p:nvGrpSpPr>
          <p:grpSpPr>
            <a:xfrm>
              <a:off x="541020" y="3317439"/>
              <a:ext cx="3390900" cy="1064636"/>
              <a:chOff x="541020" y="2217418"/>
              <a:chExt cx="3390900" cy="1064636"/>
            </a:xfrm>
          </p:grpSpPr>
          <p:sp>
            <p:nvSpPr>
              <p:cNvPr id="62" name="Shape 9">
                <a:extLst>
                  <a:ext uri="{FF2B5EF4-FFF2-40B4-BE49-F238E27FC236}">
                    <a16:creationId xmlns:a16="http://schemas.microsoft.com/office/drawing/2014/main" id="{22DEA6FB-E024-E3F6-597F-99AF968B4B1C}"/>
                  </a:ext>
                </a:extLst>
              </p:cNvPr>
              <p:cNvSpPr/>
              <p:nvPr/>
            </p:nvSpPr>
            <p:spPr>
              <a:xfrm>
                <a:off x="541020" y="2217418"/>
                <a:ext cx="3390900" cy="1031435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1219200">
                    <a:moveTo>
                      <a:pt x="76200" y="0"/>
                    </a:moveTo>
                    <a:lnTo>
                      <a:pt x="3314700" y="0"/>
                    </a:lnTo>
                    <a:cubicBezTo>
                      <a:pt x="3356756" y="0"/>
                      <a:pt x="3390900" y="34144"/>
                      <a:pt x="3390900" y="76200"/>
                    </a:cubicBezTo>
                    <a:lnTo>
                      <a:pt x="3390900" y="1143000"/>
                    </a:lnTo>
                    <a:cubicBezTo>
                      <a:pt x="3390900" y="1185056"/>
                      <a:pt x="3356756" y="1219200"/>
                      <a:pt x="3314700" y="1219200"/>
                    </a:cubicBezTo>
                    <a:lnTo>
                      <a:pt x="76200" y="1219200"/>
                    </a:lnTo>
                    <a:cubicBezTo>
                      <a:pt x="34144" y="1219200"/>
                      <a:pt x="0" y="1185056"/>
                      <a:pt x="0" y="1143000"/>
                    </a:cubicBezTo>
                    <a:lnTo>
                      <a:pt x="0" y="76200"/>
                    </a:lnTo>
                    <a:cubicBezTo>
                      <a:pt x="0" y="34144"/>
                      <a:pt x="34144" y="0"/>
                      <a:pt x="76200" y="0"/>
                    </a:cubicBezTo>
                    <a:close/>
                  </a:path>
                </a:pathLst>
              </a:custGeom>
              <a:solidFill>
                <a:srgbClr val="2D3136">
                  <a:alpha val="60000"/>
                </a:srgbClr>
              </a:solidFill>
              <a:ln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Text 10">
                <a:extLst>
                  <a:ext uri="{FF2B5EF4-FFF2-40B4-BE49-F238E27FC236}">
                    <a16:creationId xmlns:a16="http://schemas.microsoft.com/office/drawing/2014/main" id="{43351585-4B00-7AAA-F326-024389CDC382}"/>
                  </a:ext>
                </a:extLst>
              </p:cNvPr>
              <p:cNvSpPr/>
              <p:nvPr/>
            </p:nvSpPr>
            <p:spPr>
              <a:xfrm>
                <a:off x="655320" y="2331718"/>
                <a:ext cx="3219450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1400" b="1" dirty="0">
                    <a:solidFill>
                      <a:srgbClr val="C9A86A"/>
                    </a:solidFill>
                    <a:latin typeface="+mn-ea"/>
                    <a:cs typeface="MiSans" pitchFamily="34" charset="-120"/>
                  </a:rPr>
                  <a:t>云端：时空热力场建模</a:t>
                </a:r>
              </a:p>
            </p:txBody>
          </p:sp>
          <p:sp>
            <p:nvSpPr>
              <p:cNvPr id="64" name="Text 15">
                <a:extLst>
                  <a:ext uri="{FF2B5EF4-FFF2-40B4-BE49-F238E27FC236}">
                    <a16:creationId xmlns:a16="http://schemas.microsoft.com/office/drawing/2014/main" id="{F9F59A69-9F43-E3C3-AF51-BCD904861FC4}"/>
                  </a:ext>
                </a:extLst>
              </p:cNvPr>
              <p:cNvSpPr/>
              <p:nvPr/>
            </p:nvSpPr>
            <p:spPr>
              <a:xfrm>
                <a:off x="585495" y="2493761"/>
                <a:ext cx="3338806" cy="788293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rgbClr val="FFFFFF"/>
                    </a:solidFill>
                    <a:latin typeface="+mn-ea"/>
                    <a:cs typeface="MiSans" pitchFamily="34" charset="-120"/>
                  </a:rPr>
                  <a:t>基于有限元将电池包精细划分，精确还原各区域温度梯度，实现电池内部温度分布的三维可视化监控。并引入动态时间衰减因子，确保温度异常检测的准确性与时效性。</a:t>
                </a:r>
              </a:p>
              <a:p>
                <a:pPr>
                  <a:lnSpc>
                    <a:spcPct val="150000"/>
                  </a:lnSpc>
                </a:pPr>
                <a:endParaRPr lang="en-US" sz="1050" dirty="0">
                  <a:latin typeface="+mn-ea"/>
                </a:endParaRPr>
              </a:p>
            </p:txBody>
          </p:sp>
        </p:grpSp>
      </p:grpSp>
      <p:sp>
        <p:nvSpPr>
          <p:cNvPr id="65" name="Shape 10">
            <a:extLst>
              <a:ext uri="{FF2B5EF4-FFF2-40B4-BE49-F238E27FC236}">
                <a16:creationId xmlns:a16="http://schemas.microsoft.com/office/drawing/2014/main" id="{3805FFFD-1A7C-77D3-A63E-0F790351FE9F}"/>
              </a:ext>
            </a:extLst>
          </p:cNvPr>
          <p:cNvSpPr/>
          <p:nvPr/>
        </p:nvSpPr>
        <p:spPr>
          <a:xfrm>
            <a:off x="11101203" y="6188868"/>
            <a:ext cx="240630" cy="23655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A2F16CA-8FD5-ECEF-4FAA-7BF6A75760DC}"/>
              </a:ext>
            </a:extLst>
          </p:cNvPr>
          <p:cNvGrpSpPr/>
          <p:nvPr/>
        </p:nvGrpSpPr>
        <p:grpSpPr>
          <a:xfrm>
            <a:off x="5714484" y="4951880"/>
            <a:ext cx="6068747" cy="1642412"/>
            <a:chOff x="503641" y="3771966"/>
            <a:chExt cx="5407025" cy="1530350"/>
          </a:xfrm>
        </p:grpSpPr>
        <p:sp>
          <p:nvSpPr>
            <p:cNvPr id="67" name="Shape 56">
              <a:extLst>
                <a:ext uri="{FF2B5EF4-FFF2-40B4-BE49-F238E27FC236}">
                  <a16:creationId xmlns:a16="http://schemas.microsoft.com/office/drawing/2014/main" id="{09CC5562-02E0-AE52-6C39-A6110A048491}"/>
                </a:ext>
              </a:extLst>
            </p:cNvPr>
            <p:cNvSpPr/>
            <p:nvPr/>
          </p:nvSpPr>
          <p:spPr>
            <a:xfrm>
              <a:off x="503641" y="3771966"/>
              <a:ext cx="5407025" cy="1530350"/>
            </a:xfrm>
            <a:custGeom>
              <a:avLst/>
              <a:gdLst/>
              <a:ahLst/>
              <a:cxnLst/>
              <a:rect l="l" t="t" r="r" b="b"/>
              <a:pathLst>
                <a:path w="5407025" h="1530350">
                  <a:moveTo>
                    <a:pt x="76196" y="0"/>
                  </a:moveTo>
                  <a:lnTo>
                    <a:pt x="5330829" y="0"/>
                  </a:lnTo>
                  <a:cubicBezTo>
                    <a:pt x="5372911" y="0"/>
                    <a:pt x="5407025" y="34114"/>
                    <a:pt x="5407025" y="76196"/>
                  </a:cubicBezTo>
                  <a:lnTo>
                    <a:pt x="5407025" y="1454154"/>
                  </a:lnTo>
                  <a:cubicBezTo>
                    <a:pt x="5407025" y="1496236"/>
                    <a:pt x="5372911" y="1530350"/>
                    <a:pt x="5330829" y="1530350"/>
                  </a:cubicBezTo>
                  <a:lnTo>
                    <a:pt x="76196" y="1530350"/>
                  </a:lnTo>
                  <a:cubicBezTo>
                    <a:pt x="34114" y="1530350"/>
                    <a:pt x="0" y="1496236"/>
                    <a:pt x="0" y="1454154"/>
                  </a:cubicBezTo>
                  <a:lnTo>
                    <a:pt x="0" y="76196"/>
                  </a:lnTo>
                  <a:cubicBezTo>
                    <a:pt x="0" y="34142"/>
                    <a:pt x="34142" y="0"/>
                    <a:pt x="76196" y="0"/>
                  </a:cubicBezTo>
                  <a:close/>
                </a:path>
              </a:pathLst>
            </a:custGeom>
            <a:solidFill>
              <a:srgbClr val="3D8B75">
                <a:alpha val="10196"/>
              </a:srgbClr>
            </a:solidFill>
            <a:ln w="8467">
              <a:solidFill>
                <a:srgbClr val="3D8B75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57">
              <a:extLst>
                <a:ext uri="{FF2B5EF4-FFF2-40B4-BE49-F238E27FC236}">
                  <a16:creationId xmlns:a16="http://schemas.microsoft.com/office/drawing/2014/main" id="{B9A55565-0E73-46F1-7F05-20FE639715FB}"/>
                </a:ext>
              </a:extLst>
            </p:cNvPr>
            <p:cNvSpPr/>
            <p:nvPr/>
          </p:nvSpPr>
          <p:spPr>
            <a:xfrm>
              <a:off x="583016" y="3851340"/>
              <a:ext cx="53244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典型场景应用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9" name="Shape 58">
              <a:extLst>
                <a:ext uri="{FF2B5EF4-FFF2-40B4-BE49-F238E27FC236}">
                  <a16:creationId xmlns:a16="http://schemas.microsoft.com/office/drawing/2014/main" id="{113EA0CB-4E30-4456-23F9-AB819729CDFE}"/>
                </a:ext>
              </a:extLst>
            </p:cNvPr>
            <p:cNvSpPr/>
            <p:nvPr/>
          </p:nvSpPr>
          <p:spPr>
            <a:xfrm>
              <a:off x="583016" y="4118040"/>
              <a:ext cx="5248275" cy="533400"/>
            </a:xfrm>
            <a:custGeom>
              <a:avLst/>
              <a:gdLst/>
              <a:ahLst/>
              <a:cxnLst/>
              <a:rect l="l" t="t" r="r" b="b"/>
              <a:pathLst>
                <a:path w="5248275" h="533400">
                  <a:moveTo>
                    <a:pt x="38101" y="0"/>
                  </a:moveTo>
                  <a:lnTo>
                    <a:pt x="5210174" y="0"/>
                  </a:lnTo>
                  <a:cubicBezTo>
                    <a:pt x="5231217" y="0"/>
                    <a:pt x="5248275" y="17058"/>
                    <a:pt x="5248275" y="38101"/>
                  </a:cubicBezTo>
                  <a:lnTo>
                    <a:pt x="5248275" y="495299"/>
                  </a:lnTo>
                  <a:cubicBezTo>
                    <a:pt x="5248275" y="516342"/>
                    <a:pt x="5231217" y="533400"/>
                    <a:pt x="5210174" y="533400"/>
                  </a:cubicBezTo>
                  <a:lnTo>
                    <a:pt x="38101" y="533400"/>
                  </a:lnTo>
                  <a:cubicBezTo>
                    <a:pt x="17058" y="533400"/>
                    <a:pt x="0" y="516342"/>
                    <a:pt x="0" y="495299"/>
                  </a:cubicBezTo>
                  <a:lnTo>
                    <a:pt x="0" y="38101"/>
                  </a:lnTo>
                  <a:cubicBezTo>
                    <a:pt x="0" y="17072"/>
                    <a:pt x="17072" y="0"/>
                    <a:pt x="38101" y="0"/>
                  </a:cubicBezTo>
                  <a:close/>
                </a:path>
              </a:pathLst>
            </a:custGeom>
            <a:solidFill>
              <a:srgbClr val="252A3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59">
              <a:extLst>
                <a:ext uri="{FF2B5EF4-FFF2-40B4-BE49-F238E27FC236}">
                  <a16:creationId xmlns:a16="http://schemas.microsoft.com/office/drawing/2014/main" id="{1CF827CA-F609-7616-2637-7884F1F5A324}"/>
                </a:ext>
              </a:extLst>
            </p:cNvPr>
            <p:cNvSpPr/>
            <p:nvPr/>
          </p:nvSpPr>
          <p:spPr>
            <a:xfrm>
              <a:off x="640166" y="4175190"/>
              <a:ext cx="15049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低温充电(0°C)</a:t>
              </a:r>
              <a:endParaRPr lang="en-US" sz="1600" dirty="0"/>
            </a:p>
          </p:txBody>
        </p:sp>
        <p:sp>
          <p:nvSpPr>
            <p:cNvPr id="71" name="Text 60">
              <a:extLst>
                <a:ext uri="{FF2B5EF4-FFF2-40B4-BE49-F238E27FC236}">
                  <a16:creationId xmlns:a16="http://schemas.microsoft.com/office/drawing/2014/main" id="{FABFA516-4FE4-BC91-7F70-B41D9A16902C}"/>
                </a:ext>
              </a:extLst>
            </p:cNvPr>
            <p:cNvSpPr/>
            <p:nvPr/>
          </p:nvSpPr>
          <p:spPr>
            <a:xfrm>
              <a:off x="640166" y="4403790"/>
              <a:ext cx="14954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E0E2E5">
                      <a:alpha val="6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SOC50%·SOH100%·1A</a:t>
              </a:r>
              <a:endParaRPr lang="en-US" sz="1600" dirty="0"/>
            </a:p>
          </p:txBody>
        </p:sp>
        <p:sp>
          <p:nvSpPr>
            <p:cNvPr id="72" name="Text 61">
              <a:extLst>
                <a:ext uri="{FF2B5EF4-FFF2-40B4-BE49-F238E27FC236}">
                  <a16:creationId xmlns:a16="http://schemas.microsoft.com/office/drawing/2014/main" id="{2FF7F27D-A342-E1E4-8F6C-256B01C89740}"/>
                </a:ext>
              </a:extLst>
            </p:cNvPr>
            <p:cNvSpPr/>
            <p:nvPr/>
          </p:nvSpPr>
          <p:spPr>
            <a:xfrm>
              <a:off x="5224966" y="4175190"/>
              <a:ext cx="5524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>
                <a:lnSpc>
                  <a:spcPct val="130000"/>
                </a:lnSpc>
              </a:pPr>
              <a:r>
                <a:rPr lang="en-US" sz="1200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4.150V</a:t>
              </a:r>
              <a:endParaRPr lang="en-US" sz="1600" dirty="0"/>
            </a:p>
          </p:txBody>
        </p:sp>
        <p:sp>
          <p:nvSpPr>
            <p:cNvPr id="73" name="Text 62">
              <a:extLst>
                <a:ext uri="{FF2B5EF4-FFF2-40B4-BE49-F238E27FC236}">
                  <a16:creationId xmlns:a16="http://schemas.microsoft.com/office/drawing/2014/main" id="{F8A1C9A3-AD21-4121-6655-4073AF5782D2}"/>
                </a:ext>
              </a:extLst>
            </p:cNvPr>
            <p:cNvSpPr/>
            <p:nvPr/>
          </p:nvSpPr>
          <p:spPr>
            <a:xfrm>
              <a:off x="5234491" y="4403790"/>
              <a:ext cx="5429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>
                <a:lnSpc>
                  <a:spcPct val="120000"/>
                </a:lnSpc>
              </a:pPr>
              <a:r>
                <a:rPr lang="en-US" sz="1050" dirty="0">
                  <a:solidFill>
                    <a:srgbClr val="E0E2E5">
                      <a:alpha val="6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-50mV</a:t>
              </a:r>
              <a:endParaRPr lang="en-US" sz="1600" dirty="0"/>
            </a:p>
          </p:txBody>
        </p:sp>
        <p:sp>
          <p:nvSpPr>
            <p:cNvPr id="74" name="Shape 63">
              <a:extLst>
                <a:ext uri="{FF2B5EF4-FFF2-40B4-BE49-F238E27FC236}">
                  <a16:creationId xmlns:a16="http://schemas.microsoft.com/office/drawing/2014/main" id="{8E70124F-3096-146C-CC28-7130F63B8DA9}"/>
                </a:ext>
              </a:extLst>
            </p:cNvPr>
            <p:cNvSpPr/>
            <p:nvPr/>
          </p:nvSpPr>
          <p:spPr>
            <a:xfrm>
              <a:off x="583016" y="4689540"/>
              <a:ext cx="5248275" cy="533400"/>
            </a:xfrm>
            <a:custGeom>
              <a:avLst/>
              <a:gdLst/>
              <a:ahLst/>
              <a:cxnLst/>
              <a:rect l="l" t="t" r="r" b="b"/>
              <a:pathLst>
                <a:path w="5248275" h="533400">
                  <a:moveTo>
                    <a:pt x="38101" y="0"/>
                  </a:moveTo>
                  <a:lnTo>
                    <a:pt x="5210174" y="0"/>
                  </a:lnTo>
                  <a:cubicBezTo>
                    <a:pt x="5231217" y="0"/>
                    <a:pt x="5248275" y="17058"/>
                    <a:pt x="5248275" y="38101"/>
                  </a:cubicBezTo>
                  <a:lnTo>
                    <a:pt x="5248275" y="495299"/>
                  </a:lnTo>
                  <a:cubicBezTo>
                    <a:pt x="5248275" y="516342"/>
                    <a:pt x="5231217" y="533400"/>
                    <a:pt x="5210174" y="533400"/>
                  </a:cubicBezTo>
                  <a:lnTo>
                    <a:pt x="38101" y="533400"/>
                  </a:lnTo>
                  <a:cubicBezTo>
                    <a:pt x="17058" y="533400"/>
                    <a:pt x="0" y="516342"/>
                    <a:pt x="0" y="495299"/>
                  </a:cubicBezTo>
                  <a:lnTo>
                    <a:pt x="0" y="38101"/>
                  </a:lnTo>
                  <a:cubicBezTo>
                    <a:pt x="0" y="17072"/>
                    <a:pt x="17072" y="0"/>
                    <a:pt x="38101" y="0"/>
                  </a:cubicBezTo>
                  <a:close/>
                </a:path>
              </a:pathLst>
            </a:custGeom>
            <a:solidFill>
              <a:srgbClr val="252A3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64">
              <a:extLst>
                <a:ext uri="{FF2B5EF4-FFF2-40B4-BE49-F238E27FC236}">
                  <a16:creationId xmlns:a16="http://schemas.microsoft.com/office/drawing/2014/main" id="{E73C9CDD-092A-B9B0-0F36-DC0ADA3104BF}"/>
                </a:ext>
              </a:extLst>
            </p:cNvPr>
            <p:cNvSpPr/>
            <p:nvPr/>
          </p:nvSpPr>
          <p:spPr>
            <a:xfrm>
              <a:off x="662882" y="4783213"/>
              <a:ext cx="14763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极端工况</a:t>
              </a:r>
              <a:endParaRPr lang="en-US" sz="1600" dirty="0"/>
            </a:p>
          </p:txBody>
        </p:sp>
        <p:sp>
          <p:nvSpPr>
            <p:cNvPr id="76" name="Text 65">
              <a:extLst>
                <a:ext uri="{FF2B5EF4-FFF2-40B4-BE49-F238E27FC236}">
                  <a16:creationId xmlns:a16="http://schemas.microsoft.com/office/drawing/2014/main" id="{64DA1CF9-8C1F-0FC0-6F63-C3A034179951}"/>
                </a:ext>
              </a:extLst>
            </p:cNvPr>
            <p:cNvSpPr/>
            <p:nvPr/>
          </p:nvSpPr>
          <p:spPr>
            <a:xfrm>
              <a:off x="662882" y="5011813"/>
              <a:ext cx="14668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E0E2E5">
                      <a:alpha val="6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SOC95%·SOH60%·3A</a:t>
              </a:r>
              <a:endParaRPr lang="en-US" sz="1600" dirty="0"/>
            </a:p>
          </p:txBody>
        </p:sp>
        <p:sp>
          <p:nvSpPr>
            <p:cNvPr id="77" name="Text 66">
              <a:extLst>
                <a:ext uri="{FF2B5EF4-FFF2-40B4-BE49-F238E27FC236}">
                  <a16:creationId xmlns:a16="http://schemas.microsoft.com/office/drawing/2014/main" id="{02C7FA0E-6135-F76A-BACA-DAD44ED83D2C}"/>
                </a:ext>
              </a:extLst>
            </p:cNvPr>
            <p:cNvSpPr/>
            <p:nvPr/>
          </p:nvSpPr>
          <p:spPr>
            <a:xfrm>
              <a:off x="5179015" y="4736873"/>
              <a:ext cx="5715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>
                <a:lnSpc>
                  <a:spcPct val="130000"/>
                </a:lnSpc>
              </a:pPr>
              <a:r>
                <a:rPr lang="en-US" sz="1200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3.975V</a:t>
              </a:r>
              <a:endParaRPr lang="en-US" sz="1600" dirty="0"/>
            </a:p>
          </p:txBody>
        </p:sp>
        <p:sp>
          <p:nvSpPr>
            <p:cNvPr id="78" name="Text 67">
              <a:extLst>
                <a:ext uri="{FF2B5EF4-FFF2-40B4-BE49-F238E27FC236}">
                  <a16:creationId xmlns:a16="http://schemas.microsoft.com/office/drawing/2014/main" id="{3A88E76B-DCE6-1E36-68DE-EDE9228E7DCE}"/>
                </a:ext>
              </a:extLst>
            </p:cNvPr>
            <p:cNvSpPr/>
            <p:nvPr/>
          </p:nvSpPr>
          <p:spPr>
            <a:xfrm>
              <a:off x="5188540" y="4965473"/>
              <a:ext cx="5619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>
                <a:lnSpc>
                  <a:spcPct val="120000"/>
                </a:lnSpc>
              </a:pPr>
              <a:r>
                <a:rPr lang="en-US" sz="1050" dirty="0">
                  <a:solidFill>
                    <a:srgbClr val="E0E2E5">
                      <a:alpha val="6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-225mV</a:t>
              </a:r>
              <a:endParaRPr lang="en-US" sz="1600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3F5282A-291D-3667-CED6-6969FF6953CE}"/>
              </a:ext>
            </a:extLst>
          </p:cNvPr>
          <p:cNvGrpSpPr/>
          <p:nvPr/>
        </p:nvGrpSpPr>
        <p:grpSpPr>
          <a:xfrm>
            <a:off x="5714485" y="1489710"/>
            <a:ext cx="6068746" cy="3247341"/>
            <a:chOff x="6247812" y="2695643"/>
            <a:chExt cx="5654675" cy="3025775"/>
          </a:xfrm>
        </p:grpSpPr>
        <p:sp>
          <p:nvSpPr>
            <p:cNvPr id="80" name="Shape 68">
              <a:extLst>
                <a:ext uri="{FF2B5EF4-FFF2-40B4-BE49-F238E27FC236}">
                  <a16:creationId xmlns:a16="http://schemas.microsoft.com/office/drawing/2014/main" id="{FFFEB59B-B79C-DA5F-34AB-B9227FADE80B}"/>
                </a:ext>
              </a:extLst>
            </p:cNvPr>
            <p:cNvSpPr/>
            <p:nvPr/>
          </p:nvSpPr>
          <p:spPr>
            <a:xfrm>
              <a:off x="6247812" y="2695643"/>
              <a:ext cx="5654675" cy="3025775"/>
            </a:xfrm>
            <a:custGeom>
              <a:avLst/>
              <a:gdLst/>
              <a:ahLst/>
              <a:cxnLst/>
              <a:rect l="l" t="t" r="r" b="b"/>
              <a:pathLst>
                <a:path w="5654675" h="3025775">
                  <a:moveTo>
                    <a:pt x="114314" y="0"/>
                  </a:moveTo>
                  <a:lnTo>
                    <a:pt x="5540361" y="0"/>
                  </a:lnTo>
                  <a:cubicBezTo>
                    <a:pt x="5603495" y="0"/>
                    <a:pt x="5654675" y="51180"/>
                    <a:pt x="5654675" y="114314"/>
                  </a:cubicBezTo>
                  <a:lnTo>
                    <a:pt x="5654675" y="2911461"/>
                  </a:lnTo>
                  <a:cubicBezTo>
                    <a:pt x="5654675" y="2974595"/>
                    <a:pt x="5603495" y="3025775"/>
                    <a:pt x="5540361" y="3025775"/>
                  </a:cubicBezTo>
                  <a:lnTo>
                    <a:pt x="114314" y="3025775"/>
                  </a:lnTo>
                  <a:cubicBezTo>
                    <a:pt x="51180" y="3025775"/>
                    <a:pt x="0" y="2974595"/>
                    <a:pt x="0" y="2911461"/>
                  </a:cubicBezTo>
                  <a:lnTo>
                    <a:pt x="0" y="114314"/>
                  </a:lnTo>
                  <a:cubicBezTo>
                    <a:pt x="0" y="51222"/>
                    <a:pt x="51222" y="0"/>
                    <a:pt x="114314" y="0"/>
                  </a:cubicBezTo>
                  <a:close/>
                </a:path>
              </a:pathLst>
            </a:custGeom>
            <a:solidFill>
              <a:srgbClr val="252A30"/>
            </a:solidFill>
            <a:ln w="8467">
              <a:solidFill>
                <a:srgbClr val="C9A86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Shape 69">
              <a:extLst>
                <a:ext uri="{FF2B5EF4-FFF2-40B4-BE49-F238E27FC236}">
                  <a16:creationId xmlns:a16="http://schemas.microsoft.com/office/drawing/2014/main" id="{8E4567F8-5904-6AA3-276F-0266037E9664}"/>
                </a:ext>
              </a:extLst>
            </p:cNvPr>
            <p:cNvSpPr/>
            <p:nvPr/>
          </p:nvSpPr>
          <p:spPr>
            <a:xfrm>
              <a:off x="6365287" y="281311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cubicBezTo>
                    <a:pt x="270656" y="0"/>
                    <a:pt x="304800" y="34144"/>
                    <a:pt x="304800" y="76200"/>
                  </a:cubicBezTo>
                  <a:lnTo>
                    <a:pt x="304800" y="228600"/>
                  </a:lnTo>
                  <a:cubicBezTo>
                    <a:pt x="304800" y="270656"/>
                    <a:pt x="270656" y="304800"/>
                    <a:pt x="228600" y="304800"/>
                  </a:cubicBezTo>
                  <a:lnTo>
                    <a:pt x="76200" y="304800"/>
                  </a:lnTo>
                  <a:cubicBezTo>
                    <a:pt x="34144" y="304800"/>
                    <a:pt x="0" y="270656"/>
                    <a:pt x="0" y="2286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C9A86A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Shape 70">
              <a:extLst>
                <a:ext uri="{FF2B5EF4-FFF2-40B4-BE49-F238E27FC236}">
                  <a16:creationId xmlns:a16="http://schemas.microsoft.com/office/drawing/2014/main" id="{A0D0B37C-DA50-DB10-2C7F-844CFE43D5FF}"/>
                </a:ext>
              </a:extLst>
            </p:cNvPr>
            <p:cNvSpPr/>
            <p:nvPr/>
          </p:nvSpPr>
          <p:spPr>
            <a:xfrm>
              <a:off x="6470062" y="2889316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47625" y="0"/>
                  </a:moveTo>
                  <a:cubicBezTo>
                    <a:pt x="31849" y="0"/>
                    <a:pt x="19050" y="12799"/>
                    <a:pt x="19050" y="28575"/>
                  </a:cubicBezTo>
                  <a:lnTo>
                    <a:pt x="19050" y="77599"/>
                  </a:lnTo>
                  <a:cubicBezTo>
                    <a:pt x="10269" y="85427"/>
                    <a:pt x="4763" y="96857"/>
                    <a:pt x="4763" y="109537"/>
                  </a:cubicBezTo>
                  <a:cubicBezTo>
                    <a:pt x="4763" y="133201"/>
                    <a:pt x="23961" y="152400"/>
                    <a:pt x="47625" y="152400"/>
                  </a:cubicBezTo>
                  <a:cubicBezTo>
                    <a:pt x="71289" y="152400"/>
                    <a:pt x="90488" y="133201"/>
                    <a:pt x="90488" y="109537"/>
                  </a:cubicBezTo>
                  <a:cubicBezTo>
                    <a:pt x="90488" y="96857"/>
                    <a:pt x="84981" y="85427"/>
                    <a:pt x="76200" y="77599"/>
                  </a:cubicBezTo>
                  <a:lnTo>
                    <a:pt x="76200" y="28575"/>
                  </a:lnTo>
                  <a:cubicBezTo>
                    <a:pt x="76200" y="12799"/>
                    <a:pt x="63401" y="0"/>
                    <a:pt x="47625" y="0"/>
                  </a:cubicBezTo>
                  <a:close/>
                  <a:moveTo>
                    <a:pt x="66675" y="109537"/>
                  </a:moveTo>
                  <a:cubicBezTo>
                    <a:pt x="66675" y="120045"/>
                    <a:pt x="58132" y="128588"/>
                    <a:pt x="47625" y="128588"/>
                  </a:cubicBezTo>
                  <a:cubicBezTo>
                    <a:pt x="37118" y="128588"/>
                    <a:pt x="28575" y="120045"/>
                    <a:pt x="28575" y="109537"/>
                  </a:cubicBezTo>
                  <a:cubicBezTo>
                    <a:pt x="28575" y="101531"/>
                    <a:pt x="33486" y="94684"/>
                    <a:pt x="40481" y="91886"/>
                  </a:cubicBezTo>
                  <a:lnTo>
                    <a:pt x="40481" y="64294"/>
                  </a:lnTo>
                  <a:cubicBezTo>
                    <a:pt x="40481" y="60335"/>
                    <a:pt x="43666" y="57150"/>
                    <a:pt x="47625" y="57150"/>
                  </a:cubicBezTo>
                  <a:cubicBezTo>
                    <a:pt x="51584" y="57150"/>
                    <a:pt x="54769" y="60335"/>
                    <a:pt x="54769" y="64294"/>
                  </a:cubicBezTo>
                  <a:lnTo>
                    <a:pt x="54769" y="91886"/>
                  </a:lnTo>
                  <a:cubicBezTo>
                    <a:pt x="61764" y="94714"/>
                    <a:pt x="66675" y="101560"/>
                    <a:pt x="66675" y="109537"/>
                  </a:cubicBezTo>
                  <a:close/>
                </a:path>
              </a:pathLst>
            </a:custGeom>
            <a:solidFill>
              <a:srgbClr val="C9A86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71">
              <a:extLst>
                <a:ext uri="{FF2B5EF4-FFF2-40B4-BE49-F238E27FC236}">
                  <a16:creationId xmlns:a16="http://schemas.microsoft.com/office/drawing/2014/main" id="{61E123C1-B03A-FCE7-8921-CC9BF47F4F21}"/>
                </a:ext>
              </a:extLst>
            </p:cNvPr>
            <p:cNvSpPr/>
            <p:nvPr/>
          </p:nvSpPr>
          <p:spPr>
            <a:xfrm>
              <a:off x="6746287" y="2832166"/>
              <a:ext cx="108628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rgbClr val="E0E2E5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温度场重建</a:t>
              </a:r>
              <a:endParaRPr lang="en-US" sz="1600" dirty="0"/>
            </a:p>
          </p:txBody>
        </p:sp>
        <p:sp>
          <p:nvSpPr>
            <p:cNvPr id="84" name="Text 72">
              <a:extLst>
                <a:ext uri="{FF2B5EF4-FFF2-40B4-BE49-F238E27FC236}">
                  <a16:creationId xmlns:a16="http://schemas.microsoft.com/office/drawing/2014/main" id="{F2D8F8C6-59E6-48A2-458C-C3EFB5B39D8F}"/>
                </a:ext>
              </a:extLst>
            </p:cNvPr>
            <p:cNvSpPr/>
            <p:nvPr/>
          </p:nvSpPr>
          <p:spPr>
            <a:xfrm>
              <a:off x="6365287" y="3194116"/>
              <a:ext cx="5495925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rgbClr val="E0E2E5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通过一维径向传热模型识别"表面正常,内部危险"的隐蔽热点</a:t>
              </a:r>
              <a:endParaRPr lang="en-US" sz="1600" dirty="0"/>
            </a:p>
          </p:txBody>
        </p:sp>
        <p:sp>
          <p:nvSpPr>
            <p:cNvPr id="85" name="Shape 73">
              <a:extLst>
                <a:ext uri="{FF2B5EF4-FFF2-40B4-BE49-F238E27FC236}">
                  <a16:creationId xmlns:a16="http://schemas.microsoft.com/office/drawing/2014/main" id="{63BC910F-F57A-A603-0FF3-082A5130CCA6}"/>
                </a:ext>
              </a:extLst>
            </p:cNvPr>
            <p:cNvSpPr/>
            <p:nvPr/>
          </p:nvSpPr>
          <p:spPr>
            <a:xfrm>
              <a:off x="6365287" y="3479866"/>
              <a:ext cx="5419725" cy="2124075"/>
            </a:xfrm>
            <a:custGeom>
              <a:avLst/>
              <a:gdLst/>
              <a:ahLst/>
              <a:cxnLst/>
              <a:rect l="l" t="t" r="r" b="b"/>
              <a:pathLst>
                <a:path w="5419725" h="2124075">
                  <a:moveTo>
                    <a:pt x="76191" y="0"/>
                  </a:moveTo>
                  <a:lnTo>
                    <a:pt x="5343534" y="0"/>
                  </a:lnTo>
                  <a:cubicBezTo>
                    <a:pt x="5385585" y="0"/>
                    <a:pt x="5419725" y="34140"/>
                    <a:pt x="5419725" y="76191"/>
                  </a:cubicBezTo>
                  <a:lnTo>
                    <a:pt x="5419725" y="2047884"/>
                  </a:lnTo>
                  <a:cubicBezTo>
                    <a:pt x="5419725" y="2089935"/>
                    <a:pt x="5385585" y="2124075"/>
                    <a:pt x="5343534" y="2124075"/>
                  </a:cubicBezTo>
                  <a:lnTo>
                    <a:pt x="76191" y="2124075"/>
                  </a:lnTo>
                  <a:cubicBezTo>
                    <a:pt x="34140" y="2124075"/>
                    <a:pt x="0" y="2089935"/>
                    <a:pt x="0" y="2047884"/>
                  </a:cubicBezTo>
                  <a:lnTo>
                    <a:pt x="0" y="76191"/>
                  </a:lnTo>
                  <a:cubicBezTo>
                    <a:pt x="0" y="34140"/>
                    <a:pt x="34140" y="0"/>
                    <a:pt x="76191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74">
              <a:extLst>
                <a:ext uri="{FF2B5EF4-FFF2-40B4-BE49-F238E27FC236}">
                  <a16:creationId xmlns:a16="http://schemas.microsoft.com/office/drawing/2014/main" id="{21012EF6-5EF3-F633-5E94-734680A1F8B7}"/>
                </a:ext>
              </a:extLst>
            </p:cNvPr>
            <p:cNvSpPr/>
            <p:nvPr/>
          </p:nvSpPr>
          <p:spPr>
            <a:xfrm>
              <a:off x="6479587" y="3594166"/>
              <a:ext cx="11620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2C快充场景(6A)</a:t>
              </a:r>
              <a:endParaRPr lang="en-US" sz="1600" dirty="0"/>
            </a:p>
          </p:txBody>
        </p:sp>
        <p:sp>
          <p:nvSpPr>
            <p:cNvPr id="87" name="Shape 75">
              <a:extLst>
                <a:ext uri="{FF2B5EF4-FFF2-40B4-BE49-F238E27FC236}">
                  <a16:creationId xmlns:a16="http://schemas.microsoft.com/office/drawing/2014/main" id="{D8EA30FF-FE6F-023B-10A0-205811FF6ACA}"/>
                </a:ext>
              </a:extLst>
            </p:cNvPr>
            <p:cNvSpPr/>
            <p:nvPr/>
          </p:nvSpPr>
          <p:spPr>
            <a:xfrm>
              <a:off x="10828246" y="3594166"/>
              <a:ext cx="838200" cy="228600"/>
            </a:xfrm>
            <a:custGeom>
              <a:avLst/>
              <a:gdLst/>
              <a:ahLst/>
              <a:cxnLst/>
              <a:rect l="l" t="t" r="r" b="b"/>
              <a:pathLst>
                <a:path w="838200" h="228600">
                  <a:moveTo>
                    <a:pt x="38101" y="0"/>
                  </a:moveTo>
                  <a:lnTo>
                    <a:pt x="800099" y="0"/>
                  </a:lnTo>
                  <a:cubicBezTo>
                    <a:pt x="821142" y="0"/>
                    <a:pt x="838200" y="17058"/>
                    <a:pt x="838200" y="38101"/>
                  </a:cubicBezTo>
                  <a:lnTo>
                    <a:pt x="838200" y="190499"/>
                  </a:lnTo>
                  <a:cubicBezTo>
                    <a:pt x="838200" y="211542"/>
                    <a:pt x="821142" y="228600"/>
                    <a:pt x="800099" y="228600"/>
                  </a:cubicBezTo>
                  <a:lnTo>
                    <a:pt x="38101" y="228600"/>
                  </a:lnTo>
                  <a:cubicBezTo>
                    <a:pt x="17072" y="228600"/>
                    <a:pt x="0" y="211528"/>
                    <a:pt x="0" y="190499"/>
                  </a:cubicBezTo>
                  <a:lnTo>
                    <a:pt x="0" y="38101"/>
                  </a:lnTo>
                  <a:cubicBezTo>
                    <a:pt x="0" y="17072"/>
                    <a:pt x="17072" y="0"/>
                    <a:pt x="38101" y="0"/>
                  </a:cubicBezTo>
                  <a:close/>
                </a:path>
              </a:pathLst>
            </a:custGeom>
            <a:solidFill>
              <a:srgbClr val="C9A86A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 76">
              <a:extLst>
                <a:ext uri="{FF2B5EF4-FFF2-40B4-BE49-F238E27FC236}">
                  <a16:creationId xmlns:a16="http://schemas.microsoft.com/office/drawing/2014/main" id="{8150B326-58AC-6D24-3D6F-1AC15768BB9A}"/>
                </a:ext>
              </a:extLst>
            </p:cNvPr>
            <p:cNvSpPr/>
            <p:nvPr/>
          </p:nvSpPr>
          <p:spPr>
            <a:xfrm>
              <a:off x="10828246" y="3594166"/>
              <a:ext cx="904875" cy="228600"/>
            </a:xfrm>
            <a:prstGeom prst="rect">
              <a:avLst/>
            </a:prstGeom>
            <a:noFill/>
            <a:ln/>
          </p:spPr>
          <p:txBody>
            <a:bodyPr wrap="square" lIns="76200" tIns="19050" rIns="76200" bIns="1905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⚠ 风险识别</a:t>
              </a:r>
              <a:endParaRPr lang="en-US" sz="1600" dirty="0"/>
            </a:p>
          </p:txBody>
        </p:sp>
        <p:sp>
          <p:nvSpPr>
            <p:cNvPr id="89" name="Shape 77">
              <a:extLst>
                <a:ext uri="{FF2B5EF4-FFF2-40B4-BE49-F238E27FC236}">
                  <a16:creationId xmlns:a16="http://schemas.microsoft.com/office/drawing/2014/main" id="{AD1F3AF1-123A-7602-BC3D-180B3EA9D613}"/>
                </a:ext>
              </a:extLst>
            </p:cNvPr>
            <p:cNvSpPr/>
            <p:nvPr/>
          </p:nvSpPr>
          <p:spPr>
            <a:xfrm>
              <a:off x="6479587" y="3898966"/>
              <a:ext cx="5191125" cy="342900"/>
            </a:xfrm>
            <a:custGeom>
              <a:avLst/>
              <a:gdLst/>
              <a:ahLst/>
              <a:cxnLst/>
              <a:rect l="l" t="t" r="r" b="b"/>
              <a:pathLst>
                <a:path w="5191125" h="342900">
                  <a:moveTo>
                    <a:pt x="38100" y="0"/>
                  </a:moveTo>
                  <a:lnTo>
                    <a:pt x="5153025" y="0"/>
                  </a:lnTo>
                  <a:cubicBezTo>
                    <a:pt x="5174067" y="0"/>
                    <a:pt x="5191125" y="17058"/>
                    <a:pt x="5191125" y="38100"/>
                  </a:cubicBezTo>
                  <a:lnTo>
                    <a:pt x="5191125" y="304800"/>
                  </a:lnTo>
                  <a:cubicBezTo>
                    <a:pt x="5191125" y="325842"/>
                    <a:pt x="5174067" y="342900"/>
                    <a:pt x="5153025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52A3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78">
              <a:extLst>
                <a:ext uri="{FF2B5EF4-FFF2-40B4-BE49-F238E27FC236}">
                  <a16:creationId xmlns:a16="http://schemas.microsoft.com/office/drawing/2014/main" id="{5EFD1A59-861D-DCAD-BA01-283B157D5CA3}"/>
                </a:ext>
              </a:extLst>
            </p:cNvPr>
            <p:cNvSpPr/>
            <p:nvPr/>
          </p:nvSpPr>
          <p:spPr>
            <a:xfrm>
              <a:off x="6536737" y="3956116"/>
              <a:ext cx="14097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0E2E5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表面温度(BMS显示)</a:t>
              </a:r>
              <a:endParaRPr lang="en-US" sz="1600" dirty="0"/>
            </a:p>
          </p:txBody>
        </p:sp>
        <p:sp>
          <p:nvSpPr>
            <p:cNvPr id="91" name="Text 79">
              <a:extLst>
                <a:ext uri="{FF2B5EF4-FFF2-40B4-BE49-F238E27FC236}">
                  <a16:creationId xmlns:a16="http://schemas.microsoft.com/office/drawing/2014/main" id="{8AEAF989-242A-91E4-85BD-3847A70D44F3}"/>
                </a:ext>
              </a:extLst>
            </p:cNvPr>
            <p:cNvSpPr/>
            <p:nvPr/>
          </p:nvSpPr>
          <p:spPr>
            <a:xfrm>
              <a:off x="11004558" y="3956116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3D8B7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38°C ✅</a:t>
              </a:r>
              <a:endParaRPr lang="en-US" sz="1600" dirty="0"/>
            </a:p>
          </p:txBody>
        </p:sp>
        <p:sp>
          <p:nvSpPr>
            <p:cNvPr id="92" name="Shape 80">
              <a:extLst>
                <a:ext uri="{FF2B5EF4-FFF2-40B4-BE49-F238E27FC236}">
                  <a16:creationId xmlns:a16="http://schemas.microsoft.com/office/drawing/2014/main" id="{4AB2E1B7-1E82-6732-CE22-DC6C274C230C}"/>
                </a:ext>
              </a:extLst>
            </p:cNvPr>
            <p:cNvSpPr/>
            <p:nvPr/>
          </p:nvSpPr>
          <p:spPr>
            <a:xfrm>
              <a:off x="6482762" y="4302191"/>
              <a:ext cx="5178425" cy="349250"/>
            </a:xfrm>
            <a:custGeom>
              <a:avLst/>
              <a:gdLst/>
              <a:ahLst/>
              <a:cxnLst/>
              <a:rect l="l" t="t" r="r" b="b"/>
              <a:pathLst>
                <a:path w="5178425" h="349250">
                  <a:moveTo>
                    <a:pt x="38100" y="0"/>
                  </a:moveTo>
                  <a:lnTo>
                    <a:pt x="5140325" y="0"/>
                  </a:lnTo>
                  <a:cubicBezTo>
                    <a:pt x="5161367" y="0"/>
                    <a:pt x="5178425" y="17058"/>
                    <a:pt x="5178425" y="38100"/>
                  </a:cubicBezTo>
                  <a:lnTo>
                    <a:pt x="5178425" y="311150"/>
                  </a:lnTo>
                  <a:cubicBezTo>
                    <a:pt x="5178425" y="332192"/>
                    <a:pt x="5161367" y="349250"/>
                    <a:pt x="5140325" y="349250"/>
                  </a:cubicBezTo>
                  <a:lnTo>
                    <a:pt x="38100" y="349250"/>
                  </a:lnTo>
                  <a:cubicBezTo>
                    <a:pt x="17058" y="349250"/>
                    <a:pt x="0" y="332192"/>
                    <a:pt x="0" y="31115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52A30"/>
            </a:solidFill>
            <a:ln w="8467">
              <a:solidFill>
                <a:srgbClr val="C9A86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81">
              <a:extLst>
                <a:ext uri="{FF2B5EF4-FFF2-40B4-BE49-F238E27FC236}">
                  <a16:creationId xmlns:a16="http://schemas.microsoft.com/office/drawing/2014/main" id="{CED14701-ED7D-FA98-8456-6FD3566948EA}"/>
                </a:ext>
              </a:extLst>
            </p:cNvPr>
            <p:cNvSpPr/>
            <p:nvPr/>
          </p:nvSpPr>
          <p:spPr>
            <a:xfrm>
              <a:off x="6543087" y="4362515"/>
              <a:ext cx="10858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0E2E5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中心温度(重建)</a:t>
              </a:r>
              <a:endParaRPr lang="en-US" sz="1600" dirty="0"/>
            </a:p>
          </p:txBody>
        </p:sp>
        <p:sp>
          <p:nvSpPr>
            <p:cNvPr id="94" name="Text 82">
              <a:extLst>
                <a:ext uri="{FF2B5EF4-FFF2-40B4-BE49-F238E27FC236}">
                  <a16:creationId xmlns:a16="http://schemas.microsoft.com/office/drawing/2014/main" id="{8BD2885D-ACAD-0F50-419D-687535F005E2}"/>
                </a:ext>
              </a:extLst>
            </p:cNvPr>
            <p:cNvSpPr/>
            <p:nvPr/>
          </p:nvSpPr>
          <p:spPr>
            <a:xfrm>
              <a:off x="11092466" y="4362515"/>
              <a:ext cx="5905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47°C ⚠</a:t>
              </a:r>
              <a:endParaRPr lang="en-US" sz="1600" dirty="0"/>
            </a:p>
          </p:txBody>
        </p:sp>
        <p:sp>
          <p:nvSpPr>
            <p:cNvPr id="95" name="Shape 83">
              <a:extLst>
                <a:ext uri="{FF2B5EF4-FFF2-40B4-BE49-F238E27FC236}">
                  <a16:creationId xmlns:a16="http://schemas.microsoft.com/office/drawing/2014/main" id="{D4BF41DE-0A32-6225-F9A3-8F5D1F74AF35}"/>
                </a:ext>
              </a:extLst>
            </p:cNvPr>
            <p:cNvSpPr/>
            <p:nvPr/>
          </p:nvSpPr>
          <p:spPr>
            <a:xfrm>
              <a:off x="6479587" y="4711768"/>
              <a:ext cx="5191125" cy="342900"/>
            </a:xfrm>
            <a:custGeom>
              <a:avLst/>
              <a:gdLst/>
              <a:ahLst/>
              <a:cxnLst/>
              <a:rect l="l" t="t" r="r" b="b"/>
              <a:pathLst>
                <a:path w="5191125" h="342900">
                  <a:moveTo>
                    <a:pt x="38100" y="0"/>
                  </a:moveTo>
                  <a:lnTo>
                    <a:pt x="5153025" y="0"/>
                  </a:lnTo>
                  <a:cubicBezTo>
                    <a:pt x="5174067" y="0"/>
                    <a:pt x="5191125" y="17058"/>
                    <a:pt x="5191125" y="38100"/>
                  </a:cubicBezTo>
                  <a:lnTo>
                    <a:pt x="5191125" y="304800"/>
                  </a:lnTo>
                  <a:cubicBezTo>
                    <a:pt x="5191125" y="325842"/>
                    <a:pt x="5174067" y="342900"/>
                    <a:pt x="5153025" y="342900"/>
                  </a:cubicBezTo>
                  <a:lnTo>
                    <a:pt x="38100" y="342900"/>
                  </a:lnTo>
                  <a:cubicBezTo>
                    <a:pt x="17058" y="342900"/>
                    <a:pt x="0" y="325842"/>
                    <a:pt x="0" y="3048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52A3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 84">
              <a:extLst>
                <a:ext uri="{FF2B5EF4-FFF2-40B4-BE49-F238E27FC236}">
                  <a16:creationId xmlns:a16="http://schemas.microsoft.com/office/drawing/2014/main" id="{BBD08DA1-31EC-AB6C-EBC2-A08258A36DEB}"/>
                </a:ext>
              </a:extLst>
            </p:cNvPr>
            <p:cNvSpPr/>
            <p:nvPr/>
          </p:nvSpPr>
          <p:spPr>
            <a:xfrm>
              <a:off x="6536737" y="4768918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E0E2E5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温度梯度</a:t>
              </a:r>
              <a:endParaRPr lang="en-US" sz="1600" dirty="0"/>
            </a:p>
          </p:txBody>
        </p:sp>
        <p:sp>
          <p:nvSpPr>
            <p:cNvPr id="97" name="Text 85">
              <a:extLst>
                <a:ext uri="{FF2B5EF4-FFF2-40B4-BE49-F238E27FC236}">
                  <a16:creationId xmlns:a16="http://schemas.microsoft.com/office/drawing/2014/main" id="{1DD206FB-D6CA-3CE5-5946-7AAA05CF117A}"/>
                </a:ext>
              </a:extLst>
            </p:cNvPr>
            <p:cNvSpPr/>
            <p:nvPr/>
          </p:nvSpPr>
          <p:spPr>
            <a:xfrm>
              <a:off x="11351724" y="4768918"/>
              <a:ext cx="3333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9°C</a:t>
              </a:r>
              <a:endParaRPr lang="en-US" sz="1600" dirty="0"/>
            </a:p>
          </p:txBody>
        </p:sp>
        <p:sp>
          <p:nvSpPr>
            <p:cNvPr id="98" name="Shape 86">
              <a:extLst>
                <a:ext uri="{FF2B5EF4-FFF2-40B4-BE49-F238E27FC236}">
                  <a16:creationId xmlns:a16="http://schemas.microsoft.com/office/drawing/2014/main" id="{81074A6E-36B8-5CBC-7D46-611DEAA48B9E}"/>
                </a:ext>
              </a:extLst>
            </p:cNvPr>
            <p:cNvSpPr/>
            <p:nvPr/>
          </p:nvSpPr>
          <p:spPr>
            <a:xfrm>
              <a:off x="6482762" y="5134043"/>
              <a:ext cx="5178425" cy="349250"/>
            </a:xfrm>
            <a:custGeom>
              <a:avLst/>
              <a:gdLst/>
              <a:ahLst/>
              <a:cxnLst/>
              <a:rect l="l" t="t" r="r" b="b"/>
              <a:pathLst>
                <a:path w="5178425" h="349250">
                  <a:moveTo>
                    <a:pt x="38100" y="0"/>
                  </a:moveTo>
                  <a:lnTo>
                    <a:pt x="5140325" y="0"/>
                  </a:lnTo>
                  <a:cubicBezTo>
                    <a:pt x="5161367" y="0"/>
                    <a:pt x="5178425" y="17058"/>
                    <a:pt x="5178425" y="38100"/>
                  </a:cubicBezTo>
                  <a:lnTo>
                    <a:pt x="5178425" y="311150"/>
                  </a:lnTo>
                  <a:cubicBezTo>
                    <a:pt x="5178425" y="332192"/>
                    <a:pt x="5161367" y="349250"/>
                    <a:pt x="5140325" y="349250"/>
                  </a:cubicBezTo>
                  <a:lnTo>
                    <a:pt x="38100" y="349250"/>
                  </a:lnTo>
                  <a:cubicBezTo>
                    <a:pt x="17058" y="349250"/>
                    <a:pt x="0" y="332192"/>
                    <a:pt x="0" y="31115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9A86A">
                <a:alpha val="10196"/>
              </a:srgbClr>
            </a:solidFill>
            <a:ln w="8467">
              <a:solidFill>
                <a:srgbClr val="C9A86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Shape 87">
              <a:extLst>
                <a:ext uri="{FF2B5EF4-FFF2-40B4-BE49-F238E27FC236}">
                  <a16:creationId xmlns:a16="http://schemas.microsoft.com/office/drawing/2014/main" id="{5F50D316-C509-7001-6655-D309E2858CA9}"/>
                </a:ext>
              </a:extLst>
            </p:cNvPr>
            <p:cNvSpPr/>
            <p:nvPr/>
          </p:nvSpPr>
          <p:spPr>
            <a:xfrm>
              <a:off x="7976203" y="523246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cubicBezTo>
                    <a:pt x="118256" y="0"/>
                    <a:pt x="152400" y="34144"/>
                    <a:pt x="152400" y="76200"/>
                  </a:cubicBezTo>
                  <a:cubicBezTo>
                    <a:pt x="152400" y="118256"/>
                    <a:pt x="118256" y="152400"/>
                    <a:pt x="76200" y="152400"/>
                  </a:cubicBezTo>
                  <a:cubicBezTo>
                    <a:pt x="34144" y="152400"/>
                    <a:pt x="0" y="118256"/>
                    <a:pt x="0" y="76200"/>
                  </a:cubicBezTo>
                  <a:cubicBezTo>
                    <a:pt x="0" y="34144"/>
                    <a:pt x="34144" y="0"/>
                    <a:pt x="76200" y="0"/>
                  </a:cubicBezTo>
                  <a:close/>
                  <a:moveTo>
                    <a:pt x="69056" y="35719"/>
                  </a:moveTo>
                  <a:lnTo>
                    <a:pt x="69056" y="76200"/>
                  </a:lnTo>
                  <a:cubicBezTo>
                    <a:pt x="69056" y="78581"/>
                    <a:pt x="70247" y="80814"/>
                    <a:pt x="72241" y="82153"/>
                  </a:cubicBezTo>
                  <a:lnTo>
                    <a:pt x="100816" y="101203"/>
                  </a:lnTo>
                  <a:cubicBezTo>
                    <a:pt x="104090" y="103406"/>
                    <a:pt x="108525" y="102513"/>
                    <a:pt x="110728" y="99209"/>
                  </a:cubicBezTo>
                  <a:cubicBezTo>
                    <a:pt x="112931" y="95905"/>
                    <a:pt x="112038" y="91500"/>
                    <a:pt x="108734" y="89297"/>
                  </a:cubicBezTo>
                  <a:lnTo>
                    <a:pt x="83344" y="72390"/>
                  </a:lnTo>
                  <a:lnTo>
                    <a:pt x="83344" y="35719"/>
                  </a:lnTo>
                  <a:cubicBezTo>
                    <a:pt x="83344" y="31760"/>
                    <a:pt x="80159" y="28575"/>
                    <a:pt x="76200" y="28575"/>
                  </a:cubicBezTo>
                  <a:cubicBezTo>
                    <a:pt x="72241" y="28575"/>
                    <a:pt x="69056" y="31760"/>
                    <a:pt x="69056" y="35719"/>
                  </a:cubicBezTo>
                  <a:close/>
                </a:path>
              </a:pathLst>
            </a:custGeom>
            <a:solidFill>
              <a:srgbClr val="C9A86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88">
              <a:extLst>
                <a:ext uri="{FF2B5EF4-FFF2-40B4-BE49-F238E27FC236}">
                  <a16:creationId xmlns:a16="http://schemas.microsoft.com/office/drawing/2014/main" id="{4DA196DD-A8D1-E506-34FA-27B00FF46769}"/>
                </a:ext>
              </a:extLst>
            </p:cNvPr>
            <p:cNvSpPr/>
            <p:nvPr/>
          </p:nvSpPr>
          <p:spPr>
            <a:xfrm>
              <a:off x="6724062" y="5194366"/>
              <a:ext cx="49149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E0E2E5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提前10分钟-1小时预警热失控</a:t>
              </a:r>
              <a:endParaRPr lang="en-US" sz="1600" dirty="0"/>
            </a:p>
          </p:txBody>
        </p:sp>
      </p:grpSp>
      <p:sp>
        <p:nvSpPr>
          <p:cNvPr id="104" name="Shape 48">
            <a:extLst>
              <a:ext uri="{FF2B5EF4-FFF2-40B4-BE49-F238E27FC236}">
                <a16:creationId xmlns:a16="http://schemas.microsoft.com/office/drawing/2014/main" id="{2241952C-3EE8-E4F2-430A-57729A112FEB}"/>
              </a:ext>
            </a:extLst>
          </p:cNvPr>
          <p:cNvSpPr/>
          <p:nvPr/>
        </p:nvSpPr>
        <p:spPr>
          <a:xfrm>
            <a:off x="745816" y="183365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D46123-365A-884D-D4E9-4A75748D2044}"/>
              </a:ext>
            </a:extLst>
          </p:cNvPr>
          <p:cNvSpPr txBox="1"/>
          <p:nvPr/>
        </p:nvSpPr>
        <p:spPr>
          <a:xfrm>
            <a:off x="722222" y="2864130"/>
            <a:ext cx="44367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85000"/>
                  </a:schemeClr>
                </a:solidFill>
              </a:rPr>
              <a:t>仅用表面温度与电流作输入，通过导热解析方程反推中心温度，快充场景下提前数分钟预警过热，避免隔膜闭孔。</a:t>
            </a:r>
          </a:p>
        </p:txBody>
      </p:sp>
    </p:spTree>
    <p:extLst>
      <p:ext uri="{BB962C8B-B14F-4D97-AF65-F5344CB8AC3E}">
        <p14:creationId xmlns:p14="http://schemas.microsoft.com/office/powerpoint/2010/main" val="2462022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2019300" cy="304800"/>
          </a:xfrm>
          <a:custGeom>
            <a:avLst/>
            <a:gdLst/>
            <a:ahLst/>
            <a:cxnLst/>
            <a:rect l="l" t="t" r="r" b="b"/>
            <a:pathLst>
              <a:path w="2019300" h="304800">
                <a:moveTo>
                  <a:pt x="38100" y="0"/>
                </a:moveTo>
                <a:lnTo>
                  <a:pt x="1981200" y="0"/>
                </a:lnTo>
                <a:cubicBezTo>
                  <a:pt x="2002228" y="0"/>
                  <a:pt x="2019300" y="17072"/>
                  <a:pt x="2019300" y="38100"/>
                </a:cubicBezTo>
                <a:lnTo>
                  <a:pt x="2019300" y="266700"/>
                </a:lnTo>
                <a:cubicBezTo>
                  <a:pt x="2019300" y="287728"/>
                  <a:pt x="2002228" y="304800"/>
                  <a:pt x="19812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95300" y="462630"/>
            <a:ext cx="18433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LIFECYCLE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寿命预测与智能控制：逆天改命的「养生术」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4810" y="1489710"/>
            <a:ext cx="3703320" cy="4055745"/>
          </a:xfrm>
          <a:custGeom>
            <a:avLst/>
            <a:gdLst/>
            <a:ahLst/>
            <a:cxnLst/>
            <a:rect l="l" t="t" r="r" b="b"/>
            <a:pathLst>
              <a:path w="3703320" h="40557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41461"/>
                </a:lnTo>
                <a:cubicBezTo>
                  <a:pt x="3703320" y="4004578"/>
                  <a:pt x="3652153" y="4055745"/>
                  <a:pt x="3589036" y="4055745"/>
                </a:cubicBezTo>
                <a:lnTo>
                  <a:pt x="114284" y="4055745"/>
                </a:lnTo>
                <a:cubicBezTo>
                  <a:pt x="51167" y="4055745"/>
                  <a:pt x="0" y="4004578"/>
                  <a:pt x="0" y="39414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1020" y="16459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08528" y="1741168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2520" y="1664968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寿命预测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2520" y="1931668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Remaining Useful Life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020" y="2217418"/>
            <a:ext cx="3390900" cy="1219200"/>
          </a:xfrm>
          <a:custGeom>
            <a:avLst/>
            <a:gdLst/>
            <a:ahLst/>
            <a:cxnLst/>
            <a:rect l="l" t="t" r="r" b="b"/>
            <a:pathLst>
              <a:path w="3390900" h="12192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1143000"/>
                </a:lnTo>
                <a:cubicBezTo>
                  <a:pt x="3390900" y="1185056"/>
                  <a:pt x="3356756" y="1219200"/>
                  <a:pt x="33147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5320" y="2331718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半物理ODE模型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5320" y="2560202"/>
            <a:ext cx="3162300" cy="342900"/>
          </a:xfrm>
          <a:custGeom>
            <a:avLst/>
            <a:gdLst/>
            <a:ahLst/>
            <a:cxnLst/>
            <a:rect l="l" t="t" r="r" b="b"/>
            <a:pathLst>
              <a:path w="3162300" h="342900">
                <a:moveTo>
                  <a:pt x="38100" y="0"/>
                </a:moveTo>
                <a:lnTo>
                  <a:pt x="3124200" y="0"/>
                </a:lnTo>
                <a:cubicBezTo>
                  <a:pt x="3145242" y="0"/>
                  <a:pt x="3162300" y="17058"/>
                  <a:pt x="3162300" y="38100"/>
                </a:cubicBezTo>
                <a:lnTo>
                  <a:pt x="3162300" y="304800"/>
                </a:lnTo>
                <a:cubicBezTo>
                  <a:pt x="3162300" y="325842"/>
                  <a:pt x="3145242" y="342900"/>
                  <a:pt x="31242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8183" y="2636402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dQ/dN = -k</a:t>
            </a:r>
            <a:r>
              <a:rPr lang="en-US" sz="788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(1 + f</a:t>
            </a:r>
            <a:r>
              <a:rPr lang="en-US" sz="788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</a:t>
            </a: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(N) + f</a:t>
            </a:r>
            <a:r>
              <a:rPr lang="en-US" sz="788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</a:t>
            </a:r>
            <a:r>
              <a:rPr lang="en-US" sz="105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(N))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320" y="2979302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fearly</a:t>
            </a: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：模拟SEI膜形成初期的快速衰减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320" y="3169681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fdive</a:t>
            </a: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：模拟寿命末期的容量「跳水」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830" y="3554370"/>
            <a:ext cx="3379470" cy="893445"/>
          </a:xfrm>
          <a:custGeom>
            <a:avLst/>
            <a:gdLst/>
            <a:ahLst/>
            <a:cxnLst/>
            <a:rect l="l" t="t" r="r" b="b"/>
            <a:pathLst>
              <a:path w="3379470" h="893445">
                <a:moveTo>
                  <a:pt x="76202" y="0"/>
                </a:moveTo>
                <a:lnTo>
                  <a:pt x="3303268" y="0"/>
                </a:lnTo>
                <a:cubicBezTo>
                  <a:pt x="3345353" y="0"/>
                  <a:pt x="3379470" y="34117"/>
                  <a:pt x="3379470" y="76202"/>
                </a:cubicBezTo>
                <a:lnTo>
                  <a:pt x="3379470" y="817243"/>
                </a:lnTo>
                <a:cubicBezTo>
                  <a:pt x="3379470" y="859328"/>
                  <a:pt x="3345353" y="893445"/>
                  <a:pt x="3303268" y="893445"/>
                </a:cubicBezTo>
                <a:lnTo>
                  <a:pt x="76202" y="893445"/>
                </a:lnTo>
                <a:cubicBezTo>
                  <a:pt x="34145" y="893445"/>
                  <a:pt x="0" y="859300"/>
                  <a:pt x="0" y="81724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2940" y="3672483"/>
            <a:ext cx="3200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" y="3900962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相比纯数据驱动（LSTM），该模型参数具有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明确物理意义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，即使只有少量数据也能准确预测寿命拐点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489710"/>
            <a:ext cx="3703320" cy="4055745"/>
          </a:xfrm>
          <a:custGeom>
            <a:avLst/>
            <a:gdLst/>
            <a:ahLst/>
            <a:cxnLst/>
            <a:rect l="l" t="t" r="r" b="b"/>
            <a:pathLst>
              <a:path w="3703320" h="40557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41461"/>
                </a:lnTo>
                <a:cubicBezTo>
                  <a:pt x="3703320" y="4004578"/>
                  <a:pt x="3652153" y="4055745"/>
                  <a:pt x="3589036" y="4055745"/>
                </a:cubicBezTo>
                <a:lnTo>
                  <a:pt x="114284" y="4055745"/>
                </a:lnTo>
                <a:cubicBezTo>
                  <a:pt x="51167" y="4055745"/>
                  <a:pt x="0" y="4004578"/>
                  <a:pt x="0" y="39414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401741" y="16459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23184" y="17792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23812" y="10678"/>
                  <a:pt x="34491" y="0"/>
                  <a:pt x="47625" y="0"/>
                </a:cubicBezTo>
                <a:lnTo>
                  <a:pt x="107156" y="0"/>
                </a:lnTo>
                <a:cubicBezTo>
                  <a:pt x="120290" y="0"/>
                  <a:pt x="130969" y="10678"/>
                  <a:pt x="130969" y="23812"/>
                </a:cubicBezTo>
                <a:lnTo>
                  <a:pt x="130969" y="107156"/>
                </a:lnTo>
                <a:cubicBezTo>
                  <a:pt x="147414" y="107156"/>
                  <a:pt x="160734" y="120476"/>
                  <a:pt x="160734" y="136922"/>
                </a:cubicBezTo>
                <a:lnTo>
                  <a:pt x="160734" y="141387"/>
                </a:lnTo>
                <a:cubicBezTo>
                  <a:pt x="160734" y="145479"/>
                  <a:pt x="164083" y="148828"/>
                  <a:pt x="168176" y="148828"/>
                </a:cubicBezTo>
                <a:cubicBezTo>
                  <a:pt x="172269" y="148828"/>
                  <a:pt x="175617" y="145479"/>
                  <a:pt x="175617" y="141387"/>
                </a:cubicBezTo>
                <a:lnTo>
                  <a:pt x="175617" y="93873"/>
                </a:lnTo>
                <a:cubicBezTo>
                  <a:pt x="163525" y="90078"/>
                  <a:pt x="154781" y="78804"/>
                  <a:pt x="154781" y="65484"/>
                </a:cubicBezTo>
                <a:lnTo>
                  <a:pt x="154781" y="53578"/>
                </a:lnTo>
                <a:cubicBezTo>
                  <a:pt x="154781" y="50304"/>
                  <a:pt x="157460" y="47625"/>
                  <a:pt x="160734" y="47625"/>
                </a:cubicBezTo>
                <a:lnTo>
                  <a:pt x="166688" y="47625"/>
                </a:lnTo>
                <a:lnTo>
                  <a:pt x="166688" y="29766"/>
                </a:lnTo>
                <a:cubicBezTo>
                  <a:pt x="166688" y="26491"/>
                  <a:pt x="169366" y="23812"/>
                  <a:pt x="172641" y="23812"/>
                </a:cubicBezTo>
                <a:cubicBezTo>
                  <a:pt x="175915" y="23812"/>
                  <a:pt x="178594" y="26491"/>
                  <a:pt x="178594" y="29766"/>
                </a:cubicBezTo>
                <a:lnTo>
                  <a:pt x="178594" y="47625"/>
                </a:lnTo>
                <a:lnTo>
                  <a:pt x="190500" y="47625"/>
                </a:lnTo>
                <a:lnTo>
                  <a:pt x="190500" y="29766"/>
                </a:lnTo>
                <a:cubicBezTo>
                  <a:pt x="190500" y="26491"/>
                  <a:pt x="193179" y="23812"/>
                  <a:pt x="196453" y="23812"/>
                </a:cubicBezTo>
                <a:cubicBezTo>
                  <a:pt x="199727" y="23812"/>
                  <a:pt x="202406" y="26491"/>
                  <a:pt x="202406" y="29766"/>
                </a:cubicBezTo>
                <a:lnTo>
                  <a:pt x="202406" y="47625"/>
                </a:lnTo>
                <a:lnTo>
                  <a:pt x="208359" y="47625"/>
                </a:lnTo>
                <a:cubicBezTo>
                  <a:pt x="211634" y="47625"/>
                  <a:pt x="214313" y="50304"/>
                  <a:pt x="214313" y="53578"/>
                </a:cubicBezTo>
                <a:lnTo>
                  <a:pt x="214313" y="65484"/>
                </a:lnTo>
                <a:cubicBezTo>
                  <a:pt x="214313" y="78804"/>
                  <a:pt x="205569" y="90078"/>
                  <a:pt x="193477" y="93873"/>
                </a:cubicBezTo>
                <a:lnTo>
                  <a:pt x="193477" y="141387"/>
                </a:lnTo>
                <a:cubicBezTo>
                  <a:pt x="193477" y="155377"/>
                  <a:pt x="182166" y="166688"/>
                  <a:pt x="168176" y="166688"/>
                </a:cubicBezTo>
                <a:cubicBezTo>
                  <a:pt x="154186" y="166688"/>
                  <a:pt x="142875" y="155377"/>
                  <a:pt x="142875" y="141387"/>
                </a:cubicBezTo>
                <a:lnTo>
                  <a:pt x="142875" y="136922"/>
                </a:lnTo>
                <a:cubicBezTo>
                  <a:pt x="142875" y="130336"/>
                  <a:pt x="137554" y="125016"/>
                  <a:pt x="130969" y="125016"/>
                </a:cubicBezTo>
                <a:lnTo>
                  <a:pt x="130969" y="173162"/>
                </a:lnTo>
                <a:cubicBezTo>
                  <a:pt x="134429" y="174389"/>
                  <a:pt x="136922" y="177701"/>
                  <a:pt x="136922" y="181570"/>
                </a:cubicBezTo>
                <a:cubicBezTo>
                  <a:pt x="136922" y="186519"/>
                  <a:pt x="132941" y="190500"/>
                  <a:pt x="127992" y="190500"/>
                </a:cubicBezTo>
                <a:lnTo>
                  <a:pt x="26789" y="190500"/>
                </a:lnTo>
                <a:cubicBezTo>
                  <a:pt x="21841" y="190500"/>
                  <a:pt x="17859" y="186519"/>
                  <a:pt x="17859" y="181570"/>
                </a:cubicBezTo>
                <a:cubicBezTo>
                  <a:pt x="17859" y="177664"/>
                  <a:pt x="20352" y="174389"/>
                  <a:pt x="23812" y="173162"/>
                </a:cubicBezTo>
                <a:lnTo>
                  <a:pt x="23812" y="23812"/>
                </a:lnTo>
                <a:close/>
                <a:moveTo>
                  <a:pt x="54583" y="70582"/>
                </a:moveTo>
                <a:lnTo>
                  <a:pt x="69093" y="70582"/>
                </a:lnTo>
                <a:lnTo>
                  <a:pt x="61317" y="95473"/>
                </a:lnTo>
                <a:cubicBezTo>
                  <a:pt x="60424" y="98301"/>
                  <a:pt x="62545" y="101203"/>
                  <a:pt x="65522" y="101203"/>
                </a:cubicBezTo>
                <a:cubicBezTo>
                  <a:pt x="66601" y="101203"/>
                  <a:pt x="67605" y="100831"/>
                  <a:pt x="68424" y="100124"/>
                </a:cubicBezTo>
                <a:lnTo>
                  <a:pt x="103622" y="69614"/>
                </a:lnTo>
                <a:cubicBezTo>
                  <a:pt x="104775" y="68610"/>
                  <a:pt x="105445" y="67159"/>
                  <a:pt x="105445" y="65633"/>
                </a:cubicBezTo>
                <a:cubicBezTo>
                  <a:pt x="105445" y="62731"/>
                  <a:pt x="103101" y="60387"/>
                  <a:pt x="100199" y="60387"/>
                </a:cubicBezTo>
                <a:lnTo>
                  <a:pt x="85688" y="60387"/>
                </a:lnTo>
                <a:lnTo>
                  <a:pt x="93464" y="35496"/>
                </a:lnTo>
                <a:cubicBezTo>
                  <a:pt x="94357" y="32668"/>
                  <a:pt x="92236" y="29766"/>
                  <a:pt x="89260" y="29766"/>
                </a:cubicBezTo>
                <a:cubicBezTo>
                  <a:pt x="88181" y="29766"/>
                  <a:pt x="87176" y="30138"/>
                  <a:pt x="86358" y="30845"/>
                </a:cubicBezTo>
                <a:lnTo>
                  <a:pt x="51160" y="61354"/>
                </a:lnTo>
                <a:cubicBezTo>
                  <a:pt x="50006" y="62359"/>
                  <a:pt x="49337" y="63810"/>
                  <a:pt x="49337" y="65336"/>
                </a:cubicBezTo>
                <a:cubicBezTo>
                  <a:pt x="49337" y="68238"/>
                  <a:pt x="51681" y="70582"/>
                  <a:pt x="54583" y="70582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973241" y="1664968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智能充电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73241" y="1931668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Intelligent Charging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1741" y="2217418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16041" y="2331718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延寿策略1：多级恒流 (MCC)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16041" y="2560202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析锂边界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，动态调整充电电流，在不析锂的前提下最大化充电速度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1741" y="3222189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16041" y="3336489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延寿策略2：脉冲充电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16041" y="3564968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在充电末端引入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负向脉冲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，消除浓差极化，抑制SEI膜增厚，实现微观层面的「去极化修复」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5551" y="4230766"/>
            <a:ext cx="3379470" cy="731520"/>
          </a:xfrm>
          <a:custGeom>
            <a:avLst/>
            <a:gdLst/>
            <a:ahLst/>
            <a:cxnLst/>
            <a:rect l="l" t="t" r="r" b="b"/>
            <a:pathLst>
              <a:path w="3379470" h="731520">
                <a:moveTo>
                  <a:pt x="76202" y="0"/>
                </a:moveTo>
                <a:lnTo>
                  <a:pt x="3303268" y="0"/>
                </a:lnTo>
                <a:cubicBezTo>
                  <a:pt x="3345353" y="0"/>
                  <a:pt x="3379470" y="34117"/>
                  <a:pt x="3379470" y="76202"/>
                </a:cubicBezTo>
                <a:lnTo>
                  <a:pt x="3379470" y="655318"/>
                </a:lnTo>
                <a:cubicBezTo>
                  <a:pt x="3379470" y="697403"/>
                  <a:pt x="3345353" y="731520"/>
                  <a:pt x="330326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523661" y="4348874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实测效果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23661" y="4539258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0970" y="4405908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01445" y="4596287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循环寿命延长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6371" y="1489710"/>
            <a:ext cx="3703320" cy="4055745"/>
          </a:xfrm>
          <a:custGeom>
            <a:avLst/>
            <a:gdLst/>
            <a:ahLst/>
            <a:cxnLst/>
            <a:rect l="l" t="t" r="r" b="b"/>
            <a:pathLst>
              <a:path w="3703320" h="40557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41461"/>
                </a:lnTo>
                <a:cubicBezTo>
                  <a:pt x="3703320" y="4004578"/>
                  <a:pt x="3652153" y="4055745"/>
                  <a:pt x="3589036" y="4055745"/>
                </a:cubicBezTo>
                <a:lnTo>
                  <a:pt x="114284" y="4055745"/>
                </a:lnTo>
                <a:cubicBezTo>
                  <a:pt x="51167" y="4055745"/>
                  <a:pt x="0" y="4004578"/>
                  <a:pt x="0" y="39414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262581" y="16459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372118" y="177926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834081" y="1664968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主动均衡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34081" y="1931668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Balancing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62581" y="2217418"/>
            <a:ext cx="3390900" cy="790575"/>
          </a:xfrm>
          <a:custGeom>
            <a:avLst/>
            <a:gdLst/>
            <a:ahLst/>
            <a:cxnLst/>
            <a:rect l="l" t="t" r="r" b="b"/>
            <a:pathLst>
              <a:path w="3390900" h="790575">
                <a:moveTo>
                  <a:pt x="76204" y="0"/>
                </a:moveTo>
                <a:lnTo>
                  <a:pt x="3314696" y="0"/>
                </a:lnTo>
                <a:cubicBezTo>
                  <a:pt x="3356783" y="0"/>
                  <a:pt x="3390900" y="34117"/>
                  <a:pt x="3390900" y="76204"/>
                </a:cubicBezTo>
                <a:lnTo>
                  <a:pt x="3390900" y="714371"/>
                </a:lnTo>
                <a:cubicBezTo>
                  <a:pt x="3390900" y="756458"/>
                  <a:pt x="3356783" y="790575"/>
                  <a:pt x="331469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376881" y="2331718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目标函数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76881" y="2560202"/>
            <a:ext cx="3162300" cy="342900"/>
          </a:xfrm>
          <a:custGeom>
            <a:avLst/>
            <a:gdLst/>
            <a:ahLst/>
            <a:cxnLst/>
            <a:rect l="l" t="t" r="r" b="b"/>
            <a:pathLst>
              <a:path w="3162300" h="342900">
                <a:moveTo>
                  <a:pt x="38100" y="0"/>
                </a:moveTo>
                <a:lnTo>
                  <a:pt x="3124200" y="0"/>
                </a:lnTo>
                <a:cubicBezTo>
                  <a:pt x="3145242" y="0"/>
                  <a:pt x="3162300" y="17058"/>
                  <a:pt x="3162300" y="38100"/>
                </a:cubicBezTo>
                <a:lnTo>
                  <a:pt x="3162300" y="304800"/>
                </a:lnTo>
                <a:cubicBezTo>
                  <a:pt x="3162300" y="325842"/>
                  <a:pt x="3145242" y="342900"/>
                  <a:pt x="31242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424506" y="2636402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 (QuantityDiverse + EnergyLoss + RealBalanceTime)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62581" y="3126939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376881" y="3241239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智能决策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6881" y="3469718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不再是简单的「削峰填谷」，而是综合考虑均衡带来的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开关损耗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（SwitchLoss）和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磁损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（CoreLoss）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6391" y="4135516"/>
            <a:ext cx="3379470" cy="893445"/>
          </a:xfrm>
          <a:custGeom>
            <a:avLst/>
            <a:gdLst/>
            <a:ahLst/>
            <a:cxnLst/>
            <a:rect l="l" t="t" r="r" b="b"/>
            <a:pathLst>
              <a:path w="3379470" h="893445">
                <a:moveTo>
                  <a:pt x="76202" y="0"/>
                </a:moveTo>
                <a:lnTo>
                  <a:pt x="3303268" y="0"/>
                </a:lnTo>
                <a:cubicBezTo>
                  <a:pt x="3345353" y="0"/>
                  <a:pt x="3379470" y="34117"/>
                  <a:pt x="3379470" y="76202"/>
                </a:cubicBezTo>
                <a:lnTo>
                  <a:pt x="3379470" y="817243"/>
                </a:lnTo>
                <a:cubicBezTo>
                  <a:pt x="3379470" y="859328"/>
                  <a:pt x="3345353" y="893445"/>
                  <a:pt x="3303268" y="893445"/>
                </a:cubicBezTo>
                <a:lnTo>
                  <a:pt x="76202" y="893445"/>
                </a:lnTo>
                <a:cubicBezTo>
                  <a:pt x="34145" y="893445"/>
                  <a:pt x="0" y="859300"/>
                  <a:pt x="0" y="81724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7D8A">
              <a:alpha val="10196"/>
            </a:srgbClr>
          </a:solidFill>
          <a:ln w="10160">
            <a:solidFill>
              <a:srgbClr val="6B7D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384500" y="4253624"/>
            <a:ext cx="3200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优化结果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84500" y="4482108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在保证一致性的前提下，减少均衡电路的动作次数，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降低系统发热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4810" y="5703806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114296" y="0"/>
                </a:moveTo>
                <a:lnTo>
                  <a:pt x="11304274" y="0"/>
                </a:lnTo>
                <a:cubicBezTo>
                  <a:pt x="11367398" y="0"/>
                  <a:pt x="11418570" y="51172"/>
                  <a:pt x="11418570" y="114296"/>
                </a:cubicBezTo>
                <a:lnTo>
                  <a:pt x="11418570" y="655324"/>
                </a:lnTo>
                <a:cubicBezTo>
                  <a:pt x="11418570" y="718448"/>
                  <a:pt x="11367398" y="769620"/>
                  <a:pt x="113042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98170" y="597419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41070" y="5878948"/>
            <a:ext cx="564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学术洞察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41070" y="6107548"/>
            <a:ext cx="564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三大策略形成协同：RUL预测指导长期规划，智能充电优化日常使用，主动均衡维持系统一致性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119956" y="5860019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148531" y="6164698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衰减率降低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20056" y="5860019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1.5年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948631" y="6164698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寿命延长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https://kimi-img.moonshot.cn/pub/slides/slides_tmpl/image/25-09-04-11:32:05-d2sggde1bb2p4onbok20.jpg">
            <a:extLst>
              <a:ext uri="{FF2B5EF4-FFF2-40B4-BE49-F238E27FC236}">
                <a16:creationId xmlns:a16="http://schemas.microsoft.com/office/drawing/2014/main" id="{57F69CD5-07B0-52A7-2165-A626FBEB4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46856" y="346856"/>
            <a:ext cx="1156765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kern="0" spc="55" dirty="0">
                <a:solidFill>
                  <a:schemeClr val="tx2">
                    <a:lumMod val="50000"/>
                    <a:lumOff val="5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LIFE EXTENSION TECHNOLOGY MATRIX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46856" y="624341"/>
            <a:ext cx="11654373" cy="34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8" b="1" dirty="0">
                <a:solidFill>
                  <a:srgbClr val="E0E2E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延寿技术矩阵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856" y="1075255"/>
            <a:ext cx="832455" cy="34686"/>
          </a:xfrm>
          <a:custGeom>
            <a:avLst/>
            <a:gdLst/>
            <a:ahLst/>
            <a:cxnLst/>
            <a:rect l="l" t="t" r="r" b="b"/>
            <a:pathLst>
              <a:path w="832455" h="34686">
                <a:moveTo>
                  <a:pt x="0" y="0"/>
                </a:moveTo>
                <a:lnTo>
                  <a:pt x="832455" y="0"/>
                </a:lnTo>
                <a:lnTo>
                  <a:pt x="832455" y="34686"/>
                </a:lnTo>
                <a:lnTo>
                  <a:pt x="0" y="3468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49747" y="1251573"/>
            <a:ext cx="11495397" cy="3136159"/>
          </a:xfrm>
          <a:custGeom>
            <a:avLst/>
            <a:gdLst/>
            <a:ahLst/>
            <a:cxnLst/>
            <a:rect l="l" t="t" r="r" b="b"/>
            <a:pathLst>
              <a:path w="11495397" h="3136159">
                <a:moveTo>
                  <a:pt x="104058" y="0"/>
                </a:moveTo>
                <a:lnTo>
                  <a:pt x="11391339" y="0"/>
                </a:lnTo>
                <a:cubicBezTo>
                  <a:pt x="11448809" y="0"/>
                  <a:pt x="11495397" y="46588"/>
                  <a:pt x="11495397" y="104058"/>
                </a:cubicBezTo>
                <a:lnTo>
                  <a:pt x="11495397" y="3032102"/>
                </a:lnTo>
                <a:cubicBezTo>
                  <a:pt x="11495397" y="3089571"/>
                  <a:pt x="11448809" y="3136159"/>
                  <a:pt x="11391339" y="3136159"/>
                </a:cubicBezTo>
                <a:lnTo>
                  <a:pt x="104058" y="3136159"/>
                </a:lnTo>
                <a:cubicBezTo>
                  <a:pt x="46588" y="3136159"/>
                  <a:pt x="0" y="3089571"/>
                  <a:pt x="0" y="3032102"/>
                </a:cubicBezTo>
                <a:lnTo>
                  <a:pt x="0" y="104058"/>
                </a:lnTo>
                <a:cubicBezTo>
                  <a:pt x="0" y="46627"/>
                  <a:pt x="46627" y="0"/>
                  <a:pt x="104058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52637" y="1254467"/>
          <a:ext cx="11489615" cy="3130380"/>
        </p:xfrm>
        <a:graphic>
          <a:graphicData uri="http://schemas.openxmlformats.org/drawingml/2006/table">
            <a:tbl>
              <a:tblPr/>
              <a:tblGrid>
                <a:gridCol w="252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820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延寿技术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>
                        <a:lumMod val="50000"/>
                        <a:lumOff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优化点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>
                        <a:lumMod val="50000"/>
                        <a:lumOff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测试需求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>
                        <a:lumMod val="50000"/>
                        <a:lumOff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效果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>
                        <a:lumMod val="50000"/>
                        <a:lumOff val="5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电化学充电边界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不同SOC、倍率、温度下的负极电势Vmin、Vmax优化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负极电势曲线、DCR数据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贝叶斯充电策略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充电map优化,SEI膜增长速率、温度走廊、SOC模糊化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SEI生长动力学、温度系数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日历寿命优化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长静置SOC优化,区分容量优先vs功率优先模式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不同SOC、温度下的静置DCR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析锂边界控制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三电极测量,无析锂边界图,MCC多级恒流快充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实时电流边界、ACR数据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脉冲充电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CC段电流脉冲频率、占空比、充电电流三因子正交实验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EIS虚部阻抗为0点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预紧力延寿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~0.2MPa外部压力,抑制活性材料脱落,改善接触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不同SOC、预紧力、温度下的DCR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CCPC充电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充电末端用脉冲充电代替恒压,双极性脉冲抽取锂离子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末端极化电压监测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小电流修复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定圈数/周期保养,小电流消极化,修复析锂和SEI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容量恢复测试、DCR监测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4057" marR="104057" marT="69371" marB="693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9747" y="4529366"/>
            <a:ext cx="5676882" cy="2118716"/>
          </a:xfrm>
          <a:custGeom>
            <a:avLst/>
            <a:gdLst/>
            <a:ahLst/>
            <a:cxnLst/>
            <a:rect l="l" t="t" r="r" b="b"/>
            <a:pathLst>
              <a:path w="5676882" h="2329718">
                <a:moveTo>
                  <a:pt x="104069" y="0"/>
                </a:moveTo>
                <a:lnTo>
                  <a:pt x="5572813" y="0"/>
                </a:lnTo>
                <a:cubicBezTo>
                  <a:pt x="5630289" y="0"/>
                  <a:pt x="5676882" y="46593"/>
                  <a:pt x="5676882" y="104069"/>
                </a:cubicBezTo>
                <a:lnTo>
                  <a:pt x="5676882" y="2225650"/>
                </a:lnTo>
                <a:cubicBezTo>
                  <a:pt x="5676882" y="2283125"/>
                  <a:pt x="5630289" y="2329718"/>
                  <a:pt x="5572813" y="2329718"/>
                </a:cubicBezTo>
                <a:lnTo>
                  <a:pt x="104069" y="2329718"/>
                </a:lnTo>
                <a:cubicBezTo>
                  <a:pt x="46593" y="2329718"/>
                  <a:pt x="0" y="2283125"/>
                  <a:pt x="0" y="2225650"/>
                </a:cubicBezTo>
                <a:lnTo>
                  <a:pt x="0" y="104069"/>
                </a:lnTo>
                <a:cubicBezTo>
                  <a:pt x="0" y="46632"/>
                  <a:pt x="46632" y="0"/>
                  <a:pt x="104069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3D8B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Shape 5"/>
          <p:cNvSpPr/>
          <p:nvPr/>
        </p:nvSpPr>
        <p:spPr>
          <a:xfrm>
            <a:off x="526065" y="4705687"/>
            <a:ext cx="104057" cy="138743"/>
          </a:xfrm>
          <a:custGeom>
            <a:avLst/>
            <a:gdLst/>
            <a:ahLst/>
            <a:cxnLst/>
            <a:rect l="l" t="t" r="r" b="b"/>
            <a:pathLst>
              <a:path w="104057" h="138743">
                <a:moveTo>
                  <a:pt x="17343" y="0"/>
                </a:moveTo>
                <a:cubicBezTo>
                  <a:pt x="7777" y="0"/>
                  <a:pt x="0" y="7777"/>
                  <a:pt x="0" y="17343"/>
                </a:cubicBezTo>
                <a:lnTo>
                  <a:pt x="0" y="121400"/>
                </a:lnTo>
                <a:cubicBezTo>
                  <a:pt x="0" y="130965"/>
                  <a:pt x="7777" y="138743"/>
                  <a:pt x="17343" y="138743"/>
                </a:cubicBezTo>
                <a:lnTo>
                  <a:pt x="86714" y="138743"/>
                </a:lnTo>
                <a:cubicBezTo>
                  <a:pt x="96280" y="138743"/>
                  <a:pt x="104057" y="130965"/>
                  <a:pt x="104057" y="121400"/>
                </a:cubicBezTo>
                <a:lnTo>
                  <a:pt x="104057" y="17343"/>
                </a:lnTo>
                <a:cubicBezTo>
                  <a:pt x="104057" y="7777"/>
                  <a:pt x="96280" y="0"/>
                  <a:pt x="86714" y="0"/>
                </a:cubicBezTo>
                <a:lnTo>
                  <a:pt x="17343" y="0"/>
                </a:lnTo>
                <a:close/>
                <a:moveTo>
                  <a:pt x="26014" y="17343"/>
                </a:moveTo>
                <a:lnTo>
                  <a:pt x="78043" y="17343"/>
                </a:lnTo>
                <a:cubicBezTo>
                  <a:pt x="82839" y="17343"/>
                  <a:pt x="86714" y="21218"/>
                  <a:pt x="86714" y="26014"/>
                </a:cubicBezTo>
                <a:lnTo>
                  <a:pt x="86714" y="34686"/>
                </a:lnTo>
                <a:cubicBezTo>
                  <a:pt x="86714" y="39482"/>
                  <a:pt x="82839" y="43357"/>
                  <a:pt x="78043" y="43357"/>
                </a:cubicBezTo>
                <a:lnTo>
                  <a:pt x="26014" y="43357"/>
                </a:lnTo>
                <a:cubicBezTo>
                  <a:pt x="21218" y="43357"/>
                  <a:pt x="17343" y="39482"/>
                  <a:pt x="17343" y="34686"/>
                </a:cubicBezTo>
                <a:lnTo>
                  <a:pt x="17343" y="26014"/>
                </a:lnTo>
                <a:cubicBezTo>
                  <a:pt x="17343" y="21218"/>
                  <a:pt x="21218" y="17343"/>
                  <a:pt x="26014" y="17343"/>
                </a:cubicBezTo>
                <a:close/>
                <a:moveTo>
                  <a:pt x="30350" y="62868"/>
                </a:moveTo>
                <a:cubicBezTo>
                  <a:pt x="30350" y="66457"/>
                  <a:pt x="27436" y="69371"/>
                  <a:pt x="23846" y="69371"/>
                </a:cubicBezTo>
                <a:cubicBezTo>
                  <a:pt x="20257" y="69371"/>
                  <a:pt x="17343" y="66457"/>
                  <a:pt x="17343" y="62868"/>
                </a:cubicBezTo>
                <a:cubicBezTo>
                  <a:pt x="17343" y="59278"/>
                  <a:pt x="20257" y="56364"/>
                  <a:pt x="23846" y="56364"/>
                </a:cubicBezTo>
                <a:cubicBezTo>
                  <a:pt x="27436" y="56364"/>
                  <a:pt x="30350" y="59278"/>
                  <a:pt x="30350" y="62868"/>
                </a:cubicBezTo>
                <a:close/>
                <a:moveTo>
                  <a:pt x="52028" y="69371"/>
                </a:moveTo>
                <a:cubicBezTo>
                  <a:pt x="48439" y="69371"/>
                  <a:pt x="45525" y="66457"/>
                  <a:pt x="45525" y="62868"/>
                </a:cubicBezTo>
                <a:cubicBezTo>
                  <a:pt x="45525" y="59278"/>
                  <a:pt x="48439" y="56364"/>
                  <a:pt x="52028" y="56364"/>
                </a:cubicBezTo>
                <a:cubicBezTo>
                  <a:pt x="55618" y="56364"/>
                  <a:pt x="58532" y="59278"/>
                  <a:pt x="58532" y="62868"/>
                </a:cubicBezTo>
                <a:cubicBezTo>
                  <a:pt x="58532" y="66457"/>
                  <a:pt x="55618" y="69371"/>
                  <a:pt x="52028" y="69371"/>
                </a:cubicBezTo>
                <a:close/>
                <a:moveTo>
                  <a:pt x="86714" y="62868"/>
                </a:moveTo>
                <a:cubicBezTo>
                  <a:pt x="86714" y="66457"/>
                  <a:pt x="83800" y="69371"/>
                  <a:pt x="80211" y="69371"/>
                </a:cubicBezTo>
                <a:cubicBezTo>
                  <a:pt x="76621" y="69371"/>
                  <a:pt x="73707" y="66457"/>
                  <a:pt x="73707" y="62868"/>
                </a:cubicBezTo>
                <a:cubicBezTo>
                  <a:pt x="73707" y="59278"/>
                  <a:pt x="76621" y="56364"/>
                  <a:pt x="80211" y="56364"/>
                </a:cubicBezTo>
                <a:cubicBezTo>
                  <a:pt x="83800" y="56364"/>
                  <a:pt x="86714" y="59278"/>
                  <a:pt x="86714" y="62868"/>
                </a:cubicBezTo>
                <a:close/>
                <a:moveTo>
                  <a:pt x="23846" y="95385"/>
                </a:moveTo>
                <a:cubicBezTo>
                  <a:pt x="20257" y="95385"/>
                  <a:pt x="17343" y="92471"/>
                  <a:pt x="17343" y="88882"/>
                </a:cubicBezTo>
                <a:cubicBezTo>
                  <a:pt x="17343" y="85293"/>
                  <a:pt x="20257" y="82378"/>
                  <a:pt x="23846" y="82378"/>
                </a:cubicBezTo>
                <a:cubicBezTo>
                  <a:pt x="27436" y="82378"/>
                  <a:pt x="30350" y="85293"/>
                  <a:pt x="30350" y="88882"/>
                </a:cubicBezTo>
                <a:cubicBezTo>
                  <a:pt x="30350" y="92471"/>
                  <a:pt x="27436" y="95385"/>
                  <a:pt x="23846" y="95385"/>
                </a:cubicBezTo>
                <a:close/>
                <a:moveTo>
                  <a:pt x="58532" y="88882"/>
                </a:moveTo>
                <a:cubicBezTo>
                  <a:pt x="58532" y="92471"/>
                  <a:pt x="55618" y="95385"/>
                  <a:pt x="52028" y="95385"/>
                </a:cubicBezTo>
                <a:cubicBezTo>
                  <a:pt x="48439" y="95385"/>
                  <a:pt x="45525" y="92471"/>
                  <a:pt x="45525" y="88882"/>
                </a:cubicBezTo>
                <a:cubicBezTo>
                  <a:pt x="45525" y="85293"/>
                  <a:pt x="48439" y="82378"/>
                  <a:pt x="52028" y="82378"/>
                </a:cubicBezTo>
                <a:cubicBezTo>
                  <a:pt x="55618" y="82378"/>
                  <a:pt x="58532" y="85293"/>
                  <a:pt x="58532" y="88882"/>
                </a:cubicBezTo>
                <a:close/>
                <a:moveTo>
                  <a:pt x="80211" y="95385"/>
                </a:moveTo>
                <a:cubicBezTo>
                  <a:pt x="76621" y="95385"/>
                  <a:pt x="73707" y="92471"/>
                  <a:pt x="73707" y="88882"/>
                </a:cubicBezTo>
                <a:cubicBezTo>
                  <a:pt x="73707" y="85293"/>
                  <a:pt x="76621" y="82378"/>
                  <a:pt x="80211" y="82378"/>
                </a:cubicBezTo>
                <a:cubicBezTo>
                  <a:pt x="83800" y="82378"/>
                  <a:pt x="86714" y="85293"/>
                  <a:pt x="86714" y="88882"/>
                </a:cubicBezTo>
                <a:cubicBezTo>
                  <a:pt x="86714" y="92471"/>
                  <a:pt x="83800" y="95385"/>
                  <a:pt x="80211" y="95385"/>
                </a:cubicBezTo>
                <a:close/>
                <a:moveTo>
                  <a:pt x="17343" y="114896"/>
                </a:moveTo>
                <a:cubicBezTo>
                  <a:pt x="17343" y="111292"/>
                  <a:pt x="20242" y="108393"/>
                  <a:pt x="23846" y="108393"/>
                </a:cubicBezTo>
                <a:lnTo>
                  <a:pt x="54196" y="108393"/>
                </a:lnTo>
                <a:cubicBezTo>
                  <a:pt x="57800" y="108393"/>
                  <a:pt x="60700" y="111292"/>
                  <a:pt x="60700" y="114896"/>
                </a:cubicBezTo>
                <a:cubicBezTo>
                  <a:pt x="60700" y="118500"/>
                  <a:pt x="57800" y="121400"/>
                  <a:pt x="54196" y="121400"/>
                </a:cubicBezTo>
                <a:lnTo>
                  <a:pt x="23846" y="121400"/>
                </a:lnTo>
                <a:cubicBezTo>
                  <a:pt x="20242" y="121400"/>
                  <a:pt x="17343" y="118500"/>
                  <a:pt x="17343" y="114896"/>
                </a:cubicBezTo>
                <a:close/>
                <a:moveTo>
                  <a:pt x="80211" y="108393"/>
                </a:moveTo>
                <a:cubicBezTo>
                  <a:pt x="83815" y="108393"/>
                  <a:pt x="86714" y="111292"/>
                  <a:pt x="86714" y="114896"/>
                </a:cubicBezTo>
                <a:cubicBezTo>
                  <a:pt x="86714" y="118500"/>
                  <a:pt x="83815" y="121400"/>
                  <a:pt x="80211" y="121400"/>
                </a:cubicBezTo>
                <a:cubicBezTo>
                  <a:pt x="76606" y="121400"/>
                  <a:pt x="73707" y="118500"/>
                  <a:pt x="73707" y="114896"/>
                </a:cubicBezTo>
                <a:cubicBezTo>
                  <a:pt x="73707" y="111292"/>
                  <a:pt x="76606" y="108393"/>
                  <a:pt x="80211" y="108393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64808" y="4671001"/>
            <a:ext cx="528955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chemeClr val="tx2">
                    <a:lumMod val="50000"/>
                    <a:lumOff val="50000"/>
                  </a:scheme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半物理ODE寿命预测模型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91380" y="4983172"/>
            <a:ext cx="5393616" cy="693713"/>
          </a:xfrm>
          <a:custGeom>
            <a:avLst/>
            <a:gdLst/>
            <a:ahLst/>
            <a:cxnLst/>
            <a:rect l="l" t="t" r="r" b="b"/>
            <a:pathLst>
              <a:path w="5393616" h="693713">
                <a:moveTo>
                  <a:pt x="69371" y="0"/>
                </a:moveTo>
                <a:lnTo>
                  <a:pt x="5324245" y="0"/>
                </a:lnTo>
                <a:cubicBezTo>
                  <a:pt x="5362557" y="0"/>
                  <a:pt x="5393616" y="31059"/>
                  <a:pt x="5393616" y="69371"/>
                </a:cubicBezTo>
                <a:lnTo>
                  <a:pt x="5393616" y="624341"/>
                </a:lnTo>
                <a:cubicBezTo>
                  <a:pt x="5393616" y="662654"/>
                  <a:pt x="5362557" y="693713"/>
                  <a:pt x="5324245" y="693713"/>
                </a:cubicBezTo>
                <a:lnTo>
                  <a:pt x="69371" y="693713"/>
                </a:lnTo>
                <a:cubicBezTo>
                  <a:pt x="31059" y="693713"/>
                  <a:pt x="0" y="662654"/>
                  <a:pt x="0" y="624341"/>
                </a:cubicBezTo>
                <a:lnTo>
                  <a:pt x="0" y="69371"/>
                </a:lnTo>
                <a:cubicBezTo>
                  <a:pt x="0" y="31084"/>
                  <a:pt x="31084" y="0"/>
                  <a:pt x="693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95437" y="5087229"/>
            <a:ext cx="5246202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dQ/dN = -k_base × (1 + f_early(N) + f_dive(N))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5437" y="5295343"/>
            <a:ext cx="5237531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f_early(N) = A_early × exp(-N/τ_early)</a:t>
            </a:r>
            <a:endParaRPr lang="en-US" sz="1600" dirty="0"/>
          </a:p>
        </p:txBody>
      </p:sp>
      <p:sp>
        <p:nvSpPr>
          <p:cNvPr id="6" name="Text 10"/>
          <p:cNvSpPr/>
          <p:nvPr/>
        </p:nvSpPr>
        <p:spPr>
          <a:xfrm>
            <a:off x="595437" y="5434085"/>
            <a:ext cx="5237531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f_dive(N) = S_scale × exp(k_dive × N)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91380" y="5780942"/>
            <a:ext cx="1751624" cy="554970"/>
          </a:xfrm>
          <a:custGeom>
            <a:avLst/>
            <a:gdLst/>
            <a:ahLst/>
            <a:cxnLst/>
            <a:rect l="l" t="t" r="r" b="b"/>
            <a:pathLst>
              <a:path w="1751624" h="554970">
                <a:moveTo>
                  <a:pt x="34686" y="0"/>
                </a:moveTo>
                <a:lnTo>
                  <a:pt x="1716939" y="0"/>
                </a:lnTo>
                <a:cubicBezTo>
                  <a:pt x="1736095" y="0"/>
                  <a:pt x="1751624" y="15529"/>
                  <a:pt x="1751624" y="34686"/>
                </a:cubicBezTo>
                <a:lnTo>
                  <a:pt x="1751624" y="520284"/>
                </a:lnTo>
                <a:cubicBezTo>
                  <a:pt x="1751624" y="539441"/>
                  <a:pt x="1736095" y="554970"/>
                  <a:pt x="1716939" y="554970"/>
                </a:cubicBezTo>
                <a:lnTo>
                  <a:pt x="34686" y="554970"/>
                </a:lnTo>
                <a:cubicBezTo>
                  <a:pt x="15529" y="554970"/>
                  <a:pt x="0" y="539441"/>
                  <a:pt x="0" y="520284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34737" y="5850313"/>
            <a:ext cx="1664910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A_early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1730" y="6023741"/>
            <a:ext cx="1690925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chemeClr val="tx2">
                    <a:lumMod val="50000"/>
                    <a:lumOff val="50000"/>
                  </a:scheme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1.5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311653" y="5780942"/>
            <a:ext cx="1751624" cy="554970"/>
          </a:xfrm>
          <a:custGeom>
            <a:avLst/>
            <a:gdLst/>
            <a:ahLst/>
            <a:cxnLst/>
            <a:rect l="l" t="t" r="r" b="b"/>
            <a:pathLst>
              <a:path w="1751624" h="554970">
                <a:moveTo>
                  <a:pt x="34686" y="0"/>
                </a:moveTo>
                <a:lnTo>
                  <a:pt x="1716939" y="0"/>
                </a:lnTo>
                <a:cubicBezTo>
                  <a:pt x="1736095" y="0"/>
                  <a:pt x="1751624" y="15529"/>
                  <a:pt x="1751624" y="34686"/>
                </a:cubicBezTo>
                <a:lnTo>
                  <a:pt x="1751624" y="520284"/>
                </a:lnTo>
                <a:cubicBezTo>
                  <a:pt x="1751624" y="539441"/>
                  <a:pt x="1736095" y="554970"/>
                  <a:pt x="1716939" y="554970"/>
                </a:cubicBezTo>
                <a:lnTo>
                  <a:pt x="34686" y="554970"/>
                </a:lnTo>
                <a:cubicBezTo>
                  <a:pt x="15529" y="554970"/>
                  <a:pt x="0" y="539441"/>
                  <a:pt x="0" y="520284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2355010" y="5850313"/>
            <a:ext cx="1664910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τ_early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342003" y="6023741"/>
            <a:ext cx="1690925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chemeClr val="tx2">
                    <a:lumMod val="50000"/>
                    <a:lumOff val="50000"/>
                  </a:schemeClr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250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32017" y="5780942"/>
            <a:ext cx="1751624" cy="554970"/>
          </a:xfrm>
          <a:custGeom>
            <a:avLst/>
            <a:gdLst/>
            <a:ahLst/>
            <a:cxnLst/>
            <a:rect l="l" t="t" r="r" b="b"/>
            <a:pathLst>
              <a:path w="1751624" h="554970">
                <a:moveTo>
                  <a:pt x="34686" y="0"/>
                </a:moveTo>
                <a:lnTo>
                  <a:pt x="1716939" y="0"/>
                </a:lnTo>
                <a:cubicBezTo>
                  <a:pt x="1736095" y="0"/>
                  <a:pt x="1751624" y="15529"/>
                  <a:pt x="1751624" y="34686"/>
                </a:cubicBezTo>
                <a:lnTo>
                  <a:pt x="1751624" y="520284"/>
                </a:lnTo>
                <a:cubicBezTo>
                  <a:pt x="1751624" y="539441"/>
                  <a:pt x="1736095" y="554970"/>
                  <a:pt x="1716939" y="554970"/>
                </a:cubicBezTo>
                <a:lnTo>
                  <a:pt x="34686" y="554970"/>
                </a:lnTo>
                <a:cubicBezTo>
                  <a:pt x="15529" y="554970"/>
                  <a:pt x="0" y="539441"/>
                  <a:pt x="0" y="520284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175374" y="5850313"/>
            <a:ext cx="1664910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预测精度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162366" y="6023741"/>
            <a:ext cx="1690925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C9A86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±5%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69165" y="4529366"/>
            <a:ext cx="5676882" cy="2118716"/>
          </a:xfrm>
          <a:custGeom>
            <a:avLst/>
            <a:gdLst/>
            <a:ahLst/>
            <a:cxnLst/>
            <a:rect l="l" t="t" r="r" b="b"/>
            <a:pathLst>
              <a:path w="5676882" h="2329718">
                <a:moveTo>
                  <a:pt x="104069" y="0"/>
                </a:moveTo>
                <a:lnTo>
                  <a:pt x="5572813" y="0"/>
                </a:lnTo>
                <a:cubicBezTo>
                  <a:pt x="5630289" y="0"/>
                  <a:pt x="5676882" y="46593"/>
                  <a:pt x="5676882" y="104069"/>
                </a:cubicBezTo>
                <a:lnTo>
                  <a:pt x="5676882" y="2225650"/>
                </a:lnTo>
                <a:cubicBezTo>
                  <a:pt x="5676882" y="2283125"/>
                  <a:pt x="5630289" y="2329718"/>
                  <a:pt x="5572813" y="2329718"/>
                </a:cubicBezTo>
                <a:lnTo>
                  <a:pt x="104069" y="2329718"/>
                </a:lnTo>
                <a:cubicBezTo>
                  <a:pt x="46593" y="2329718"/>
                  <a:pt x="0" y="2283125"/>
                  <a:pt x="0" y="2225650"/>
                </a:cubicBezTo>
                <a:lnTo>
                  <a:pt x="0" y="104069"/>
                </a:lnTo>
                <a:cubicBezTo>
                  <a:pt x="0" y="46632"/>
                  <a:pt x="46632" y="0"/>
                  <a:pt x="104069" y="0"/>
                </a:cubicBezTo>
                <a:close/>
              </a:path>
            </a:pathLst>
          </a:custGeom>
          <a:solidFill>
            <a:srgbClr val="252A30"/>
          </a:solidFill>
          <a:ln w="8467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6328141" y="4705687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8671" y="8671"/>
                </a:moveTo>
                <a:cubicBezTo>
                  <a:pt x="13468" y="8671"/>
                  <a:pt x="17343" y="12546"/>
                  <a:pt x="17343" y="17343"/>
                </a:cubicBezTo>
                <a:lnTo>
                  <a:pt x="17343" y="108393"/>
                </a:lnTo>
                <a:cubicBezTo>
                  <a:pt x="17343" y="110777"/>
                  <a:pt x="19294" y="112728"/>
                  <a:pt x="21679" y="112728"/>
                </a:cubicBezTo>
                <a:lnTo>
                  <a:pt x="130071" y="112728"/>
                </a:lnTo>
                <a:cubicBezTo>
                  <a:pt x="134867" y="112728"/>
                  <a:pt x="138743" y="116603"/>
                  <a:pt x="138743" y="121400"/>
                </a:cubicBezTo>
                <a:cubicBezTo>
                  <a:pt x="138743" y="126196"/>
                  <a:pt x="134867" y="130071"/>
                  <a:pt x="130071" y="130071"/>
                </a:cubicBezTo>
                <a:lnTo>
                  <a:pt x="21679" y="130071"/>
                </a:lnTo>
                <a:cubicBezTo>
                  <a:pt x="9701" y="130071"/>
                  <a:pt x="0" y="120370"/>
                  <a:pt x="0" y="108393"/>
                </a:cubicBezTo>
                <a:lnTo>
                  <a:pt x="0" y="17343"/>
                </a:lnTo>
                <a:cubicBezTo>
                  <a:pt x="0" y="12546"/>
                  <a:pt x="3875" y="8671"/>
                  <a:pt x="8671" y="8671"/>
                </a:cubicBezTo>
                <a:close/>
                <a:moveTo>
                  <a:pt x="34686" y="26014"/>
                </a:moveTo>
                <a:cubicBezTo>
                  <a:pt x="34686" y="21218"/>
                  <a:pt x="38561" y="17343"/>
                  <a:pt x="43357" y="17343"/>
                </a:cubicBezTo>
                <a:lnTo>
                  <a:pt x="95385" y="17343"/>
                </a:lnTo>
                <a:cubicBezTo>
                  <a:pt x="100182" y="17343"/>
                  <a:pt x="104057" y="21218"/>
                  <a:pt x="104057" y="26014"/>
                </a:cubicBezTo>
                <a:cubicBezTo>
                  <a:pt x="104057" y="30811"/>
                  <a:pt x="100182" y="34686"/>
                  <a:pt x="95385" y="34686"/>
                </a:cubicBezTo>
                <a:lnTo>
                  <a:pt x="43357" y="34686"/>
                </a:lnTo>
                <a:cubicBezTo>
                  <a:pt x="38561" y="34686"/>
                  <a:pt x="34686" y="30811"/>
                  <a:pt x="34686" y="26014"/>
                </a:cubicBezTo>
                <a:close/>
                <a:moveTo>
                  <a:pt x="43357" y="47693"/>
                </a:moveTo>
                <a:lnTo>
                  <a:pt x="78043" y="47693"/>
                </a:lnTo>
                <a:cubicBezTo>
                  <a:pt x="82839" y="47693"/>
                  <a:pt x="86714" y="51568"/>
                  <a:pt x="86714" y="56364"/>
                </a:cubicBezTo>
                <a:cubicBezTo>
                  <a:pt x="86714" y="61161"/>
                  <a:pt x="82839" y="65036"/>
                  <a:pt x="78043" y="65036"/>
                </a:cubicBezTo>
                <a:lnTo>
                  <a:pt x="43357" y="65036"/>
                </a:lnTo>
                <a:cubicBezTo>
                  <a:pt x="38561" y="65036"/>
                  <a:pt x="34686" y="61161"/>
                  <a:pt x="34686" y="56364"/>
                </a:cubicBezTo>
                <a:cubicBezTo>
                  <a:pt x="34686" y="51568"/>
                  <a:pt x="38561" y="47693"/>
                  <a:pt x="43357" y="47693"/>
                </a:cubicBezTo>
                <a:close/>
                <a:moveTo>
                  <a:pt x="43357" y="78043"/>
                </a:moveTo>
                <a:lnTo>
                  <a:pt x="112728" y="78043"/>
                </a:lnTo>
                <a:cubicBezTo>
                  <a:pt x="117525" y="78043"/>
                  <a:pt x="121400" y="81918"/>
                  <a:pt x="121400" y="86714"/>
                </a:cubicBezTo>
                <a:cubicBezTo>
                  <a:pt x="121400" y="91510"/>
                  <a:pt x="117525" y="95385"/>
                  <a:pt x="112728" y="95385"/>
                </a:cubicBezTo>
                <a:lnTo>
                  <a:pt x="43357" y="95385"/>
                </a:lnTo>
                <a:cubicBezTo>
                  <a:pt x="38561" y="95385"/>
                  <a:pt x="34686" y="91510"/>
                  <a:pt x="34686" y="86714"/>
                </a:cubicBezTo>
                <a:cubicBezTo>
                  <a:pt x="34686" y="81918"/>
                  <a:pt x="38561" y="78043"/>
                  <a:pt x="43357" y="78043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6484227" y="4671001"/>
            <a:ext cx="528955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C9A86A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延寿效果统计</a:t>
            </a:r>
            <a:endParaRPr lang="en-US" sz="16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BE2ED20-076E-B29D-2885-2DE2FDED41B1}"/>
              </a:ext>
            </a:extLst>
          </p:cNvPr>
          <p:cNvGrpSpPr/>
          <p:nvPr/>
        </p:nvGrpSpPr>
        <p:grpSpPr>
          <a:xfrm>
            <a:off x="6310798" y="4983172"/>
            <a:ext cx="5403461" cy="1527972"/>
            <a:chOff x="6310798" y="4983172"/>
            <a:chExt cx="5403461" cy="1734282"/>
          </a:xfrm>
        </p:grpSpPr>
        <p:sp>
          <p:nvSpPr>
            <p:cNvPr id="26" name="Shape 23"/>
            <p:cNvSpPr/>
            <p:nvPr/>
          </p:nvSpPr>
          <p:spPr>
            <a:xfrm>
              <a:off x="6310798" y="4983172"/>
              <a:ext cx="5393616" cy="381542"/>
            </a:xfrm>
            <a:custGeom>
              <a:avLst/>
              <a:gdLst/>
              <a:ahLst/>
              <a:cxnLst/>
              <a:rect l="l" t="t" r="r" b="b"/>
              <a:pathLst>
                <a:path w="5393616" h="381542">
                  <a:moveTo>
                    <a:pt x="69372" y="0"/>
                  </a:moveTo>
                  <a:lnTo>
                    <a:pt x="5324244" y="0"/>
                  </a:lnTo>
                  <a:cubicBezTo>
                    <a:pt x="5362557" y="0"/>
                    <a:pt x="5393616" y="31059"/>
                    <a:pt x="5393616" y="69372"/>
                  </a:cubicBezTo>
                  <a:lnTo>
                    <a:pt x="5393616" y="312170"/>
                  </a:lnTo>
                  <a:cubicBezTo>
                    <a:pt x="5393616" y="350483"/>
                    <a:pt x="5362557" y="381542"/>
                    <a:pt x="5324244" y="381542"/>
                  </a:cubicBezTo>
                  <a:lnTo>
                    <a:pt x="69372" y="381542"/>
                  </a:lnTo>
                  <a:cubicBezTo>
                    <a:pt x="31059" y="381542"/>
                    <a:pt x="0" y="350483"/>
                    <a:pt x="0" y="312170"/>
                  </a:cubicBezTo>
                  <a:lnTo>
                    <a:pt x="0" y="69372"/>
                  </a:lnTo>
                  <a:cubicBezTo>
                    <a:pt x="0" y="31059"/>
                    <a:pt x="31059" y="0"/>
                    <a:pt x="69372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4"/>
            <p:cNvSpPr/>
            <p:nvPr/>
          </p:nvSpPr>
          <p:spPr>
            <a:xfrm>
              <a:off x="6380170" y="5087229"/>
              <a:ext cx="789098" cy="173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6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循环寿命延长</a:t>
              </a:r>
              <a:endParaRPr lang="en-US" sz="16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11124194" y="5052543"/>
              <a:ext cx="584827" cy="242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29" b="1" dirty="0">
                  <a:solidFill>
                    <a:srgbClr val="3D8B75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15-30%</a:t>
              </a:r>
              <a:endParaRPr lang="en-US" sz="16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6310798" y="5434085"/>
              <a:ext cx="5393616" cy="381542"/>
            </a:xfrm>
            <a:custGeom>
              <a:avLst/>
              <a:gdLst/>
              <a:ahLst/>
              <a:cxnLst/>
              <a:rect l="l" t="t" r="r" b="b"/>
              <a:pathLst>
                <a:path w="5393616" h="381542">
                  <a:moveTo>
                    <a:pt x="69372" y="0"/>
                  </a:moveTo>
                  <a:lnTo>
                    <a:pt x="5324244" y="0"/>
                  </a:lnTo>
                  <a:cubicBezTo>
                    <a:pt x="5362557" y="0"/>
                    <a:pt x="5393616" y="31059"/>
                    <a:pt x="5393616" y="69372"/>
                  </a:cubicBezTo>
                  <a:lnTo>
                    <a:pt x="5393616" y="312170"/>
                  </a:lnTo>
                  <a:cubicBezTo>
                    <a:pt x="5393616" y="350483"/>
                    <a:pt x="5362557" y="381542"/>
                    <a:pt x="5324244" y="381542"/>
                  </a:cubicBezTo>
                  <a:lnTo>
                    <a:pt x="69372" y="381542"/>
                  </a:lnTo>
                  <a:cubicBezTo>
                    <a:pt x="31059" y="381542"/>
                    <a:pt x="0" y="350483"/>
                    <a:pt x="0" y="312170"/>
                  </a:cubicBezTo>
                  <a:lnTo>
                    <a:pt x="0" y="69372"/>
                  </a:lnTo>
                  <a:cubicBezTo>
                    <a:pt x="0" y="31059"/>
                    <a:pt x="31059" y="0"/>
                    <a:pt x="69372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7"/>
            <p:cNvSpPr/>
            <p:nvPr/>
          </p:nvSpPr>
          <p:spPr>
            <a:xfrm>
              <a:off x="6380170" y="5538142"/>
              <a:ext cx="789098" cy="173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6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充电时间减少</a:t>
              </a:r>
              <a:endParaRPr lang="en-US" sz="16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11199918" y="5503457"/>
              <a:ext cx="511724" cy="242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29" b="1" dirty="0">
                  <a:solidFill>
                    <a:srgbClr val="3D8B75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7.58%</a:t>
              </a:r>
              <a:endParaRPr lang="en-US" sz="16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6310798" y="5884999"/>
              <a:ext cx="5393616" cy="381542"/>
            </a:xfrm>
            <a:custGeom>
              <a:avLst/>
              <a:gdLst/>
              <a:ahLst/>
              <a:cxnLst/>
              <a:rect l="l" t="t" r="r" b="b"/>
              <a:pathLst>
                <a:path w="5393616" h="381542">
                  <a:moveTo>
                    <a:pt x="69372" y="0"/>
                  </a:moveTo>
                  <a:lnTo>
                    <a:pt x="5324244" y="0"/>
                  </a:lnTo>
                  <a:cubicBezTo>
                    <a:pt x="5362557" y="0"/>
                    <a:pt x="5393616" y="31059"/>
                    <a:pt x="5393616" y="69372"/>
                  </a:cubicBezTo>
                  <a:lnTo>
                    <a:pt x="5393616" y="312170"/>
                  </a:lnTo>
                  <a:cubicBezTo>
                    <a:pt x="5393616" y="350483"/>
                    <a:pt x="5362557" y="381542"/>
                    <a:pt x="5324244" y="381542"/>
                  </a:cubicBezTo>
                  <a:lnTo>
                    <a:pt x="69372" y="381542"/>
                  </a:lnTo>
                  <a:cubicBezTo>
                    <a:pt x="31059" y="381542"/>
                    <a:pt x="0" y="350483"/>
                    <a:pt x="0" y="312170"/>
                  </a:cubicBezTo>
                  <a:lnTo>
                    <a:pt x="0" y="69372"/>
                  </a:lnTo>
                  <a:cubicBezTo>
                    <a:pt x="0" y="31059"/>
                    <a:pt x="31059" y="0"/>
                    <a:pt x="69372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30"/>
            <p:cNvSpPr/>
            <p:nvPr/>
          </p:nvSpPr>
          <p:spPr>
            <a:xfrm>
              <a:off x="6380170" y="5989055"/>
              <a:ext cx="910498" cy="173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6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容量保持率提升</a:t>
              </a:r>
              <a:endParaRPr lang="en-US" sz="16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11188118" y="5954370"/>
              <a:ext cx="522167" cy="242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29" b="1" dirty="0">
                  <a:solidFill>
                    <a:srgbClr val="C9A86A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2.88%</a:t>
              </a:r>
              <a:endParaRPr lang="en-US" sz="16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6310798" y="6335912"/>
              <a:ext cx="5393616" cy="381542"/>
            </a:xfrm>
            <a:custGeom>
              <a:avLst/>
              <a:gdLst/>
              <a:ahLst/>
              <a:cxnLst/>
              <a:rect l="l" t="t" r="r" b="b"/>
              <a:pathLst>
                <a:path w="5393616" h="381542">
                  <a:moveTo>
                    <a:pt x="69372" y="0"/>
                  </a:moveTo>
                  <a:lnTo>
                    <a:pt x="5324244" y="0"/>
                  </a:lnTo>
                  <a:cubicBezTo>
                    <a:pt x="5362557" y="0"/>
                    <a:pt x="5393616" y="31059"/>
                    <a:pt x="5393616" y="69372"/>
                  </a:cubicBezTo>
                  <a:lnTo>
                    <a:pt x="5393616" y="312170"/>
                  </a:lnTo>
                  <a:cubicBezTo>
                    <a:pt x="5393616" y="350483"/>
                    <a:pt x="5362557" y="381542"/>
                    <a:pt x="5324244" y="381542"/>
                  </a:cubicBezTo>
                  <a:lnTo>
                    <a:pt x="69372" y="381542"/>
                  </a:lnTo>
                  <a:cubicBezTo>
                    <a:pt x="31059" y="381542"/>
                    <a:pt x="0" y="350483"/>
                    <a:pt x="0" y="312170"/>
                  </a:cubicBezTo>
                  <a:lnTo>
                    <a:pt x="0" y="69372"/>
                  </a:lnTo>
                  <a:cubicBezTo>
                    <a:pt x="0" y="31059"/>
                    <a:pt x="31059" y="0"/>
                    <a:pt x="69372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33"/>
            <p:cNvSpPr/>
            <p:nvPr/>
          </p:nvSpPr>
          <p:spPr>
            <a:xfrm>
              <a:off x="6380170" y="6439969"/>
              <a:ext cx="554970" cy="173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56" dirty="0">
                  <a:solidFill>
                    <a:srgbClr val="E0E2E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DCR降低</a:t>
              </a:r>
              <a:endParaRPr lang="en-US" sz="16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11223422" y="6405283"/>
              <a:ext cx="490837" cy="242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29" b="1" dirty="0">
                  <a:solidFill>
                    <a:srgbClr val="C9A86A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41.3%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9848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914" y="317914"/>
            <a:ext cx="1843901" cy="254331"/>
          </a:xfrm>
          <a:custGeom>
            <a:avLst/>
            <a:gdLst/>
            <a:ahLst/>
            <a:cxnLst/>
            <a:rect l="l" t="t" r="r" b="b"/>
            <a:pathLst>
              <a:path w="1843901" h="254331">
                <a:moveTo>
                  <a:pt x="31791" y="0"/>
                </a:moveTo>
                <a:lnTo>
                  <a:pt x="1812110" y="0"/>
                </a:lnTo>
                <a:cubicBezTo>
                  <a:pt x="1829667" y="0"/>
                  <a:pt x="1843901" y="14233"/>
                  <a:pt x="1843901" y="31791"/>
                </a:cubicBezTo>
                <a:lnTo>
                  <a:pt x="1843901" y="222540"/>
                </a:lnTo>
                <a:cubicBezTo>
                  <a:pt x="1843901" y="240098"/>
                  <a:pt x="1829667" y="254331"/>
                  <a:pt x="1812110" y="254331"/>
                </a:cubicBezTo>
                <a:lnTo>
                  <a:pt x="31791" y="254331"/>
                </a:lnTo>
                <a:cubicBezTo>
                  <a:pt x="14233" y="254331"/>
                  <a:pt x="0" y="240098"/>
                  <a:pt x="0" y="222540"/>
                </a:cubicBezTo>
                <a:lnTo>
                  <a:pt x="0" y="31791"/>
                </a:lnTo>
                <a:cubicBezTo>
                  <a:pt x="0" y="14245"/>
                  <a:pt x="14245" y="0"/>
                  <a:pt x="31791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3288" y="394214"/>
            <a:ext cx="1699747" cy="13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kern="0" spc="38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CLOUD-EDGE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914" y="635828"/>
            <a:ext cx="11699233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3" b="1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云边协同架构：算力的艺术分配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914" y="1049116"/>
            <a:ext cx="635828" cy="31791"/>
          </a:xfrm>
          <a:custGeom>
            <a:avLst/>
            <a:gdLst/>
            <a:ahLst/>
            <a:cxnLst/>
            <a:rect l="l" t="t" r="r" b="b"/>
            <a:pathLst>
              <a:path w="635828" h="31791">
                <a:moveTo>
                  <a:pt x="0" y="0"/>
                </a:moveTo>
                <a:lnTo>
                  <a:pt x="635828" y="0"/>
                </a:lnTo>
                <a:lnTo>
                  <a:pt x="635828" y="31791"/>
                </a:lnTo>
                <a:lnTo>
                  <a:pt x="0" y="317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21093" y="4074074"/>
            <a:ext cx="5697018" cy="2358922"/>
          </a:xfrm>
          <a:custGeom>
            <a:avLst/>
            <a:gdLst/>
            <a:ahLst/>
            <a:cxnLst/>
            <a:rect l="l" t="t" r="r" b="b"/>
            <a:pathLst>
              <a:path w="5697018" h="2001268">
                <a:moveTo>
                  <a:pt x="95380" y="0"/>
                </a:moveTo>
                <a:lnTo>
                  <a:pt x="5601638" y="0"/>
                </a:lnTo>
                <a:cubicBezTo>
                  <a:pt x="5654315" y="0"/>
                  <a:pt x="5697018" y="42703"/>
                  <a:pt x="5697018" y="95380"/>
                </a:cubicBezTo>
                <a:lnTo>
                  <a:pt x="5697018" y="1905888"/>
                </a:lnTo>
                <a:cubicBezTo>
                  <a:pt x="5697018" y="1958565"/>
                  <a:pt x="5654315" y="2001268"/>
                  <a:pt x="5601638" y="2001268"/>
                </a:cubicBezTo>
                <a:lnTo>
                  <a:pt x="95380" y="2001268"/>
                </a:lnTo>
                <a:cubicBezTo>
                  <a:pt x="42703" y="2001268"/>
                  <a:pt x="0" y="1958565"/>
                  <a:pt x="0" y="1905888"/>
                </a:cubicBezTo>
                <a:lnTo>
                  <a:pt x="0" y="95380"/>
                </a:lnTo>
                <a:cubicBezTo>
                  <a:pt x="0" y="42739"/>
                  <a:pt x="42739" y="0"/>
                  <a:pt x="95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81814" y="4262435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63583" y="0"/>
                </a:moveTo>
                <a:lnTo>
                  <a:pt x="254331" y="0"/>
                </a:lnTo>
                <a:cubicBezTo>
                  <a:pt x="289447" y="0"/>
                  <a:pt x="317914" y="28467"/>
                  <a:pt x="317914" y="63583"/>
                </a:cubicBezTo>
                <a:lnTo>
                  <a:pt x="317914" y="254331"/>
                </a:lnTo>
                <a:cubicBezTo>
                  <a:pt x="317914" y="289447"/>
                  <a:pt x="289447" y="317914"/>
                  <a:pt x="254331" y="317914"/>
                </a:cubicBezTo>
                <a:lnTo>
                  <a:pt x="63583" y="317914"/>
                </a:lnTo>
                <a:cubicBezTo>
                  <a:pt x="28467" y="317914"/>
                  <a:pt x="0" y="289447"/>
                  <a:pt x="0" y="254331"/>
                </a:cubicBezTo>
                <a:lnTo>
                  <a:pt x="0" y="63583"/>
                </a:lnTo>
                <a:cubicBezTo>
                  <a:pt x="0" y="28490"/>
                  <a:pt x="28490" y="0"/>
                  <a:pt x="6358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69241" y="4357809"/>
            <a:ext cx="143061" cy="127166"/>
          </a:xfrm>
          <a:custGeom>
            <a:avLst/>
            <a:gdLst/>
            <a:ahLst/>
            <a:cxnLst/>
            <a:rect l="l" t="t" r="r" b="b"/>
            <a:pathLst>
              <a:path w="143061" h="127166">
                <a:moveTo>
                  <a:pt x="0" y="83452"/>
                </a:moveTo>
                <a:cubicBezTo>
                  <a:pt x="0" y="103198"/>
                  <a:pt x="16020" y="119218"/>
                  <a:pt x="35765" y="119218"/>
                </a:cubicBezTo>
                <a:lnTo>
                  <a:pt x="111270" y="119218"/>
                </a:lnTo>
                <a:cubicBezTo>
                  <a:pt x="128830" y="119218"/>
                  <a:pt x="143061" y="104986"/>
                  <a:pt x="143061" y="87426"/>
                </a:cubicBezTo>
                <a:cubicBezTo>
                  <a:pt x="143061" y="74610"/>
                  <a:pt x="135486" y="63558"/>
                  <a:pt x="124558" y="58541"/>
                </a:cubicBezTo>
                <a:cubicBezTo>
                  <a:pt x="126222" y="55287"/>
                  <a:pt x="127166" y="51587"/>
                  <a:pt x="127166" y="47687"/>
                </a:cubicBezTo>
                <a:cubicBezTo>
                  <a:pt x="127166" y="34523"/>
                  <a:pt x="116486" y="23844"/>
                  <a:pt x="103322" y="23844"/>
                </a:cubicBezTo>
                <a:cubicBezTo>
                  <a:pt x="98926" y="23844"/>
                  <a:pt x="94828" y="25036"/>
                  <a:pt x="91301" y="27097"/>
                </a:cubicBezTo>
                <a:cubicBezTo>
                  <a:pt x="85315" y="15722"/>
                  <a:pt x="73369" y="7948"/>
                  <a:pt x="59609" y="7948"/>
                </a:cubicBezTo>
                <a:cubicBezTo>
                  <a:pt x="39863" y="7948"/>
                  <a:pt x="23844" y="23968"/>
                  <a:pt x="23844" y="43713"/>
                </a:cubicBezTo>
                <a:cubicBezTo>
                  <a:pt x="23844" y="45700"/>
                  <a:pt x="24017" y="47662"/>
                  <a:pt x="24315" y="49550"/>
                </a:cubicBezTo>
                <a:cubicBezTo>
                  <a:pt x="10183" y="54319"/>
                  <a:pt x="0" y="67706"/>
                  <a:pt x="0" y="83452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95102" y="4246640"/>
            <a:ext cx="866316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云端</a:t>
            </a:r>
            <a:r>
              <a:rPr lang="en-US" sz="1126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 Cloud 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5102" y="4469180"/>
            <a:ext cx="842472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大数据深度挖掘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3229" y="4675623"/>
            <a:ext cx="1993619" cy="821665"/>
          </a:xfrm>
          <a:custGeom>
            <a:avLst/>
            <a:gdLst/>
            <a:ahLst/>
            <a:cxnLst/>
            <a:rect l="l" t="t" r="r" b="b"/>
            <a:pathLst>
              <a:path w="5372746" h="572245">
                <a:moveTo>
                  <a:pt x="63582" y="0"/>
                </a:moveTo>
                <a:lnTo>
                  <a:pt x="5309164" y="0"/>
                </a:lnTo>
                <a:cubicBezTo>
                  <a:pt x="5344279" y="0"/>
                  <a:pt x="5372746" y="28467"/>
                  <a:pt x="5372746" y="63582"/>
                </a:cubicBezTo>
                <a:lnTo>
                  <a:pt x="5372746" y="508663"/>
                </a:lnTo>
                <a:cubicBezTo>
                  <a:pt x="5372746" y="543778"/>
                  <a:pt x="5344279" y="572245"/>
                  <a:pt x="5309164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Text 29"/>
          <p:cNvSpPr/>
          <p:nvPr/>
        </p:nvSpPr>
        <p:spPr>
          <a:xfrm>
            <a:off x="578603" y="4781784"/>
            <a:ext cx="518677" cy="15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大模型部署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3229" y="5592465"/>
            <a:ext cx="1993619" cy="564297"/>
          </a:xfrm>
          <a:custGeom>
            <a:avLst/>
            <a:gdLst/>
            <a:ahLst/>
            <a:cxnLst/>
            <a:rect l="l" t="t" r="r" b="b"/>
            <a:pathLst>
              <a:path w="5372746" h="564297">
                <a:moveTo>
                  <a:pt x="63585" y="0"/>
                </a:moveTo>
                <a:lnTo>
                  <a:pt x="5309161" y="0"/>
                </a:lnTo>
                <a:cubicBezTo>
                  <a:pt x="5344278" y="0"/>
                  <a:pt x="5372746" y="28468"/>
                  <a:pt x="5372746" y="63585"/>
                </a:cubicBezTo>
                <a:lnTo>
                  <a:pt x="5372746" y="500712"/>
                </a:lnTo>
                <a:cubicBezTo>
                  <a:pt x="5372746" y="535829"/>
                  <a:pt x="5344278" y="564297"/>
                  <a:pt x="5309161" y="564297"/>
                </a:cubicBezTo>
                <a:lnTo>
                  <a:pt x="63585" y="564297"/>
                </a:lnTo>
                <a:cubicBezTo>
                  <a:pt x="28491" y="564297"/>
                  <a:pt x="0" y="535806"/>
                  <a:pt x="0" y="500712"/>
                </a:cubicBezTo>
                <a:lnTo>
                  <a:pt x="0" y="63585"/>
                </a:lnTo>
                <a:cubicBezTo>
                  <a:pt x="0" y="28491"/>
                  <a:pt x="28491" y="0"/>
                  <a:pt x="63585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78603" y="5687839"/>
            <a:ext cx="5229684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核心任务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8603" y="5878486"/>
            <a:ext cx="1583212" cy="21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6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长周期大数据挖掘、模型训练</a:t>
            </a:r>
            <a:endParaRPr lang="en-US" sz="876" dirty="0">
              <a:solidFill>
                <a:srgbClr val="E8EAE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876" dirty="0" err="1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策略迭代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9453" y="1243044"/>
            <a:ext cx="5697018" cy="2704851"/>
          </a:xfrm>
          <a:custGeom>
            <a:avLst/>
            <a:gdLst/>
            <a:ahLst/>
            <a:cxnLst/>
            <a:rect l="l" t="t" r="r" b="b"/>
            <a:pathLst>
              <a:path w="5697018" h="4838650">
                <a:moveTo>
                  <a:pt x="95370" y="0"/>
                </a:moveTo>
                <a:lnTo>
                  <a:pt x="5601648" y="0"/>
                </a:lnTo>
                <a:cubicBezTo>
                  <a:pt x="5654319" y="0"/>
                  <a:pt x="5697018" y="42699"/>
                  <a:pt x="5697018" y="95370"/>
                </a:cubicBezTo>
                <a:lnTo>
                  <a:pt x="5697018" y="4743281"/>
                </a:lnTo>
                <a:cubicBezTo>
                  <a:pt x="5697018" y="4795952"/>
                  <a:pt x="5654319" y="4838650"/>
                  <a:pt x="5601648" y="4838650"/>
                </a:cubicBezTo>
                <a:lnTo>
                  <a:pt x="95370" y="4838650"/>
                </a:lnTo>
                <a:cubicBezTo>
                  <a:pt x="42699" y="4838650"/>
                  <a:pt x="0" y="4795952"/>
                  <a:pt x="0" y="4743281"/>
                </a:cubicBezTo>
                <a:lnTo>
                  <a:pt x="0" y="95370"/>
                </a:lnTo>
                <a:cubicBezTo>
                  <a:pt x="0" y="42734"/>
                  <a:pt x="42734" y="0"/>
                  <a:pt x="9537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361458" y="1444917"/>
            <a:ext cx="143061" cy="143061"/>
          </a:xfrm>
          <a:custGeom>
            <a:avLst/>
            <a:gdLst/>
            <a:ahLst/>
            <a:cxnLst/>
            <a:rect l="l" t="t" r="r" b="b"/>
            <a:pathLst>
              <a:path w="143061" h="143061">
                <a:moveTo>
                  <a:pt x="0" y="22353"/>
                </a:moveTo>
                <a:cubicBezTo>
                  <a:pt x="0" y="14949"/>
                  <a:pt x="6007" y="8941"/>
                  <a:pt x="13412" y="8941"/>
                </a:cubicBezTo>
                <a:lnTo>
                  <a:pt x="40236" y="8941"/>
                </a:lnTo>
                <a:cubicBezTo>
                  <a:pt x="47641" y="8941"/>
                  <a:pt x="53648" y="14949"/>
                  <a:pt x="53648" y="22353"/>
                </a:cubicBezTo>
                <a:lnTo>
                  <a:pt x="53648" y="26824"/>
                </a:lnTo>
                <a:lnTo>
                  <a:pt x="89413" y="26824"/>
                </a:lnTo>
                <a:lnTo>
                  <a:pt x="89413" y="22353"/>
                </a:lnTo>
                <a:cubicBezTo>
                  <a:pt x="89413" y="14949"/>
                  <a:pt x="95421" y="8941"/>
                  <a:pt x="102825" y="8941"/>
                </a:cubicBezTo>
                <a:lnTo>
                  <a:pt x="129649" y="8941"/>
                </a:lnTo>
                <a:cubicBezTo>
                  <a:pt x="137054" y="8941"/>
                  <a:pt x="143061" y="14949"/>
                  <a:pt x="143061" y="22353"/>
                </a:cubicBezTo>
                <a:lnTo>
                  <a:pt x="143061" y="49177"/>
                </a:lnTo>
                <a:cubicBezTo>
                  <a:pt x="143061" y="56582"/>
                  <a:pt x="137054" y="62589"/>
                  <a:pt x="129649" y="62589"/>
                </a:cubicBezTo>
                <a:lnTo>
                  <a:pt x="102825" y="62589"/>
                </a:lnTo>
                <a:cubicBezTo>
                  <a:pt x="95421" y="62589"/>
                  <a:pt x="89413" y="56582"/>
                  <a:pt x="89413" y="49177"/>
                </a:cubicBezTo>
                <a:lnTo>
                  <a:pt x="89413" y="44707"/>
                </a:lnTo>
                <a:lnTo>
                  <a:pt x="53648" y="44707"/>
                </a:lnTo>
                <a:lnTo>
                  <a:pt x="53648" y="49177"/>
                </a:lnTo>
                <a:cubicBezTo>
                  <a:pt x="53648" y="51217"/>
                  <a:pt x="53173" y="53173"/>
                  <a:pt x="52363" y="54905"/>
                </a:cubicBezTo>
                <a:lnTo>
                  <a:pt x="71531" y="80472"/>
                </a:lnTo>
                <a:lnTo>
                  <a:pt x="93884" y="80472"/>
                </a:lnTo>
                <a:cubicBezTo>
                  <a:pt x="101289" y="80472"/>
                  <a:pt x="107296" y="86479"/>
                  <a:pt x="107296" y="93884"/>
                </a:cubicBezTo>
                <a:lnTo>
                  <a:pt x="107296" y="120708"/>
                </a:lnTo>
                <a:cubicBezTo>
                  <a:pt x="107296" y="128112"/>
                  <a:pt x="101289" y="134120"/>
                  <a:pt x="93884" y="134120"/>
                </a:cubicBezTo>
                <a:lnTo>
                  <a:pt x="67060" y="134120"/>
                </a:lnTo>
                <a:cubicBezTo>
                  <a:pt x="59655" y="134120"/>
                  <a:pt x="53648" y="128112"/>
                  <a:pt x="53648" y="120708"/>
                </a:cubicBezTo>
                <a:lnTo>
                  <a:pt x="53648" y="93884"/>
                </a:lnTo>
                <a:cubicBezTo>
                  <a:pt x="53648" y="91844"/>
                  <a:pt x="54123" y="89888"/>
                  <a:pt x="54933" y="88156"/>
                </a:cubicBezTo>
                <a:lnTo>
                  <a:pt x="35765" y="62589"/>
                </a:lnTo>
                <a:lnTo>
                  <a:pt x="13412" y="62589"/>
                </a:lnTo>
                <a:cubicBezTo>
                  <a:pt x="6007" y="62589"/>
                  <a:pt x="0" y="56582"/>
                  <a:pt x="0" y="49177"/>
                </a:cubicBezTo>
                <a:lnTo>
                  <a:pt x="0" y="22353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524389" y="1405178"/>
            <a:ext cx="5261476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26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深度学习架构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179453" y="4074073"/>
            <a:ext cx="5697018" cy="2358922"/>
          </a:xfrm>
          <a:custGeom>
            <a:avLst/>
            <a:gdLst/>
            <a:ahLst/>
            <a:cxnLst/>
            <a:rect l="l" t="t" r="r" b="b"/>
            <a:pathLst>
              <a:path w="5697018" h="2358922">
                <a:moveTo>
                  <a:pt x="95371" y="0"/>
                </a:moveTo>
                <a:lnTo>
                  <a:pt x="5601647" y="0"/>
                </a:lnTo>
                <a:cubicBezTo>
                  <a:pt x="5654319" y="0"/>
                  <a:pt x="5697018" y="42699"/>
                  <a:pt x="5697018" y="95371"/>
                </a:cubicBezTo>
                <a:lnTo>
                  <a:pt x="5697018" y="2263550"/>
                </a:lnTo>
                <a:cubicBezTo>
                  <a:pt x="5697018" y="2316222"/>
                  <a:pt x="5654319" y="2358922"/>
                  <a:pt x="5601647" y="2358922"/>
                </a:cubicBezTo>
                <a:lnTo>
                  <a:pt x="95371" y="2358922"/>
                </a:lnTo>
                <a:cubicBezTo>
                  <a:pt x="42699" y="2358922"/>
                  <a:pt x="0" y="2316222"/>
                  <a:pt x="0" y="2263550"/>
                </a:cubicBezTo>
                <a:lnTo>
                  <a:pt x="0" y="95371"/>
                </a:lnTo>
                <a:cubicBezTo>
                  <a:pt x="0" y="42699"/>
                  <a:pt x="42699" y="0"/>
                  <a:pt x="9537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1"/>
          <p:cNvSpPr/>
          <p:nvPr/>
        </p:nvSpPr>
        <p:spPr>
          <a:xfrm>
            <a:off x="6341589" y="4236207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63583" y="0"/>
                </a:moveTo>
                <a:lnTo>
                  <a:pt x="254331" y="0"/>
                </a:lnTo>
                <a:cubicBezTo>
                  <a:pt x="289447" y="0"/>
                  <a:pt x="317914" y="28467"/>
                  <a:pt x="317914" y="63583"/>
                </a:cubicBezTo>
                <a:lnTo>
                  <a:pt x="317914" y="254331"/>
                </a:lnTo>
                <a:cubicBezTo>
                  <a:pt x="317914" y="289447"/>
                  <a:pt x="289447" y="317914"/>
                  <a:pt x="254331" y="317914"/>
                </a:cubicBezTo>
                <a:lnTo>
                  <a:pt x="63583" y="317914"/>
                </a:lnTo>
                <a:cubicBezTo>
                  <a:pt x="28467" y="317914"/>
                  <a:pt x="0" y="289447"/>
                  <a:pt x="0" y="254331"/>
                </a:cubicBezTo>
                <a:lnTo>
                  <a:pt x="0" y="63583"/>
                </a:lnTo>
                <a:cubicBezTo>
                  <a:pt x="0" y="28490"/>
                  <a:pt x="28490" y="0"/>
                  <a:pt x="63583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2"/>
          <p:cNvSpPr/>
          <p:nvPr/>
        </p:nvSpPr>
        <p:spPr>
          <a:xfrm>
            <a:off x="6436963" y="4331581"/>
            <a:ext cx="127166" cy="127166"/>
          </a:xfrm>
          <a:custGeom>
            <a:avLst/>
            <a:gdLst/>
            <a:ahLst/>
            <a:cxnLst/>
            <a:rect l="l" t="t" r="r" b="b"/>
            <a:pathLst>
              <a:path w="127166" h="127166">
                <a:moveTo>
                  <a:pt x="31791" y="79478"/>
                </a:moveTo>
                <a:lnTo>
                  <a:pt x="6085" y="79478"/>
                </a:lnTo>
                <a:cubicBezTo>
                  <a:pt x="-99" y="79478"/>
                  <a:pt x="-3899" y="72748"/>
                  <a:pt x="-720" y="67433"/>
                </a:cubicBezTo>
                <a:lnTo>
                  <a:pt x="12419" y="45526"/>
                </a:lnTo>
                <a:cubicBezTo>
                  <a:pt x="14579" y="41925"/>
                  <a:pt x="18454" y="39739"/>
                  <a:pt x="22651" y="39739"/>
                </a:cubicBezTo>
                <a:lnTo>
                  <a:pt x="46247" y="39739"/>
                </a:lnTo>
                <a:cubicBezTo>
                  <a:pt x="65148" y="7724"/>
                  <a:pt x="93338" y="6110"/>
                  <a:pt x="112189" y="8867"/>
                </a:cubicBezTo>
                <a:cubicBezTo>
                  <a:pt x="115368" y="9339"/>
                  <a:pt x="117852" y="11822"/>
                  <a:pt x="118299" y="14977"/>
                </a:cubicBezTo>
                <a:cubicBezTo>
                  <a:pt x="121056" y="33828"/>
                  <a:pt x="119441" y="62018"/>
                  <a:pt x="87426" y="80919"/>
                </a:cubicBezTo>
                <a:lnTo>
                  <a:pt x="87426" y="104514"/>
                </a:lnTo>
                <a:cubicBezTo>
                  <a:pt x="87426" y="108712"/>
                  <a:pt x="85241" y="112586"/>
                  <a:pt x="81639" y="114747"/>
                </a:cubicBezTo>
                <a:lnTo>
                  <a:pt x="59733" y="127886"/>
                </a:lnTo>
                <a:cubicBezTo>
                  <a:pt x="54443" y="131065"/>
                  <a:pt x="47687" y="127240"/>
                  <a:pt x="47687" y="121081"/>
                </a:cubicBezTo>
                <a:lnTo>
                  <a:pt x="47687" y="95374"/>
                </a:lnTo>
                <a:cubicBezTo>
                  <a:pt x="47687" y="86607"/>
                  <a:pt x="40559" y="79478"/>
                  <a:pt x="31791" y="79478"/>
                </a:cubicBezTo>
                <a:lnTo>
                  <a:pt x="31767" y="79478"/>
                </a:lnTo>
                <a:close/>
                <a:moveTo>
                  <a:pt x="99348" y="39739"/>
                </a:moveTo>
                <a:cubicBezTo>
                  <a:pt x="99348" y="33159"/>
                  <a:pt x="94006" y="27817"/>
                  <a:pt x="87426" y="27817"/>
                </a:cubicBezTo>
                <a:cubicBezTo>
                  <a:pt x="80847" y="27817"/>
                  <a:pt x="75505" y="33159"/>
                  <a:pt x="75505" y="39739"/>
                </a:cubicBezTo>
                <a:cubicBezTo>
                  <a:pt x="75505" y="46319"/>
                  <a:pt x="80847" y="51661"/>
                  <a:pt x="87426" y="51661"/>
                </a:cubicBezTo>
                <a:cubicBezTo>
                  <a:pt x="94006" y="51661"/>
                  <a:pt x="99348" y="46319"/>
                  <a:pt x="99348" y="39739"/>
                </a:cubicBez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6754877" y="4283894"/>
            <a:ext cx="1072960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模型部署与加速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41589" y="4649495"/>
            <a:ext cx="2638686" cy="786837"/>
          </a:xfrm>
          <a:custGeom>
            <a:avLst/>
            <a:gdLst/>
            <a:ahLst/>
            <a:cxnLst/>
            <a:rect l="l" t="t" r="r" b="b"/>
            <a:pathLst>
              <a:path w="2638686" h="786837">
                <a:moveTo>
                  <a:pt x="63584" y="0"/>
                </a:moveTo>
                <a:lnTo>
                  <a:pt x="2575101" y="0"/>
                </a:lnTo>
                <a:cubicBezTo>
                  <a:pt x="2610218" y="0"/>
                  <a:pt x="2638686" y="28468"/>
                  <a:pt x="2638686" y="63584"/>
                </a:cubicBezTo>
                <a:lnTo>
                  <a:pt x="2638686" y="723253"/>
                </a:lnTo>
                <a:cubicBezTo>
                  <a:pt x="2638686" y="758369"/>
                  <a:pt x="2610218" y="786837"/>
                  <a:pt x="2575101" y="786837"/>
                </a:cubicBezTo>
                <a:lnTo>
                  <a:pt x="63584" y="786837"/>
                </a:lnTo>
                <a:cubicBezTo>
                  <a:pt x="28468" y="786837"/>
                  <a:pt x="0" y="758369"/>
                  <a:pt x="0" y="723253"/>
                </a:cubicBezTo>
                <a:lnTo>
                  <a:pt x="0" y="63584"/>
                </a:lnTo>
                <a:cubicBezTo>
                  <a:pt x="0" y="28491"/>
                  <a:pt x="28491" y="0"/>
                  <a:pt x="6358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6436963" y="4744869"/>
            <a:ext cx="2495625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模型量化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36963" y="4935517"/>
            <a:ext cx="2503572" cy="18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将32位浮点参数压缩为</a:t>
            </a:r>
            <a:r>
              <a:rPr lang="en-US" sz="87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8位整数(INT8)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36963" y="5195809"/>
            <a:ext cx="604037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精度损失&lt;1%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328551" y="5201484"/>
            <a:ext cx="604037" cy="143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b="1" dirty="0" err="1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</a:t>
            </a:r>
            <a:r>
              <a:rPr lang="en-US" sz="87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↑ 3x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073662" y="4649495"/>
            <a:ext cx="2638686" cy="786837"/>
          </a:xfrm>
          <a:custGeom>
            <a:avLst/>
            <a:gdLst/>
            <a:ahLst/>
            <a:cxnLst/>
            <a:rect l="l" t="t" r="r" b="b"/>
            <a:pathLst>
              <a:path w="2638686" h="786837">
                <a:moveTo>
                  <a:pt x="63584" y="0"/>
                </a:moveTo>
                <a:lnTo>
                  <a:pt x="2575101" y="0"/>
                </a:lnTo>
                <a:cubicBezTo>
                  <a:pt x="2610218" y="0"/>
                  <a:pt x="2638686" y="28468"/>
                  <a:pt x="2638686" y="63584"/>
                </a:cubicBezTo>
                <a:lnTo>
                  <a:pt x="2638686" y="723253"/>
                </a:lnTo>
                <a:cubicBezTo>
                  <a:pt x="2638686" y="758369"/>
                  <a:pt x="2610218" y="786837"/>
                  <a:pt x="2575101" y="786837"/>
                </a:cubicBezTo>
                <a:lnTo>
                  <a:pt x="63584" y="786837"/>
                </a:lnTo>
                <a:cubicBezTo>
                  <a:pt x="28468" y="786837"/>
                  <a:pt x="0" y="758369"/>
                  <a:pt x="0" y="723253"/>
                </a:cubicBezTo>
                <a:lnTo>
                  <a:pt x="0" y="63584"/>
                </a:lnTo>
                <a:cubicBezTo>
                  <a:pt x="0" y="28491"/>
                  <a:pt x="28491" y="0"/>
                  <a:pt x="6358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0"/>
          <p:cNvSpPr/>
          <p:nvPr/>
        </p:nvSpPr>
        <p:spPr>
          <a:xfrm>
            <a:off x="9169036" y="4744869"/>
            <a:ext cx="2495625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算子融合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9169036" y="4935517"/>
            <a:ext cx="2503572" cy="18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</a:t>
            </a:r>
            <a:r>
              <a:rPr lang="en-US" sz="87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TVM编译器</a:t>
            </a:r>
            <a:r>
              <a:rPr lang="en-US" sz="87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优化计算图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169036" y="5195809"/>
            <a:ext cx="619932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减少内存访问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1281276" y="5179913"/>
            <a:ext cx="389445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延迟↓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344768" y="5532798"/>
            <a:ext cx="5363208" cy="737560"/>
          </a:xfrm>
          <a:custGeom>
            <a:avLst/>
            <a:gdLst/>
            <a:ahLst/>
            <a:cxnLst/>
            <a:rect l="l" t="t" r="r" b="b"/>
            <a:pathLst>
              <a:path w="5363208" h="737560">
                <a:moveTo>
                  <a:pt x="63585" y="0"/>
                </a:moveTo>
                <a:lnTo>
                  <a:pt x="5299623" y="0"/>
                </a:lnTo>
                <a:cubicBezTo>
                  <a:pt x="5334740" y="0"/>
                  <a:pt x="5363208" y="28468"/>
                  <a:pt x="5363208" y="63585"/>
                </a:cubicBezTo>
                <a:lnTo>
                  <a:pt x="5363208" y="673975"/>
                </a:lnTo>
                <a:cubicBezTo>
                  <a:pt x="5363208" y="709092"/>
                  <a:pt x="5334740" y="737560"/>
                  <a:pt x="5299623" y="737560"/>
                </a:cubicBezTo>
                <a:lnTo>
                  <a:pt x="63585" y="737560"/>
                </a:lnTo>
                <a:cubicBezTo>
                  <a:pt x="28468" y="737560"/>
                  <a:pt x="0" y="709092"/>
                  <a:pt x="0" y="673975"/>
                </a:cubicBezTo>
                <a:lnTo>
                  <a:pt x="0" y="63585"/>
                </a:lnTo>
                <a:cubicBezTo>
                  <a:pt x="0" y="28492"/>
                  <a:pt x="28492" y="0"/>
                  <a:pt x="63585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5"/>
          <p:cNvSpPr/>
          <p:nvPr/>
        </p:nvSpPr>
        <p:spPr>
          <a:xfrm>
            <a:off x="6419478" y="5631353"/>
            <a:ext cx="5213789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边缘端推理能力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395634" y="5790209"/>
            <a:ext cx="5261476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2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10Hz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419478" y="6044444"/>
            <a:ext cx="5213789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1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实时推理频率</a:t>
            </a:r>
            <a:endParaRPr lang="en-US" sz="1600" dirty="0"/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42A36567-C5A3-75A4-6E6E-7A64B00715E2}"/>
              </a:ext>
            </a:extLst>
          </p:cNvPr>
          <p:cNvGrpSpPr/>
          <p:nvPr/>
        </p:nvGrpSpPr>
        <p:grpSpPr>
          <a:xfrm>
            <a:off x="321093" y="1243045"/>
            <a:ext cx="5697018" cy="2704850"/>
            <a:chOff x="321093" y="1243045"/>
            <a:chExt cx="5697018" cy="2912748"/>
          </a:xfrm>
        </p:grpSpPr>
        <p:sp>
          <p:nvSpPr>
            <p:cNvPr id="6" name="Shape 4"/>
            <p:cNvSpPr/>
            <p:nvPr/>
          </p:nvSpPr>
          <p:spPr>
            <a:xfrm>
              <a:off x="321093" y="1243045"/>
              <a:ext cx="5697018" cy="2912748"/>
            </a:xfrm>
            <a:custGeom>
              <a:avLst/>
              <a:gdLst/>
              <a:ahLst/>
              <a:cxnLst/>
              <a:rect l="l" t="t" r="r" b="b"/>
              <a:pathLst>
                <a:path w="5697018" h="5204251">
                  <a:moveTo>
                    <a:pt x="95394" y="0"/>
                  </a:moveTo>
                  <a:lnTo>
                    <a:pt x="5601624" y="0"/>
                  </a:lnTo>
                  <a:cubicBezTo>
                    <a:pt x="5654309" y="0"/>
                    <a:pt x="5697018" y="42709"/>
                    <a:pt x="5697018" y="95394"/>
                  </a:cubicBezTo>
                  <a:lnTo>
                    <a:pt x="5697018" y="5108857"/>
                  </a:lnTo>
                  <a:cubicBezTo>
                    <a:pt x="5697018" y="5161542"/>
                    <a:pt x="5654309" y="5204251"/>
                    <a:pt x="5601624" y="5204251"/>
                  </a:cubicBezTo>
                  <a:lnTo>
                    <a:pt x="95394" y="5204251"/>
                  </a:lnTo>
                  <a:cubicBezTo>
                    <a:pt x="42709" y="5204251"/>
                    <a:pt x="0" y="5161542"/>
                    <a:pt x="0" y="5108857"/>
                  </a:cubicBezTo>
                  <a:lnTo>
                    <a:pt x="0" y="95394"/>
                  </a:lnTo>
                  <a:cubicBezTo>
                    <a:pt x="0" y="42745"/>
                    <a:pt x="42745" y="0"/>
                    <a:pt x="953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6D8C">
                    <a:alpha val="20000"/>
                  </a:srgbClr>
                </a:gs>
                <a:gs pos="100000">
                  <a:srgbClr val="4A6D8C">
                    <a:alpha val="5000"/>
                  </a:srgbClr>
                </a:gs>
              </a:gsLst>
              <a:lin ang="2700000" scaled="1"/>
            </a:gradFill>
            <a:ln w="10160">
              <a:solidFill>
                <a:srgbClr val="4A6D8C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483229" y="1405178"/>
              <a:ext cx="381497" cy="381497"/>
            </a:xfrm>
            <a:custGeom>
              <a:avLst/>
              <a:gdLst/>
              <a:ahLst/>
              <a:cxnLst/>
              <a:rect l="l" t="t" r="r" b="b"/>
              <a:pathLst>
                <a:path w="381497" h="381497">
                  <a:moveTo>
                    <a:pt x="95374" y="0"/>
                  </a:moveTo>
                  <a:lnTo>
                    <a:pt x="286123" y="0"/>
                  </a:lnTo>
                  <a:cubicBezTo>
                    <a:pt x="338761" y="0"/>
                    <a:pt x="381497" y="42736"/>
                    <a:pt x="381497" y="95374"/>
                  </a:cubicBezTo>
                  <a:lnTo>
                    <a:pt x="381497" y="286123"/>
                  </a:lnTo>
                  <a:cubicBezTo>
                    <a:pt x="381497" y="338796"/>
                    <a:pt x="338796" y="381497"/>
                    <a:pt x="286123" y="381497"/>
                  </a:cubicBezTo>
                  <a:lnTo>
                    <a:pt x="95374" y="381497"/>
                  </a:lnTo>
                  <a:cubicBezTo>
                    <a:pt x="42736" y="381497"/>
                    <a:pt x="0" y="338761"/>
                    <a:pt x="0" y="286123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solidFill>
              <a:srgbClr val="C9A86A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594499" y="1516448"/>
              <a:ext cx="158957" cy="158957"/>
            </a:xfrm>
            <a:custGeom>
              <a:avLst/>
              <a:gdLst/>
              <a:ahLst/>
              <a:cxnLst/>
              <a:rect l="l" t="t" r="r" b="b"/>
              <a:pathLst>
                <a:path w="158957" h="158957">
                  <a:moveTo>
                    <a:pt x="54641" y="7451"/>
                  </a:moveTo>
                  <a:cubicBezTo>
                    <a:pt x="54641" y="3322"/>
                    <a:pt x="51320" y="0"/>
                    <a:pt x="47190" y="0"/>
                  </a:cubicBezTo>
                  <a:cubicBezTo>
                    <a:pt x="43061" y="0"/>
                    <a:pt x="39739" y="3322"/>
                    <a:pt x="39739" y="7451"/>
                  </a:cubicBezTo>
                  <a:lnTo>
                    <a:pt x="39739" y="19870"/>
                  </a:lnTo>
                  <a:cubicBezTo>
                    <a:pt x="28780" y="19870"/>
                    <a:pt x="19870" y="28780"/>
                    <a:pt x="19870" y="39739"/>
                  </a:cubicBezTo>
                  <a:lnTo>
                    <a:pt x="7451" y="39739"/>
                  </a:lnTo>
                  <a:cubicBezTo>
                    <a:pt x="3322" y="39739"/>
                    <a:pt x="0" y="43061"/>
                    <a:pt x="0" y="47190"/>
                  </a:cubicBezTo>
                  <a:cubicBezTo>
                    <a:pt x="0" y="51320"/>
                    <a:pt x="3322" y="54641"/>
                    <a:pt x="7451" y="54641"/>
                  </a:cubicBezTo>
                  <a:lnTo>
                    <a:pt x="19870" y="54641"/>
                  </a:lnTo>
                  <a:lnTo>
                    <a:pt x="19870" y="72027"/>
                  </a:lnTo>
                  <a:lnTo>
                    <a:pt x="7451" y="72027"/>
                  </a:lnTo>
                  <a:cubicBezTo>
                    <a:pt x="3322" y="72027"/>
                    <a:pt x="0" y="75349"/>
                    <a:pt x="0" y="79478"/>
                  </a:cubicBezTo>
                  <a:cubicBezTo>
                    <a:pt x="0" y="83608"/>
                    <a:pt x="3322" y="86930"/>
                    <a:pt x="7451" y="86930"/>
                  </a:cubicBezTo>
                  <a:lnTo>
                    <a:pt x="19870" y="86930"/>
                  </a:lnTo>
                  <a:lnTo>
                    <a:pt x="19870" y="104316"/>
                  </a:lnTo>
                  <a:lnTo>
                    <a:pt x="7451" y="104316"/>
                  </a:lnTo>
                  <a:cubicBezTo>
                    <a:pt x="3322" y="104316"/>
                    <a:pt x="0" y="107637"/>
                    <a:pt x="0" y="111767"/>
                  </a:cubicBezTo>
                  <a:cubicBezTo>
                    <a:pt x="0" y="115896"/>
                    <a:pt x="3322" y="119218"/>
                    <a:pt x="7451" y="119218"/>
                  </a:cubicBezTo>
                  <a:lnTo>
                    <a:pt x="19870" y="119218"/>
                  </a:lnTo>
                  <a:cubicBezTo>
                    <a:pt x="19870" y="130177"/>
                    <a:pt x="28780" y="139087"/>
                    <a:pt x="39739" y="139087"/>
                  </a:cubicBezTo>
                  <a:lnTo>
                    <a:pt x="39739" y="151506"/>
                  </a:lnTo>
                  <a:cubicBezTo>
                    <a:pt x="39739" y="155635"/>
                    <a:pt x="43061" y="158957"/>
                    <a:pt x="47190" y="158957"/>
                  </a:cubicBezTo>
                  <a:cubicBezTo>
                    <a:pt x="51320" y="158957"/>
                    <a:pt x="54641" y="155635"/>
                    <a:pt x="54641" y="151506"/>
                  </a:cubicBezTo>
                  <a:lnTo>
                    <a:pt x="54641" y="139087"/>
                  </a:lnTo>
                  <a:lnTo>
                    <a:pt x="72027" y="139087"/>
                  </a:lnTo>
                  <a:lnTo>
                    <a:pt x="72027" y="151506"/>
                  </a:lnTo>
                  <a:cubicBezTo>
                    <a:pt x="72027" y="155635"/>
                    <a:pt x="75349" y="158957"/>
                    <a:pt x="79478" y="158957"/>
                  </a:cubicBezTo>
                  <a:cubicBezTo>
                    <a:pt x="83608" y="158957"/>
                    <a:pt x="86930" y="155635"/>
                    <a:pt x="86930" y="151506"/>
                  </a:cubicBezTo>
                  <a:lnTo>
                    <a:pt x="86930" y="139087"/>
                  </a:lnTo>
                  <a:lnTo>
                    <a:pt x="104316" y="139087"/>
                  </a:lnTo>
                  <a:lnTo>
                    <a:pt x="104316" y="151506"/>
                  </a:lnTo>
                  <a:cubicBezTo>
                    <a:pt x="104316" y="155635"/>
                    <a:pt x="107637" y="158957"/>
                    <a:pt x="111767" y="158957"/>
                  </a:cubicBezTo>
                  <a:cubicBezTo>
                    <a:pt x="115896" y="158957"/>
                    <a:pt x="119218" y="155635"/>
                    <a:pt x="119218" y="151506"/>
                  </a:cubicBezTo>
                  <a:lnTo>
                    <a:pt x="119218" y="139087"/>
                  </a:lnTo>
                  <a:cubicBezTo>
                    <a:pt x="130177" y="139087"/>
                    <a:pt x="139087" y="130177"/>
                    <a:pt x="139087" y="119218"/>
                  </a:cubicBezTo>
                  <a:lnTo>
                    <a:pt x="151506" y="119218"/>
                  </a:lnTo>
                  <a:cubicBezTo>
                    <a:pt x="155635" y="119218"/>
                    <a:pt x="158957" y="115896"/>
                    <a:pt x="158957" y="111767"/>
                  </a:cubicBezTo>
                  <a:cubicBezTo>
                    <a:pt x="158957" y="107637"/>
                    <a:pt x="155635" y="104316"/>
                    <a:pt x="151506" y="104316"/>
                  </a:cubicBezTo>
                  <a:lnTo>
                    <a:pt x="139087" y="104316"/>
                  </a:lnTo>
                  <a:lnTo>
                    <a:pt x="139087" y="86930"/>
                  </a:lnTo>
                  <a:lnTo>
                    <a:pt x="151506" y="86930"/>
                  </a:lnTo>
                  <a:cubicBezTo>
                    <a:pt x="155635" y="86930"/>
                    <a:pt x="158957" y="83608"/>
                    <a:pt x="158957" y="79478"/>
                  </a:cubicBezTo>
                  <a:cubicBezTo>
                    <a:pt x="158957" y="75349"/>
                    <a:pt x="155635" y="72027"/>
                    <a:pt x="151506" y="72027"/>
                  </a:cubicBezTo>
                  <a:lnTo>
                    <a:pt x="139087" y="72027"/>
                  </a:lnTo>
                  <a:lnTo>
                    <a:pt x="139087" y="54641"/>
                  </a:lnTo>
                  <a:lnTo>
                    <a:pt x="151506" y="54641"/>
                  </a:lnTo>
                  <a:cubicBezTo>
                    <a:pt x="155635" y="54641"/>
                    <a:pt x="158957" y="51320"/>
                    <a:pt x="158957" y="47190"/>
                  </a:cubicBezTo>
                  <a:cubicBezTo>
                    <a:pt x="158957" y="43061"/>
                    <a:pt x="155635" y="39739"/>
                    <a:pt x="151506" y="39739"/>
                  </a:cubicBezTo>
                  <a:lnTo>
                    <a:pt x="139087" y="39739"/>
                  </a:lnTo>
                  <a:cubicBezTo>
                    <a:pt x="139087" y="28780"/>
                    <a:pt x="130177" y="19870"/>
                    <a:pt x="119218" y="19870"/>
                  </a:cubicBezTo>
                  <a:lnTo>
                    <a:pt x="119218" y="7451"/>
                  </a:lnTo>
                  <a:cubicBezTo>
                    <a:pt x="119218" y="3322"/>
                    <a:pt x="115896" y="0"/>
                    <a:pt x="111767" y="0"/>
                  </a:cubicBezTo>
                  <a:cubicBezTo>
                    <a:pt x="107637" y="0"/>
                    <a:pt x="104316" y="3322"/>
                    <a:pt x="104316" y="7451"/>
                  </a:cubicBezTo>
                  <a:lnTo>
                    <a:pt x="104316" y="19870"/>
                  </a:lnTo>
                  <a:lnTo>
                    <a:pt x="86930" y="19870"/>
                  </a:lnTo>
                  <a:lnTo>
                    <a:pt x="86930" y="7451"/>
                  </a:lnTo>
                  <a:cubicBezTo>
                    <a:pt x="86930" y="3322"/>
                    <a:pt x="83608" y="0"/>
                    <a:pt x="79478" y="0"/>
                  </a:cubicBezTo>
                  <a:cubicBezTo>
                    <a:pt x="75349" y="0"/>
                    <a:pt x="72027" y="3322"/>
                    <a:pt x="72027" y="7451"/>
                  </a:cubicBezTo>
                  <a:lnTo>
                    <a:pt x="72027" y="19870"/>
                  </a:lnTo>
                  <a:lnTo>
                    <a:pt x="54641" y="19870"/>
                  </a:lnTo>
                  <a:lnTo>
                    <a:pt x="54641" y="7451"/>
                  </a:lnTo>
                  <a:close/>
                  <a:moveTo>
                    <a:pt x="49674" y="39739"/>
                  </a:moveTo>
                  <a:lnTo>
                    <a:pt x="109283" y="39739"/>
                  </a:lnTo>
                  <a:cubicBezTo>
                    <a:pt x="114778" y="39739"/>
                    <a:pt x="119218" y="44179"/>
                    <a:pt x="119218" y="49674"/>
                  </a:cubicBezTo>
                  <a:lnTo>
                    <a:pt x="119218" y="109283"/>
                  </a:lnTo>
                  <a:cubicBezTo>
                    <a:pt x="119218" y="114778"/>
                    <a:pt x="114778" y="119218"/>
                    <a:pt x="109283" y="119218"/>
                  </a:cubicBezTo>
                  <a:lnTo>
                    <a:pt x="49674" y="119218"/>
                  </a:lnTo>
                  <a:cubicBezTo>
                    <a:pt x="44179" y="119218"/>
                    <a:pt x="39739" y="114778"/>
                    <a:pt x="39739" y="109283"/>
                  </a:cubicBezTo>
                  <a:lnTo>
                    <a:pt x="39739" y="49674"/>
                  </a:lnTo>
                  <a:cubicBezTo>
                    <a:pt x="39739" y="44179"/>
                    <a:pt x="44179" y="39739"/>
                    <a:pt x="49674" y="39739"/>
                  </a:cubicBezTo>
                  <a:close/>
                  <a:moveTo>
                    <a:pt x="54641" y="54641"/>
                  </a:moveTo>
                  <a:lnTo>
                    <a:pt x="54641" y="104316"/>
                  </a:lnTo>
                  <a:lnTo>
                    <a:pt x="104316" y="104316"/>
                  </a:lnTo>
                  <a:lnTo>
                    <a:pt x="104316" y="54641"/>
                  </a:lnTo>
                  <a:lnTo>
                    <a:pt x="54641" y="54641"/>
                  </a:lnTo>
                  <a:close/>
                </a:path>
              </a:pathLst>
            </a:custGeom>
            <a:solidFill>
              <a:srgbClr val="C9A86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960100" y="1405178"/>
              <a:ext cx="1072960" cy="2225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2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边缘侧 (Edge)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60100" y="1627718"/>
              <a:ext cx="1049116" cy="158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876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毫秒级实时响应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3229" y="1913840"/>
              <a:ext cx="5372746" cy="564297"/>
            </a:xfrm>
            <a:custGeom>
              <a:avLst/>
              <a:gdLst/>
              <a:ahLst/>
              <a:cxnLst/>
              <a:rect l="l" t="t" r="r" b="b"/>
              <a:pathLst>
                <a:path w="5372746" h="564297">
                  <a:moveTo>
                    <a:pt x="63585" y="0"/>
                  </a:moveTo>
                  <a:lnTo>
                    <a:pt x="5309161" y="0"/>
                  </a:lnTo>
                  <a:cubicBezTo>
                    <a:pt x="5344278" y="0"/>
                    <a:pt x="5372746" y="28468"/>
                    <a:pt x="5372746" y="63585"/>
                  </a:cubicBezTo>
                  <a:lnTo>
                    <a:pt x="5372746" y="500712"/>
                  </a:lnTo>
                  <a:cubicBezTo>
                    <a:pt x="5372746" y="535829"/>
                    <a:pt x="5344278" y="564297"/>
                    <a:pt x="5309161" y="564297"/>
                  </a:cubicBezTo>
                  <a:lnTo>
                    <a:pt x="63585" y="564297"/>
                  </a:lnTo>
                  <a:cubicBezTo>
                    <a:pt x="28491" y="564297"/>
                    <a:pt x="0" y="535806"/>
                    <a:pt x="0" y="500712"/>
                  </a:cubicBezTo>
                  <a:lnTo>
                    <a:pt x="0" y="63585"/>
                  </a:lnTo>
                  <a:cubicBezTo>
                    <a:pt x="0" y="28491"/>
                    <a:pt x="28491" y="0"/>
                    <a:pt x="63585" y="0"/>
                  </a:cubicBezTo>
                  <a:close/>
                </a:path>
              </a:pathLst>
            </a:custGeom>
            <a:solidFill>
              <a:srgbClr val="2D3136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578603" y="2009215"/>
              <a:ext cx="5229684" cy="127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751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轻量化模型部署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78603" y="2199866"/>
              <a:ext cx="5237632" cy="1828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876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部署</a:t>
              </a:r>
              <a:r>
                <a:rPr lang="en-US" sz="876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剪枝后的DAEKF</a:t>
              </a:r>
              <a:r>
                <a:rPr lang="en-US" sz="876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、规则引擎，在资源受限环境下实现高效推理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83229" y="2571428"/>
              <a:ext cx="5372746" cy="667619"/>
            </a:xfrm>
            <a:custGeom>
              <a:avLst/>
              <a:gdLst/>
              <a:ahLst/>
              <a:cxnLst/>
              <a:rect l="l" t="t" r="r" b="b"/>
              <a:pathLst>
                <a:path w="5372746" h="667619">
                  <a:moveTo>
                    <a:pt x="63584" y="0"/>
                  </a:moveTo>
                  <a:lnTo>
                    <a:pt x="5309162" y="0"/>
                  </a:lnTo>
                  <a:cubicBezTo>
                    <a:pt x="5344278" y="0"/>
                    <a:pt x="5372746" y="28468"/>
                    <a:pt x="5372746" y="63584"/>
                  </a:cubicBezTo>
                  <a:lnTo>
                    <a:pt x="5372746" y="604035"/>
                  </a:lnTo>
                  <a:cubicBezTo>
                    <a:pt x="5372746" y="639152"/>
                    <a:pt x="5344278" y="667619"/>
                    <a:pt x="5309162" y="667619"/>
                  </a:cubicBezTo>
                  <a:lnTo>
                    <a:pt x="63584" y="667619"/>
                  </a:lnTo>
                  <a:cubicBezTo>
                    <a:pt x="28468" y="667619"/>
                    <a:pt x="0" y="639152"/>
                    <a:pt x="0" y="604035"/>
                  </a:cubicBezTo>
                  <a:lnTo>
                    <a:pt x="0" y="63584"/>
                  </a:lnTo>
                  <a:cubicBezTo>
                    <a:pt x="0" y="28491"/>
                    <a:pt x="28491" y="0"/>
                    <a:pt x="63584" y="0"/>
                  </a:cubicBezTo>
                  <a:close/>
                </a:path>
              </a:pathLst>
            </a:custGeom>
            <a:solidFill>
              <a:srgbClr val="2D3136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578603" y="2666802"/>
              <a:ext cx="5229684" cy="127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751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国产芯片适配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78603" y="2857450"/>
              <a:ext cx="937846" cy="286123"/>
            </a:xfrm>
            <a:custGeom>
              <a:avLst/>
              <a:gdLst/>
              <a:ahLst/>
              <a:cxnLst/>
              <a:rect l="l" t="t" r="r" b="b"/>
              <a:pathLst>
                <a:path w="937846" h="286123">
                  <a:moveTo>
                    <a:pt x="31791" y="0"/>
                  </a:moveTo>
                  <a:lnTo>
                    <a:pt x="906055" y="0"/>
                  </a:lnTo>
                  <a:cubicBezTo>
                    <a:pt x="923613" y="0"/>
                    <a:pt x="937846" y="14233"/>
                    <a:pt x="937846" y="31791"/>
                  </a:cubicBezTo>
                  <a:lnTo>
                    <a:pt x="937846" y="254331"/>
                  </a:lnTo>
                  <a:cubicBezTo>
                    <a:pt x="937846" y="271889"/>
                    <a:pt x="923613" y="286123"/>
                    <a:pt x="906055" y="286123"/>
                  </a:cubicBezTo>
                  <a:lnTo>
                    <a:pt x="31791" y="286123"/>
                  </a:lnTo>
                  <a:cubicBezTo>
                    <a:pt x="14233" y="286123"/>
                    <a:pt x="0" y="271889"/>
                    <a:pt x="0" y="254331"/>
                  </a:cubicBezTo>
                  <a:lnTo>
                    <a:pt x="0" y="31791"/>
                  </a:lnTo>
                  <a:cubicBezTo>
                    <a:pt x="0" y="14233"/>
                    <a:pt x="14233" y="0"/>
                    <a:pt x="31791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646160" y="2921032"/>
              <a:ext cx="802733" cy="158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6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瑞芯微RK3588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642324" y="2857450"/>
              <a:ext cx="834524" cy="286123"/>
            </a:xfrm>
            <a:custGeom>
              <a:avLst/>
              <a:gdLst/>
              <a:ahLst/>
              <a:cxnLst/>
              <a:rect l="l" t="t" r="r" b="b"/>
              <a:pathLst>
                <a:path w="834524" h="286123">
                  <a:moveTo>
                    <a:pt x="31791" y="0"/>
                  </a:moveTo>
                  <a:lnTo>
                    <a:pt x="802733" y="0"/>
                  </a:lnTo>
                  <a:cubicBezTo>
                    <a:pt x="820291" y="0"/>
                    <a:pt x="834524" y="14233"/>
                    <a:pt x="834524" y="31791"/>
                  </a:cubicBezTo>
                  <a:lnTo>
                    <a:pt x="834524" y="254331"/>
                  </a:lnTo>
                  <a:cubicBezTo>
                    <a:pt x="834524" y="271889"/>
                    <a:pt x="820291" y="286123"/>
                    <a:pt x="802733" y="286123"/>
                  </a:cubicBezTo>
                  <a:lnTo>
                    <a:pt x="31791" y="286123"/>
                  </a:lnTo>
                  <a:cubicBezTo>
                    <a:pt x="14233" y="286123"/>
                    <a:pt x="0" y="271889"/>
                    <a:pt x="0" y="254331"/>
                  </a:cubicBezTo>
                  <a:lnTo>
                    <a:pt x="0" y="31791"/>
                  </a:lnTo>
                  <a:cubicBezTo>
                    <a:pt x="0" y="14233"/>
                    <a:pt x="14233" y="0"/>
                    <a:pt x="31791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1709880" y="2921032"/>
              <a:ext cx="699411" cy="158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876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龙芯3C5000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86408" y="3337500"/>
              <a:ext cx="5363208" cy="610395"/>
            </a:xfrm>
            <a:custGeom>
              <a:avLst/>
              <a:gdLst/>
              <a:ahLst/>
              <a:cxnLst/>
              <a:rect l="l" t="t" r="r" b="b"/>
              <a:pathLst>
                <a:path w="5363208" h="610395">
                  <a:moveTo>
                    <a:pt x="63585" y="0"/>
                  </a:moveTo>
                  <a:lnTo>
                    <a:pt x="5299624" y="0"/>
                  </a:lnTo>
                  <a:cubicBezTo>
                    <a:pt x="5334740" y="0"/>
                    <a:pt x="5363208" y="28468"/>
                    <a:pt x="5363208" y="63585"/>
                  </a:cubicBezTo>
                  <a:lnTo>
                    <a:pt x="5363208" y="546810"/>
                  </a:lnTo>
                  <a:cubicBezTo>
                    <a:pt x="5363208" y="581927"/>
                    <a:pt x="5334740" y="610395"/>
                    <a:pt x="5299624" y="610395"/>
                  </a:cubicBezTo>
                  <a:lnTo>
                    <a:pt x="63585" y="610395"/>
                  </a:lnTo>
                  <a:cubicBezTo>
                    <a:pt x="28468" y="610395"/>
                    <a:pt x="0" y="581927"/>
                    <a:pt x="0" y="546810"/>
                  </a:cubicBezTo>
                  <a:lnTo>
                    <a:pt x="0" y="63585"/>
                  </a:lnTo>
                  <a:cubicBezTo>
                    <a:pt x="0" y="28468"/>
                    <a:pt x="28468" y="0"/>
                    <a:pt x="63585" y="0"/>
                  </a:cubicBezTo>
                  <a:close/>
                </a:path>
              </a:pathLst>
            </a:custGeom>
            <a:solidFill>
              <a:srgbClr val="C9A86A">
                <a:alpha val="10196"/>
              </a:srgbClr>
            </a:solidFill>
            <a:ln w="10160">
              <a:solidFill>
                <a:srgbClr val="C9A86A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84962" y="3436051"/>
              <a:ext cx="604037" cy="127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751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响应时延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84961" y="3594911"/>
              <a:ext cx="817953" cy="254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2" b="1" dirty="0">
                  <a:solidFill>
                    <a:srgbClr val="C9A8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&lt;10ms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257502" y="3483641"/>
              <a:ext cx="492767" cy="1271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>
                <a:lnSpc>
                  <a:spcPct val="110000"/>
                </a:lnSpc>
              </a:pPr>
              <a:r>
                <a:rPr lang="en-US" sz="751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核心能力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249554" y="3642498"/>
              <a:ext cx="500714" cy="158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>
                <a:lnSpc>
                  <a:spcPct val="120000"/>
                </a:lnSpc>
              </a:pPr>
              <a:r>
                <a:rPr lang="en-US" sz="876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故障阻断</a:t>
              </a:r>
              <a:endParaRPr lang="en-US" sz="1600" dirty="0"/>
            </a:p>
          </p:txBody>
        </p:sp>
        <p:sp>
          <p:nvSpPr>
            <p:cNvPr id="61" name="Shape 14">
              <a:extLst>
                <a:ext uri="{FF2B5EF4-FFF2-40B4-BE49-F238E27FC236}">
                  <a16:creationId xmlns:a16="http://schemas.microsoft.com/office/drawing/2014/main" id="{60D09523-056B-698A-9924-4E5CC50641CF}"/>
                </a:ext>
              </a:extLst>
            </p:cNvPr>
            <p:cNvSpPr/>
            <p:nvPr/>
          </p:nvSpPr>
          <p:spPr>
            <a:xfrm>
              <a:off x="2602723" y="2857450"/>
              <a:ext cx="937846" cy="286123"/>
            </a:xfrm>
            <a:custGeom>
              <a:avLst/>
              <a:gdLst/>
              <a:ahLst/>
              <a:cxnLst/>
              <a:rect l="l" t="t" r="r" b="b"/>
              <a:pathLst>
                <a:path w="937846" h="286123">
                  <a:moveTo>
                    <a:pt x="31791" y="0"/>
                  </a:moveTo>
                  <a:lnTo>
                    <a:pt x="906055" y="0"/>
                  </a:lnTo>
                  <a:cubicBezTo>
                    <a:pt x="923613" y="0"/>
                    <a:pt x="937846" y="14233"/>
                    <a:pt x="937846" y="31791"/>
                  </a:cubicBezTo>
                  <a:lnTo>
                    <a:pt x="937846" y="254331"/>
                  </a:lnTo>
                  <a:cubicBezTo>
                    <a:pt x="937846" y="271889"/>
                    <a:pt x="923613" y="286123"/>
                    <a:pt x="906055" y="286123"/>
                  </a:cubicBezTo>
                  <a:lnTo>
                    <a:pt x="31791" y="286123"/>
                  </a:lnTo>
                  <a:cubicBezTo>
                    <a:pt x="14233" y="286123"/>
                    <a:pt x="0" y="271889"/>
                    <a:pt x="0" y="254331"/>
                  </a:cubicBezTo>
                  <a:lnTo>
                    <a:pt x="0" y="31791"/>
                  </a:lnTo>
                  <a:cubicBezTo>
                    <a:pt x="0" y="14233"/>
                    <a:pt x="14233" y="0"/>
                    <a:pt x="31791" y="0"/>
                  </a:cubicBezTo>
                  <a:close/>
                </a:path>
              </a:pathLst>
            </a:custGeom>
            <a:solidFill>
              <a:srgbClr val="1A1D21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15">
              <a:extLst>
                <a:ext uri="{FF2B5EF4-FFF2-40B4-BE49-F238E27FC236}">
                  <a16:creationId xmlns:a16="http://schemas.microsoft.com/office/drawing/2014/main" id="{E4504013-F6D9-C943-7CB6-3198F8BAD6EA}"/>
                </a:ext>
              </a:extLst>
            </p:cNvPr>
            <p:cNvSpPr/>
            <p:nvPr/>
          </p:nvSpPr>
          <p:spPr>
            <a:xfrm>
              <a:off x="2670280" y="2921032"/>
              <a:ext cx="802733" cy="158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800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国产</a:t>
              </a:r>
              <a:r>
                <a:rPr lang="en-US" altLang="zh-CN" sz="800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RISK-V</a:t>
              </a:r>
              <a:r>
                <a:rPr lang="zh-CN" altLang="en-US" sz="800" b="1" dirty="0">
                  <a:solidFill>
                    <a:srgbClr val="E8EAE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芯片</a:t>
              </a:r>
              <a:endParaRPr lang="en-US" sz="800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9D393D0-64B0-5FC1-C256-F7D2E32D7FCE}"/>
              </a:ext>
            </a:extLst>
          </p:cNvPr>
          <p:cNvGrpSpPr/>
          <p:nvPr/>
        </p:nvGrpSpPr>
        <p:grpSpPr>
          <a:xfrm>
            <a:off x="2653103" y="4163592"/>
            <a:ext cx="3276682" cy="2173771"/>
            <a:chOff x="216269" y="630162"/>
            <a:chExt cx="8085901" cy="5364237"/>
          </a:xfrm>
        </p:grpSpPr>
        <p:sp>
          <p:nvSpPr>
            <p:cNvPr id="63" name="圆角矩形 36">
              <a:extLst>
                <a:ext uri="{FF2B5EF4-FFF2-40B4-BE49-F238E27FC236}">
                  <a16:creationId xmlns:a16="http://schemas.microsoft.com/office/drawing/2014/main" id="{6287E85D-341E-7F5A-467C-36B076C78AF8}"/>
                </a:ext>
              </a:extLst>
            </p:cNvPr>
            <p:cNvSpPr/>
            <p:nvPr/>
          </p:nvSpPr>
          <p:spPr>
            <a:xfrm>
              <a:off x="216269" y="630162"/>
              <a:ext cx="8085901" cy="5364237"/>
            </a:xfrm>
            <a:prstGeom prst="roundRect">
              <a:avLst>
                <a:gd name="adj" fmla="val 4975"/>
              </a:avLst>
            </a:prstGeom>
            <a:gradFill flip="none" rotWithShape="1">
              <a:gsLst>
                <a:gs pos="16000">
                  <a:schemeClr val="accent6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  <a:alpha val="19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27061"/>
              <a:endParaRPr lang="zh-CN" altLang="en-US" sz="30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8" name="圆角矩形 31">
              <a:extLst>
                <a:ext uri="{FF2B5EF4-FFF2-40B4-BE49-F238E27FC236}">
                  <a16:creationId xmlns:a16="http://schemas.microsoft.com/office/drawing/2014/main" id="{0ACF86B4-96C5-5018-7B28-03378FC81FE8}"/>
                </a:ext>
              </a:extLst>
            </p:cNvPr>
            <p:cNvSpPr/>
            <p:nvPr/>
          </p:nvSpPr>
          <p:spPr>
            <a:xfrm>
              <a:off x="3269159" y="967967"/>
              <a:ext cx="1481912" cy="54613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Data Collection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圆角矩形 33">
              <a:extLst>
                <a:ext uri="{FF2B5EF4-FFF2-40B4-BE49-F238E27FC236}">
                  <a16:creationId xmlns:a16="http://schemas.microsoft.com/office/drawing/2014/main" id="{9EDA8C15-83A8-B249-E481-5F9A233252F4}"/>
                </a:ext>
              </a:extLst>
            </p:cNvPr>
            <p:cNvSpPr/>
            <p:nvPr/>
          </p:nvSpPr>
          <p:spPr>
            <a:xfrm>
              <a:off x="1181659" y="954012"/>
              <a:ext cx="1385723" cy="50044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Cloud Computing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249133D0-15F8-D89A-BD9D-1CB955E7B9AA}"/>
                </a:ext>
              </a:extLst>
            </p:cNvPr>
            <p:cNvSpPr/>
            <p:nvPr/>
          </p:nvSpPr>
          <p:spPr>
            <a:xfrm rot="5400000">
              <a:off x="2258467" y="-65461"/>
              <a:ext cx="721245" cy="3675161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52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27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440C315D-974A-98A5-A65F-6140DB3E5C04}"/>
                </a:ext>
              </a:extLst>
            </p:cNvPr>
            <p:cNvGrpSpPr/>
            <p:nvPr/>
          </p:nvGrpSpPr>
          <p:grpSpPr>
            <a:xfrm>
              <a:off x="983263" y="2000494"/>
              <a:ext cx="3331131" cy="2562956"/>
              <a:chOff x="2927393" y="1699626"/>
              <a:chExt cx="3331131" cy="2357384"/>
            </a:xfrm>
          </p:grpSpPr>
          <p:sp>
            <p:nvSpPr>
              <p:cNvPr id="158" name="任意多边形 91">
                <a:extLst>
                  <a:ext uri="{FF2B5EF4-FFF2-40B4-BE49-F238E27FC236}">
                    <a16:creationId xmlns:a16="http://schemas.microsoft.com/office/drawing/2014/main" id="{E35218E8-0E23-E034-0868-73E8676F7E08}"/>
                  </a:ext>
                </a:extLst>
              </p:cNvPr>
              <p:cNvSpPr/>
              <p:nvPr/>
            </p:nvSpPr>
            <p:spPr>
              <a:xfrm rot="16200000" flipV="1">
                <a:off x="3517690" y="1305591"/>
                <a:ext cx="2145501" cy="3240639"/>
              </a:xfrm>
              <a:custGeom>
                <a:avLst/>
                <a:gdLst>
                  <a:gd name="connsiteX0" fmla="*/ 1501349 w 1501349"/>
                  <a:gd name="connsiteY0" fmla="*/ 2217203 h 2267690"/>
                  <a:gd name="connsiteX1" fmla="*/ 1501349 w 1501349"/>
                  <a:gd name="connsiteY1" fmla="*/ 50486 h 2267690"/>
                  <a:gd name="connsiteX2" fmla="*/ 1418255 w 1501349"/>
                  <a:gd name="connsiteY2" fmla="*/ 94726 h 2267690"/>
                  <a:gd name="connsiteX3" fmla="*/ 780810 w 1501349"/>
                  <a:gd name="connsiteY3" fmla="*/ 238086 h 2267690"/>
                  <a:gd name="connsiteX4" fmla="*/ 59616 w 1501349"/>
                  <a:gd name="connsiteY4" fmla="*/ 38113 h 2267690"/>
                  <a:gd name="connsiteX5" fmla="*/ 0 w 1501349"/>
                  <a:gd name="connsiteY5" fmla="*/ 0 h 2267690"/>
                  <a:gd name="connsiteX6" fmla="*/ 0 w 1501349"/>
                  <a:gd name="connsiteY6" fmla="*/ 2267690 h 2267690"/>
                  <a:gd name="connsiteX7" fmla="*/ 59616 w 1501349"/>
                  <a:gd name="connsiteY7" fmla="*/ 2229577 h 2267690"/>
                  <a:gd name="connsiteX8" fmla="*/ 780810 w 1501349"/>
                  <a:gd name="connsiteY8" fmla="*/ 2029604 h 2267690"/>
                  <a:gd name="connsiteX9" fmla="*/ 1418255 w 1501349"/>
                  <a:gd name="connsiteY9" fmla="*/ 2172964 h 2267690"/>
                  <a:gd name="connsiteX10" fmla="*/ 1501349 w 1501349"/>
                  <a:gd name="connsiteY10" fmla="*/ 2217203 h 226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01349" h="2267690">
                    <a:moveTo>
                      <a:pt x="1501349" y="2217203"/>
                    </a:moveTo>
                    <a:lnTo>
                      <a:pt x="1501349" y="50486"/>
                    </a:lnTo>
                    <a:lnTo>
                      <a:pt x="1418255" y="94726"/>
                    </a:lnTo>
                    <a:cubicBezTo>
                      <a:pt x="1210725" y="191221"/>
                      <a:pt x="944150" y="239840"/>
                      <a:pt x="780810" y="238086"/>
                    </a:cubicBezTo>
                    <a:cubicBezTo>
                      <a:pt x="590247" y="236040"/>
                      <a:pt x="317162" y="186460"/>
                      <a:pt x="59616" y="38113"/>
                    </a:cubicBezTo>
                    <a:lnTo>
                      <a:pt x="0" y="0"/>
                    </a:lnTo>
                    <a:lnTo>
                      <a:pt x="0" y="2267690"/>
                    </a:lnTo>
                    <a:lnTo>
                      <a:pt x="59616" y="2229577"/>
                    </a:lnTo>
                    <a:cubicBezTo>
                      <a:pt x="317161" y="2081230"/>
                      <a:pt x="590247" y="2031649"/>
                      <a:pt x="780810" y="2029604"/>
                    </a:cubicBezTo>
                    <a:cubicBezTo>
                      <a:pt x="944150" y="2027850"/>
                      <a:pt x="1210724" y="2076469"/>
                      <a:pt x="1418255" y="2172964"/>
                    </a:cubicBezTo>
                    <a:lnTo>
                      <a:pt x="1501349" y="2217203"/>
                    </a:lnTo>
                    <a:close/>
                  </a:path>
                </a:pathLst>
              </a:custGeom>
              <a:gradFill flip="none" rotWithShape="1">
                <a:gsLst>
                  <a:gs pos="96000">
                    <a:schemeClr val="bg1">
                      <a:alpha val="21000"/>
                    </a:schemeClr>
                  </a:gs>
                  <a:gs pos="6000">
                    <a:schemeClr val="accent1">
                      <a:lumMod val="5000"/>
                      <a:lumOff val="95000"/>
                      <a:alpha val="25000"/>
                    </a:schemeClr>
                  </a:gs>
                  <a:gs pos="5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任意多边形 60">
                <a:extLst>
                  <a:ext uri="{FF2B5EF4-FFF2-40B4-BE49-F238E27FC236}">
                    <a16:creationId xmlns:a16="http://schemas.microsoft.com/office/drawing/2014/main" id="{1BFAF7CB-F1F3-DBFE-E164-219D75777207}"/>
                  </a:ext>
                </a:extLst>
              </p:cNvPr>
              <p:cNvSpPr/>
              <p:nvPr/>
            </p:nvSpPr>
            <p:spPr>
              <a:xfrm rot="5400000" flipH="1" flipV="1">
                <a:off x="1941474" y="2685545"/>
                <a:ext cx="2357384" cy="385546"/>
              </a:xfrm>
              <a:custGeom>
                <a:avLst/>
                <a:gdLst>
                  <a:gd name="connsiteX0" fmla="*/ 0 w 8763000"/>
                  <a:gd name="connsiteY0" fmla="*/ 186161 h 2272136"/>
                  <a:gd name="connsiteX1" fmla="*/ 5676900 w 8763000"/>
                  <a:gd name="connsiteY1" fmla="*/ 205211 h 2272136"/>
                  <a:gd name="connsiteX2" fmla="*/ 8763000 w 8763000"/>
                  <a:gd name="connsiteY2" fmla="*/ 2272136 h 2272136"/>
                  <a:gd name="connsiteX0" fmla="*/ 0 w 8763000"/>
                  <a:gd name="connsiteY0" fmla="*/ 19437 h 2105412"/>
                  <a:gd name="connsiteX1" fmla="*/ 2600325 w 8763000"/>
                  <a:gd name="connsiteY1" fmla="*/ 1124337 h 2105412"/>
                  <a:gd name="connsiteX2" fmla="*/ 8763000 w 8763000"/>
                  <a:gd name="connsiteY2" fmla="*/ 2105412 h 2105412"/>
                  <a:gd name="connsiteX0" fmla="*/ 0 w 8763000"/>
                  <a:gd name="connsiteY0" fmla="*/ 0 h 2085975"/>
                  <a:gd name="connsiteX1" fmla="*/ 2600325 w 8763000"/>
                  <a:gd name="connsiteY1" fmla="*/ 1104900 h 2085975"/>
                  <a:gd name="connsiteX2" fmla="*/ 8763000 w 8763000"/>
                  <a:gd name="connsiteY2" fmla="*/ 2085975 h 2085975"/>
                  <a:gd name="connsiteX0" fmla="*/ 0 w 5229225"/>
                  <a:gd name="connsiteY0" fmla="*/ 0 h 1106434"/>
                  <a:gd name="connsiteX1" fmla="*/ 2600325 w 5229225"/>
                  <a:gd name="connsiteY1" fmla="*/ 1104900 h 1106434"/>
                  <a:gd name="connsiteX2" fmla="*/ 5229225 w 5229225"/>
                  <a:gd name="connsiteY2" fmla="*/ 304800 h 1106434"/>
                  <a:gd name="connsiteX0" fmla="*/ 0 w 5229225"/>
                  <a:gd name="connsiteY0" fmla="*/ 0 h 1109537"/>
                  <a:gd name="connsiteX1" fmla="*/ 2600325 w 5229225"/>
                  <a:gd name="connsiteY1" fmla="*/ 1104900 h 1109537"/>
                  <a:gd name="connsiteX2" fmla="*/ 5229225 w 5229225"/>
                  <a:gd name="connsiteY2" fmla="*/ 304800 h 1109537"/>
                  <a:gd name="connsiteX0" fmla="*/ 0 w 5229225"/>
                  <a:gd name="connsiteY0" fmla="*/ 0 h 858724"/>
                  <a:gd name="connsiteX1" fmla="*/ 2867025 w 5229225"/>
                  <a:gd name="connsiteY1" fmla="*/ 847725 h 858724"/>
                  <a:gd name="connsiteX2" fmla="*/ 5229225 w 5229225"/>
                  <a:gd name="connsiteY2" fmla="*/ 304800 h 858724"/>
                  <a:gd name="connsiteX0" fmla="*/ 0 w 5219700"/>
                  <a:gd name="connsiteY0" fmla="*/ 0 h 847746"/>
                  <a:gd name="connsiteX1" fmla="*/ 2867025 w 5219700"/>
                  <a:gd name="connsiteY1" fmla="*/ 847725 h 847746"/>
                  <a:gd name="connsiteX2" fmla="*/ 5219700 w 5219700"/>
                  <a:gd name="connsiteY2" fmla="*/ 19050 h 847746"/>
                  <a:gd name="connsiteX0" fmla="*/ 0 w 5219700"/>
                  <a:gd name="connsiteY0" fmla="*/ 0 h 819173"/>
                  <a:gd name="connsiteX1" fmla="*/ 2657475 w 5219700"/>
                  <a:gd name="connsiteY1" fmla="*/ 819150 h 819173"/>
                  <a:gd name="connsiteX2" fmla="*/ 5219700 w 5219700"/>
                  <a:gd name="connsiteY2" fmla="*/ 19050 h 819173"/>
                  <a:gd name="connsiteX0" fmla="*/ 0 w 5219700"/>
                  <a:gd name="connsiteY0" fmla="*/ 0 h 547607"/>
                  <a:gd name="connsiteX1" fmla="*/ 2627334 w 5219700"/>
                  <a:gd name="connsiteY1" fmla="*/ 547481 h 547607"/>
                  <a:gd name="connsiteX2" fmla="*/ 5219700 w 5219700"/>
                  <a:gd name="connsiteY2" fmla="*/ 19050 h 547607"/>
                  <a:gd name="connsiteX0" fmla="*/ 0 w 5219700"/>
                  <a:gd name="connsiteY0" fmla="*/ 0 h 547528"/>
                  <a:gd name="connsiteX1" fmla="*/ 2627334 w 5219700"/>
                  <a:gd name="connsiteY1" fmla="*/ 547481 h 547528"/>
                  <a:gd name="connsiteX2" fmla="*/ 5219700 w 5219700"/>
                  <a:gd name="connsiteY2" fmla="*/ 19050 h 547528"/>
                  <a:gd name="connsiteX0" fmla="*/ 0 w 5219700"/>
                  <a:gd name="connsiteY0" fmla="*/ 0 h 547528"/>
                  <a:gd name="connsiteX1" fmla="*/ 2627334 w 5219700"/>
                  <a:gd name="connsiteY1" fmla="*/ 547481 h 547528"/>
                  <a:gd name="connsiteX2" fmla="*/ 5219700 w 5219700"/>
                  <a:gd name="connsiteY2" fmla="*/ 19050 h 547528"/>
                  <a:gd name="connsiteX0" fmla="*/ 0 w 5219700"/>
                  <a:gd name="connsiteY0" fmla="*/ 0 h 547528"/>
                  <a:gd name="connsiteX1" fmla="*/ 2627334 w 5219700"/>
                  <a:gd name="connsiteY1" fmla="*/ 547481 h 547528"/>
                  <a:gd name="connsiteX2" fmla="*/ 5219700 w 5219700"/>
                  <a:gd name="connsiteY2" fmla="*/ 19050 h 547528"/>
                  <a:gd name="connsiteX0" fmla="*/ 0 w 5219700"/>
                  <a:gd name="connsiteY0" fmla="*/ 0 h 457028"/>
                  <a:gd name="connsiteX1" fmla="*/ 2597196 w 5219700"/>
                  <a:gd name="connsiteY1" fmla="*/ 456923 h 457028"/>
                  <a:gd name="connsiteX2" fmla="*/ 5219700 w 5219700"/>
                  <a:gd name="connsiteY2" fmla="*/ 19050 h 457028"/>
                  <a:gd name="connsiteX0" fmla="*/ 0 w 5219700"/>
                  <a:gd name="connsiteY0" fmla="*/ 0 h 370210"/>
                  <a:gd name="connsiteX1" fmla="*/ 2627334 w 5219700"/>
                  <a:gd name="connsiteY1" fmla="*/ 366369 h 370210"/>
                  <a:gd name="connsiteX2" fmla="*/ 5219700 w 5219700"/>
                  <a:gd name="connsiteY2" fmla="*/ 19050 h 370210"/>
                  <a:gd name="connsiteX0" fmla="*/ 0 w 5219700"/>
                  <a:gd name="connsiteY0" fmla="*/ 0 h 370209"/>
                  <a:gd name="connsiteX1" fmla="*/ 2627334 w 5219700"/>
                  <a:gd name="connsiteY1" fmla="*/ 366369 h 370209"/>
                  <a:gd name="connsiteX2" fmla="*/ 5219700 w 5219700"/>
                  <a:gd name="connsiteY2" fmla="*/ 19050 h 370209"/>
                  <a:gd name="connsiteX0" fmla="*/ 0 w 5219700"/>
                  <a:gd name="connsiteY0" fmla="*/ 0 h 366430"/>
                  <a:gd name="connsiteX1" fmla="*/ 2627334 w 5219700"/>
                  <a:gd name="connsiteY1" fmla="*/ 366369 h 366430"/>
                  <a:gd name="connsiteX2" fmla="*/ 5219700 w 5219700"/>
                  <a:gd name="connsiteY2" fmla="*/ 19050 h 366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19700" h="366430">
                    <a:moveTo>
                      <a:pt x="0" y="0"/>
                    </a:moveTo>
                    <a:cubicBezTo>
                      <a:pt x="908049" y="275693"/>
                      <a:pt x="1938217" y="363194"/>
                      <a:pt x="2627334" y="366369"/>
                    </a:cubicBezTo>
                    <a:cubicBezTo>
                      <a:pt x="3316451" y="369544"/>
                      <a:pt x="4586285" y="251093"/>
                      <a:pt x="5219700" y="19050"/>
                    </a:cubicBezTo>
                  </a:path>
                </a:pathLst>
              </a:custGeom>
              <a:noFill/>
              <a:ln w="22225">
                <a:gradFill flip="none" rotWithShape="1">
                  <a:gsLst>
                    <a:gs pos="100000">
                      <a:schemeClr val="bg1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5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任意多边形 80">
                <a:extLst>
                  <a:ext uri="{FF2B5EF4-FFF2-40B4-BE49-F238E27FC236}">
                    <a16:creationId xmlns:a16="http://schemas.microsoft.com/office/drawing/2014/main" id="{B1DF81A4-A54F-D5C1-D9DF-6C22AF8DE314}"/>
                  </a:ext>
                </a:extLst>
              </p:cNvPr>
              <p:cNvSpPr/>
              <p:nvPr/>
            </p:nvSpPr>
            <p:spPr>
              <a:xfrm rot="16200000" flipV="1">
                <a:off x="4887059" y="2685545"/>
                <a:ext cx="2357384" cy="385546"/>
              </a:xfrm>
              <a:custGeom>
                <a:avLst/>
                <a:gdLst>
                  <a:gd name="connsiteX0" fmla="*/ 0 w 8763000"/>
                  <a:gd name="connsiteY0" fmla="*/ 186161 h 2272136"/>
                  <a:gd name="connsiteX1" fmla="*/ 5676900 w 8763000"/>
                  <a:gd name="connsiteY1" fmla="*/ 205211 h 2272136"/>
                  <a:gd name="connsiteX2" fmla="*/ 8763000 w 8763000"/>
                  <a:gd name="connsiteY2" fmla="*/ 2272136 h 2272136"/>
                  <a:gd name="connsiteX0" fmla="*/ 0 w 8763000"/>
                  <a:gd name="connsiteY0" fmla="*/ 19437 h 2105412"/>
                  <a:gd name="connsiteX1" fmla="*/ 2600325 w 8763000"/>
                  <a:gd name="connsiteY1" fmla="*/ 1124337 h 2105412"/>
                  <a:gd name="connsiteX2" fmla="*/ 8763000 w 8763000"/>
                  <a:gd name="connsiteY2" fmla="*/ 2105412 h 2105412"/>
                  <a:gd name="connsiteX0" fmla="*/ 0 w 8763000"/>
                  <a:gd name="connsiteY0" fmla="*/ 0 h 2085975"/>
                  <a:gd name="connsiteX1" fmla="*/ 2600325 w 8763000"/>
                  <a:gd name="connsiteY1" fmla="*/ 1104900 h 2085975"/>
                  <a:gd name="connsiteX2" fmla="*/ 8763000 w 8763000"/>
                  <a:gd name="connsiteY2" fmla="*/ 2085975 h 2085975"/>
                  <a:gd name="connsiteX0" fmla="*/ 0 w 5229225"/>
                  <a:gd name="connsiteY0" fmla="*/ 0 h 1106434"/>
                  <a:gd name="connsiteX1" fmla="*/ 2600325 w 5229225"/>
                  <a:gd name="connsiteY1" fmla="*/ 1104900 h 1106434"/>
                  <a:gd name="connsiteX2" fmla="*/ 5229225 w 5229225"/>
                  <a:gd name="connsiteY2" fmla="*/ 304800 h 1106434"/>
                  <a:gd name="connsiteX0" fmla="*/ 0 w 5229225"/>
                  <a:gd name="connsiteY0" fmla="*/ 0 h 1109537"/>
                  <a:gd name="connsiteX1" fmla="*/ 2600325 w 5229225"/>
                  <a:gd name="connsiteY1" fmla="*/ 1104900 h 1109537"/>
                  <a:gd name="connsiteX2" fmla="*/ 5229225 w 5229225"/>
                  <a:gd name="connsiteY2" fmla="*/ 304800 h 1109537"/>
                  <a:gd name="connsiteX0" fmla="*/ 0 w 5229225"/>
                  <a:gd name="connsiteY0" fmla="*/ 0 h 858724"/>
                  <a:gd name="connsiteX1" fmla="*/ 2867025 w 5229225"/>
                  <a:gd name="connsiteY1" fmla="*/ 847725 h 858724"/>
                  <a:gd name="connsiteX2" fmla="*/ 5229225 w 5229225"/>
                  <a:gd name="connsiteY2" fmla="*/ 304800 h 858724"/>
                  <a:gd name="connsiteX0" fmla="*/ 0 w 5219700"/>
                  <a:gd name="connsiteY0" fmla="*/ 0 h 847746"/>
                  <a:gd name="connsiteX1" fmla="*/ 2867025 w 5219700"/>
                  <a:gd name="connsiteY1" fmla="*/ 847725 h 847746"/>
                  <a:gd name="connsiteX2" fmla="*/ 5219700 w 5219700"/>
                  <a:gd name="connsiteY2" fmla="*/ 19050 h 847746"/>
                  <a:gd name="connsiteX0" fmla="*/ 0 w 5219700"/>
                  <a:gd name="connsiteY0" fmla="*/ 0 h 819173"/>
                  <a:gd name="connsiteX1" fmla="*/ 2657475 w 5219700"/>
                  <a:gd name="connsiteY1" fmla="*/ 819150 h 819173"/>
                  <a:gd name="connsiteX2" fmla="*/ 5219700 w 5219700"/>
                  <a:gd name="connsiteY2" fmla="*/ 19050 h 819173"/>
                  <a:gd name="connsiteX0" fmla="*/ 0 w 5219700"/>
                  <a:gd name="connsiteY0" fmla="*/ 0 h 547607"/>
                  <a:gd name="connsiteX1" fmla="*/ 2627334 w 5219700"/>
                  <a:gd name="connsiteY1" fmla="*/ 547481 h 547607"/>
                  <a:gd name="connsiteX2" fmla="*/ 5219700 w 5219700"/>
                  <a:gd name="connsiteY2" fmla="*/ 19050 h 547607"/>
                  <a:gd name="connsiteX0" fmla="*/ 0 w 5219700"/>
                  <a:gd name="connsiteY0" fmla="*/ 0 h 547528"/>
                  <a:gd name="connsiteX1" fmla="*/ 2627334 w 5219700"/>
                  <a:gd name="connsiteY1" fmla="*/ 547481 h 547528"/>
                  <a:gd name="connsiteX2" fmla="*/ 5219700 w 5219700"/>
                  <a:gd name="connsiteY2" fmla="*/ 19050 h 547528"/>
                  <a:gd name="connsiteX0" fmla="*/ 0 w 5219700"/>
                  <a:gd name="connsiteY0" fmla="*/ 0 h 547528"/>
                  <a:gd name="connsiteX1" fmla="*/ 2627334 w 5219700"/>
                  <a:gd name="connsiteY1" fmla="*/ 547481 h 547528"/>
                  <a:gd name="connsiteX2" fmla="*/ 5219700 w 5219700"/>
                  <a:gd name="connsiteY2" fmla="*/ 19050 h 547528"/>
                  <a:gd name="connsiteX0" fmla="*/ 0 w 5219700"/>
                  <a:gd name="connsiteY0" fmla="*/ 0 h 547528"/>
                  <a:gd name="connsiteX1" fmla="*/ 2627334 w 5219700"/>
                  <a:gd name="connsiteY1" fmla="*/ 547481 h 547528"/>
                  <a:gd name="connsiteX2" fmla="*/ 5219700 w 5219700"/>
                  <a:gd name="connsiteY2" fmla="*/ 19050 h 547528"/>
                  <a:gd name="connsiteX0" fmla="*/ 0 w 5219700"/>
                  <a:gd name="connsiteY0" fmla="*/ 0 h 457028"/>
                  <a:gd name="connsiteX1" fmla="*/ 2597196 w 5219700"/>
                  <a:gd name="connsiteY1" fmla="*/ 456923 h 457028"/>
                  <a:gd name="connsiteX2" fmla="*/ 5219700 w 5219700"/>
                  <a:gd name="connsiteY2" fmla="*/ 19050 h 457028"/>
                  <a:gd name="connsiteX0" fmla="*/ 0 w 5219700"/>
                  <a:gd name="connsiteY0" fmla="*/ 0 h 370210"/>
                  <a:gd name="connsiteX1" fmla="*/ 2627334 w 5219700"/>
                  <a:gd name="connsiteY1" fmla="*/ 366369 h 370210"/>
                  <a:gd name="connsiteX2" fmla="*/ 5219700 w 5219700"/>
                  <a:gd name="connsiteY2" fmla="*/ 19050 h 370210"/>
                  <a:gd name="connsiteX0" fmla="*/ 0 w 5219700"/>
                  <a:gd name="connsiteY0" fmla="*/ 0 h 370209"/>
                  <a:gd name="connsiteX1" fmla="*/ 2627334 w 5219700"/>
                  <a:gd name="connsiteY1" fmla="*/ 366369 h 370209"/>
                  <a:gd name="connsiteX2" fmla="*/ 5219700 w 5219700"/>
                  <a:gd name="connsiteY2" fmla="*/ 19050 h 370209"/>
                  <a:gd name="connsiteX0" fmla="*/ 0 w 5219700"/>
                  <a:gd name="connsiteY0" fmla="*/ 0 h 366430"/>
                  <a:gd name="connsiteX1" fmla="*/ 2627334 w 5219700"/>
                  <a:gd name="connsiteY1" fmla="*/ 366369 h 366430"/>
                  <a:gd name="connsiteX2" fmla="*/ 5219700 w 5219700"/>
                  <a:gd name="connsiteY2" fmla="*/ 19050 h 366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19700" h="366430">
                    <a:moveTo>
                      <a:pt x="0" y="0"/>
                    </a:moveTo>
                    <a:cubicBezTo>
                      <a:pt x="908049" y="275693"/>
                      <a:pt x="1938217" y="363194"/>
                      <a:pt x="2627334" y="366369"/>
                    </a:cubicBezTo>
                    <a:cubicBezTo>
                      <a:pt x="3316451" y="369544"/>
                      <a:pt x="4586285" y="251093"/>
                      <a:pt x="5219700" y="19050"/>
                    </a:cubicBezTo>
                  </a:path>
                </a:pathLst>
              </a:custGeom>
              <a:noFill/>
              <a:ln w="22225">
                <a:gradFill flip="none" rotWithShape="1">
                  <a:gsLst>
                    <a:gs pos="100000">
                      <a:schemeClr val="bg1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5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B6891E13-7476-C4FB-473E-B647D497CE97}"/>
                </a:ext>
              </a:extLst>
            </p:cNvPr>
            <p:cNvSpPr/>
            <p:nvPr/>
          </p:nvSpPr>
          <p:spPr>
            <a:xfrm rot="5400000">
              <a:off x="2295761" y="1696726"/>
              <a:ext cx="646656" cy="3295080"/>
            </a:xfrm>
            <a:prstGeom prst="ellipse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95302B3C-4176-A68F-7D4B-B92EA72CA632}"/>
                </a:ext>
              </a:extLst>
            </p:cNvPr>
            <p:cNvGrpSpPr/>
            <p:nvPr/>
          </p:nvGrpSpPr>
          <p:grpSpPr>
            <a:xfrm>
              <a:off x="5140498" y="1348059"/>
              <a:ext cx="2604342" cy="900681"/>
              <a:chOff x="-2047101" y="1395042"/>
              <a:chExt cx="4453799" cy="1299123"/>
            </a:xfrm>
          </p:grpSpPr>
          <p:sp>
            <p:nvSpPr>
              <p:cNvPr id="156" name="圆角矩形 97">
                <a:extLst>
                  <a:ext uri="{FF2B5EF4-FFF2-40B4-BE49-F238E27FC236}">
                    <a16:creationId xmlns:a16="http://schemas.microsoft.com/office/drawing/2014/main" id="{AE157CAF-D9CE-12BB-FDA0-57C3CF09633E}"/>
                  </a:ext>
                </a:extLst>
              </p:cNvPr>
              <p:cNvSpPr/>
              <p:nvPr/>
            </p:nvSpPr>
            <p:spPr>
              <a:xfrm>
                <a:off x="-2047101" y="1395042"/>
                <a:ext cx="4453799" cy="1299123"/>
              </a:xfrm>
              <a:prstGeom prst="roundRect">
                <a:avLst>
                  <a:gd name="adj" fmla="val 8693"/>
                </a:avLst>
              </a:prstGeom>
              <a:solidFill>
                <a:schemeClr val="lt1">
                  <a:alpha val="49000"/>
                </a:schemeClr>
              </a:solidFill>
              <a:ln>
                <a:solidFill>
                  <a:schemeClr val="accent1">
                    <a:alpha val="31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sz="9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Terminal</a:t>
                </a:r>
              </a:p>
            </p:txBody>
          </p:sp>
          <p:pic>
            <p:nvPicPr>
              <p:cNvPr id="157" name="图片 156">
                <a:extLst>
                  <a:ext uri="{FF2B5EF4-FFF2-40B4-BE49-F238E27FC236}">
                    <a16:creationId xmlns:a16="http://schemas.microsoft.com/office/drawing/2014/main" id="{76883856-A90D-B218-C4BB-7237C2440E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92" t="15680" r="6707" b="9702"/>
              <a:stretch/>
            </p:blipFill>
            <p:spPr>
              <a:xfrm>
                <a:off x="-2047100" y="1480457"/>
                <a:ext cx="2375843" cy="1074057"/>
              </a:xfrm>
              <a:prstGeom prst="rect">
                <a:avLst/>
              </a:prstGeom>
            </p:spPr>
          </p:pic>
        </p:grpSp>
        <p:sp>
          <p:nvSpPr>
            <p:cNvPr id="135" name="圆角矩形 23">
              <a:extLst>
                <a:ext uri="{FF2B5EF4-FFF2-40B4-BE49-F238E27FC236}">
                  <a16:creationId xmlns:a16="http://schemas.microsoft.com/office/drawing/2014/main" id="{D2DFDF3E-2540-EAB6-BF4A-879F479A8428}"/>
                </a:ext>
              </a:extLst>
            </p:cNvPr>
            <p:cNvSpPr/>
            <p:nvPr/>
          </p:nvSpPr>
          <p:spPr>
            <a:xfrm>
              <a:off x="5016171" y="2857911"/>
              <a:ext cx="2852996" cy="900681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49000"/>
              </a:schemeClr>
            </a:solidFill>
            <a:ln>
              <a:solidFill>
                <a:schemeClr val="accent1">
                  <a:alpha val="31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9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Cloud-</a:t>
              </a:r>
            </a:p>
            <a:p>
              <a:pPr algn="r"/>
              <a:r>
                <a:rPr lang="en-US" altLang="zh-CN" sz="9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Base</a:t>
              </a:r>
              <a:endParaRPr lang="zh-CN" altLang="en-US" sz="9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圆角矩形 24">
              <a:extLst>
                <a:ext uri="{FF2B5EF4-FFF2-40B4-BE49-F238E27FC236}">
                  <a16:creationId xmlns:a16="http://schemas.microsoft.com/office/drawing/2014/main" id="{21AA1CB5-2C10-32A5-F3DD-FEB1C4411EF1}"/>
                </a:ext>
              </a:extLst>
            </p:cNvPr>
            <p:cNvSpPr/>
            <p:nvPr/>
          </p:nvSpPr>
          <p:spPr>
            <a:xfrm>
              <a:off x="5140498" y="4500013"/>
              <a:ext cx="2604342" cy="900681"/>
            </a:xfrm>
            <a:prstGeom prst="roundRect">
              <a:avLst>
                <a:gd name="adj" fmla="val 8693"/>
              </a:avLst>
            </a:prstGeom>
            <a:solidFill>
              <a:schemeClr val="lt1">
                <a:alpha val="49000"/>
              </a:schemeClr>
            </a:solidFill>
            <a:ln>
              <a:solidFill>
                <a:schemeClr val="accent1">
                  <a:alpha val="31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9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Computing &amp; Data Center </a:t>
              </a:r>
              <a:endParaRPr lang="zh-CN" altLang="en-US" sz="9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圆角矩形 29">
              <a:extLst>
                <a:ext uri="{FF2B5EF4-FFF2-40B4-BE49-F238E27FC236}">
                  <a16:creationId xmlns:a16="http://schemas.microsoft.com/office/drawing/2014/main" id="{70B4B9B6-6672-CB43-72C1-692AA6861BD8}"/>
                </a:ext>
              </a:extLst>
            </p:cNvPr>
            <p:cNvSpPr/>
            <p:nvPr/>
          </p:nvSpPr>
          <p:spPr>
            <a:xfrm>
              <a:off x="1024873" y="4152093"/>
              <a:ext cx="1294126" cy="42401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Archiving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圆角矩形 30">
              <a:extLst>
                <a:ext uri="{FF2B5EF4-FFF2-40B4-BE49-F238E27FC236}">
                  <a16:creationId xmlns:a16="http://schemas.microsoft.com/office/drawing/2014/main" id="{0FA8E76C-30C4-1864-565B-3CFF1C484446}"/>
                </a:ext>
              </a:extLst>
            </p:cNvPr>
            <p:cNvSpPr/>
            <p:nvPr/>
          </p:nvSpPr>
          <p:spPr>
            <a:xfrm>
              <a:off x="2654724" y="4173898"/>
              <a:ext cx="1444644" cy="424022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Processing 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圆角矩形 32">
              <a:extLst>
                <a:ext uri="{FF2B5EF4-FFF2-40B4-BE49-F238E27FC236}">
                  <a16:creationId xmlns:a16="http://schemas.microsoft.com/office/drawing/2014/main" id="{ABEFA6CE-3773-3B92-614F-79B31ADE4652}"/>
                </a:ext>
              </a:extLst>
            </p:cNvPr>
            <p:cNvSpPr/>
            <p:nvPr/>
          </p:nvSpPr>
          <p:spPr>
            <a:xfrm>
              <a:off x="435236" y="1673322"/>
              <a:ext cx="1300802" cy="50044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OTA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圆角矩形 34">
              <a:extLst>
                <a:ext uri="{FF2B5EF4-FFF2-40B4-BE49-F238E27FC236}">
                  <a16:creationId xmlns:a16="http://schemas.microsoft.com/office/drawing/2014/main" id="{EF30EDBD-3E4E-B826-6CB0-D26C72BA6A10}"/>
                </a:ext>
              </a:extLst>
            </p:cNvPr>
            <p:cNvSpPr/>
            <p:nvPr/>
          </p:nvSpPr>
          <p:spPr>
            <a:xfrm>
              <a:off x="2644017" y="1852027"/>
              <a:ext cx="1300802" cy="50044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Entity Fusion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1" name="图片 140">
              <a:extLst>
                <a:ext uri="{FF2B5EF4-FFF2-40B4-BE49-F238E27FC236}">
                  <a16:creationId xmlns:a16="http://schemas.microsoft.com/office/drawing/2014/main" id="{905B9C56-E2AD-E1F0-42B0-9138CB796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16171" y="4496872"/>
              <a:ext cx="1186904" cy="999499"/>
            </a:xfrm>
            <a:prstGeom prst="rect">
              <a:avLst/>
            </a:prstGeom>
          </p:spPr>
        </p:pic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589B9E45-634A-5DE8-C767-3D055EFA54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79" t="19635" r="26756" b="25049"/>
            <a:stretch/>
          </p:blipFill>
          <p:spPr>
            <a:xfrm>
              <a:off x="1871707" y="2779742"/>
              <a:ext cx="1554244" cy="925848"/>
            </a:xfrm>
            <a:prstGeom prst="rect">
              <a:avLst/>
            </a:prstGeom>
          </p:spPr>
        </p:pic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1B8611D4-80AF-069F-54C1-326C5CF5F20E}"/>
                </a:ext>
              </a:extLst>
            </p:cNvPr>
            <p:cNvSpPr/>
            <p:nvPr/>
          </p:nvSpPr>
          <p:spPr>
            <a:xfrm>
              <a:off x="2051404" y="2827167"/>
              <a:ext cx="1187516" cy="83545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77"/>
              <a:r>
                <a:rPr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IoT</a:t>
              </a:r>
              <a:endParaRPr lang="zh-CN" altLang="en-US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34052040-63A4-8292-EAE4-842305922D67}"/>
                </a:ext>
              </a:extLst>
            </p:cNvPr>
            <p:cNvGrpSpPr/>
            <p:nvPr/>
          </p:nvGrpSpPr>
          <p:grpSpPr>
            <a:xfrm rot="1822854">
              <a:off x="1730597" y="2336921"/>
              <a:ext cx="1809114" cy="1811492"/>
              <a:chOff x="4980475" y="3215608"/>
              <a:chExt cx="3738745" cy="3743664"/>
            </a:xfr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p:grpSpPr>
          <p:sp>
            <p:nvSpPr>
              <p:cNvPr id="153" name="环形箭头 40">
                <a:extLst>
                  <a:ext uri="{FF2B5EF4-FFF2-40B4-BE49-F238E27FC236}">
                    <a16:creationId xmlns:a16="http://schemas.microsoft.com/office/drawing/2014/main" id="{06FDFD9A-6D07-5056-6EA0-AF942D22094A}"/>
                  </a:ext>
                </a:extLst>
              </p:cNvPr>
              <p:cNvSpPr/>
              <p:nvPr/>
            </p:nvSpPr>
            <p:spPr>
              <a:xfrm rot="19375540" flipH="1">
                <a:off x="4980475" y="3230214"/>
                <a:ext cx="3729058" cy="3729058"/>
              </a:xfrm>
              <a:prstGeom prst="circularArrow">
                <a:avLst>
                  <a:gd name="adj1" fmla="val 9270"/>
                  <a:gd name="adj2" fmla="val 952117"/>
                  <a:gd name="adj3" fmla="val 20175815"/>
                  <a:gd name="adj4" fmla="val 17726449"/>
                  <a:gd name="adj5" fmla="val 8547"/>
                </a:avLst>
              </a:prstGeom>
              <a:gradFill>
                <a:gsLst>
                  <a:gs pos="100000">
                    <a:schemeClr val="accent1">
                      <a:tint val="66000"/>
                      <a:satMod val="160000"/>
                    </a:schemeClr>
                  </a:gs>
                  <a:gs pos="0">
                    <a:schemeClr val="accent1">
                      <a:tint val="44500"/>
                      <a:satMod val="160000"/>
                      <a:alpha val="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4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7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环形箭头 41">
                <a:extLst>
                  <a:ext uri="{FF2B5EF4-FFF2-40B4-BE49-F238E27FC236}">
                    <a16:creationId xmlns:a16="http://schemas.microsoft.com/office/drawing/2014/main" id="{0EA9742B-B6EE-DB34-8F77-DFC57D381321}"/>
                  </a:ext>
                </a:extLst>
              </p:cNvPr>
              <p:cNvSpPr/>
              <p:nvPr/>
            </p:nvSpPr>
            <p:spPr>
              <a:xfrm rot="12129046" flipH="1">
                <a:off x="4984598" y="3215608"/>
                <a:ext cx="3729058" cy="3729058"/>
              </a:xfrm>
              <a:prstGeom prst="circularArrow">
                <a:avLst>
                  <a:gd name="adj1" fmla="val 9270"/>
                  <a:gd name="adj2" fmla="val 952117"/>
                  <a:gd name="adj3" fmla="val 20175815"/>
                  <a:gd name="adj4" fmla="val 17583254"/>
                  <a:gd name="adj5" fmla="val 8547"/>
                </a:avLst>
              </a:prstGeom>
              <a:gradFill>
                <a:gsLst>
                  <a:gs pos="100000">
                    <a:schemeClr val="accent1">
                      <a:tint val="66000"/>
                      <a:satMod val="160000"/>
                    </a:schemeClr>
                  </a:gs>
                  <a:gs pos="0">
                    <a:schemeClr val="accent1">
                      <a:tint val="44500"/>
                      <a:satMod val="160000"/>
                      <a:alpha val="1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7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环形箭头 42">
                <a:extLst>
                  <a:ext uri="{FF2B5EF4-FFF2-40B4-BE49-F238E27FC236}">
                    <a16:creationId xmlns:a16="http://schemas.microsoft.com/office/drawing/2014/main" id="{0CF34A03-4E7C-DBF0-BD10-ED12AD388399}"/>
                  </a:ext>
                </a:extLst>
              </p:cNvPr>
              <p:cNvSpPr/>
              <p:nvPr/>
            </p:nvSpPr>
            <p:spPr>
              <a:xfrm rot="5205854" flipH="1">
                <a:off x="4990162" y="3220677"/>
                <a:ext cx="3729058" cy="3729058"/>
              </a:xfrm>
              <a:prstGeom prst="circularArrow">
                <a:avLst>
                  <a:gd name="adj1" fmla="val 9270"/>
                  <a:gd name="adj2" fmla="val 952117"/>
                  <a:gd name="adj3" fmla="val 20175815"/>
                  <a:gd name="adj4" fmla="val 17313525"/>
                  <a:gd name="adj5" fmla="val 8547"/>
                </a:avLst>
              </a:prstGeom>
              <a:gradFill>
                <a:gsLst>
                  <a:gs pos="100000">
                    <a:schemeClr val="accent1">
                      <a:tint val="66000"/>
                      <a:satMod val="160000"/>
                    </a:schemeClr>
                  </a:gs>
                  <a:gs pos="0">
                    <a:schemeClr val="accent1">
                      <a:tint val="44500"/>
                      <a:satMod val="160000"/>
                      <a:alpha val="21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4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7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D21B6439-21CE-F5BB-532D-A93894A104DE}"/>
                </a:ext>
              </a:extLst>
            </p:cNvPr>
            <p:cNvSpPr/>
            <p:nvPr/>
          </p:nvSpPr>
          <p:spPr>
            <a:xfrm rot="5400000">
              <a:off x="2258467" y="3086494"/>
              <a:ext cx="721245" cy="367515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27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圆角矩形 26">
              <a:extLst>
                <a:ext uri="{FF2B5EF4-FFF2-40B4-BE49-F238E27FC236}">
                  <a16:creationId xmlns:a16="http://schemas.microsoft.com/office/drawing/2014/main" id="{5A42E03C-CDCC-80E5-4242-70CA2F57FA17}"/>
                </a:ext>
              </a:extLst>
            </p:cNvPr>
            <p:cNvSpPr/>
            <p:nvPr/>
          </p:nvSpPr>
          <p:spPr>
            <a:xfrm>
              <a:off x="315246" y="4785140"/>
              <a:ext cx="1436846" cy="50044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Remote Monitoring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圆角矩形 27">
              <a:extLst>
                <a:ext uri="{FF2B5EF4-FFF2-40B4-BE49-F238E27FC236}">
                  <a16:creationId xmlns:a16="http://schemas.microsoft.com/office/drawing/2014/main" id="{122EBA7B-D88B-6A12-DC0F-69C4C4A6E020}"/>
                </a:ext>
              </a:extLst>
            </p:cNvPr>
            <p:cNvSpPr/>
            <p:nvPr/>
          </p:nvSpPr>
          <p:spPr>
            <a:xfrm>
              <a:off x="1957576" y="5124149"/>
              <a:ext cx="1304039" cy="50044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Fault Diagnosis 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圆角矩形 28">
              <a:extLst>
                <a:ext uri="{FF2B5EF4-FFF2-40B4-BE49-F238E27FC236}">
                  <a16:creationId xmlns:a16="http://schemas.microsoft.com/office/drawing/2014/main" id="{4867A4F9-5AFB-1FFA-9AA1-D26846DA3DF3}"/>
                </a:ext>
              </a:extLst>
            </p:cNvPr>
            <p:cNvSpPr/>
            <p:nvPr/>
          </p:nvSpPr>
          <p:spPr>
            <a:xfrm>
              <a:off x="3579605" y="4789668"/>
              <a:ext cx="1300802" cy="500449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Early</a:t>
              </a: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Warning</a:t>
              </a:r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9" name="图片 148">
              <a:extLst>
                <a:ext uri="{FF2B5EF4-FFF2-40B4-BE49-F238E27FC236}">
                  <a16:creationId xmlns:a16="http://schemas.microsoft.com/office/drawing/2014/main" id="{8356F54D-69F7-AB06-96DD-7B7B6222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498" y="2985317"/>
              <a:ext cx="1123950" cy="632358"/>
            </a:xfrm>
            <a:prstGeom prst="rect">
              <a:avLst/>
            </a:prstGeom>
          </p:spPr>
        </p:pic>
        <p:sp>
          <p:nvSpPr>
            <p:cNvPr id="150" name="上下箭头 5">
              <a:extLst>
                <a:ext uri="{FF2B5EF4-FFF2-40B4-BE49-F238E27FC236}">
                  <a16:creationId xmlns:a16="http://schemas.microsoft.com/office/drawing/2014/main" id="{A1B863CE-777D-C416-9747-0AB8FBBFE481}"/>
                </a:ext>
              </a:extLst>
            </p:cNvPr>
            <p:cNvSpPr/>
            <p:nvPr/>
          </p:nvSpPr>
          <p:spPr>
            <a:xfrm>
              <a:off x="6293474" y="2307958"/>
              <a:ext cx="291428" cy="513546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上下箭头 48">
              <a:extLst>
                <a:ext uri="{FF2B5EF4-FFF2-40B4-BE49-F238E27FC236}">
                  <a16:creationId xmlns:a16="http://schemas.microsoft.com/office/drawing/2014/main" id="{64F9FA57-2C8F-6D88-00DD-EDC1E66A3117}"/>
                </a:ext>
              </a:extLst>
            </p:cNvPr>
            <p:cNvSpPr/>
            <p:nvPr/>
          </p:nvSpPr>
          <p:spPr>
            <a:xfrm>
              <a:off x="6293474" y="3854217"/>
              <a:ext cx="291428" cy="513546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61E15835-8F6E-BCBA-C0D1-F3F864163543}"/>
                </a:ext>
              </a:extLst>
            </p:cNvPr>
            <p:cNvSpPr txBox="1"/>
            <p:nvPr/>
          </p:nvSpPr>
          <p:spPr>
            <a:xfrm>
              <a:off x="2567382" y="2940070"/>
              <a:ext cx="1793048" cy="759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Entity </a:t>
              </a:r>
            </a:p>
            <a:p>
              <a:pPr algn="ctr"/>
              <a:r>
                <a:rPr lang="en-US" altLang="zh-CN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Fusion</a:t>
              </a:r>
              <a:endParaRPr lang="zh-CN" altLang="en-US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952A16A4-2BE2-B009-2250-072C0A78C0E5}"/>
              </a:ext>
            </a:extLst>
          </p:cNvPr>
          <p:cNvSpPr/>
          <p:nvPr/>
        </p:nvSpPr>
        <p:spPr>
          <a:xfrm>
            <a:off x="569241" y="4974474"/>
            <a:ext cx="594500" cy="173248"/>
          </a:xfrm>
          <a:prstGeom prst="roundRect">
            <a:avLst/>
          </a:prstGeom>
          <a:solidFill>
            <a:srgbClr val="303B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>
                <a:solidFill>
                  <a:schemeClr val="bg1">
                    <a:lumMod val="7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Informer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3F72996A-634C-BFA2-A80D-7FA9E5B404B4}"/>
              </a:ext>
            </a:extLst>
          </p:cNvPr>
          <p:cNvSpPr/>
          <p:nvPr/>
        </p:nvSpPr>
        <p:spPr>
          <a:xfrm>
            <a:off x="569240" y="5207611"/>
            <a:ext cx="722349" cy="173248"/>
          </a:xfrm>
          <a:prstGeom prst="roundRect">
            <a:avLst/>
          </a:prstGeom>
          <a:solidFill>
            <a:schemeClr val="accent4">
              <a:lumMod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>
                <a:solidFill>
                  <a:schemeClr val="bg1">
                    <a:lumMod val="7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PatchTST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71041646-D824-6CE7-985C-FE911CD583D6}"/>
              </a:ext>
            </a:extLst>
          </p:cNvPr>
          <p:cNvSpPr/>
          <p:nvPr/>
        </p:nvSpPr>
        <p:spPr>
          <a:xfrm>
            <a:off x="1222655" y="4979728"/>
            <a:ext cx="636625" cy="173248"/>
          </a:xfrm>
          <a:prstGeom prst="roundRect">
            <a:avLst/>
          </a:prstGeom>
          <a:solidFill>
            <a:schemeClr val="accent6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>
                <a:solidFill>
                  <a:schemeClr val="bg1">
                    <a:lumMod val="7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PatchTST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FCA15001-5707-0869-59B2-ACD5A6E9E929}"/>
              </a:ext>
            </a:extLst>
          </p:cNvPr>
          <p:cNvSpPr/>
          <p:nvPr/>
        </p:nvSpPr>
        <p:spPr>
          <a:xfrm>
            <a:off x="1328261" y="5207756"/>
            <a:ext cx="1074771" cy="173248"/>
          </a:xfrm>
          <a:prstGeom prst="roundRect">
            <a:avLst/>
          </a:prstGeom>
          <a:solidFill>
            <a:srgbClr val="622D12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>
                <a:solidFill>
                  <a:schemeClr val="bg1">
                    <a:lumMod val="7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State Space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1A30BFC5-2431-C46C-7298-6D11D34BBEA9}"/>
              </a:ext>
            </a:extLst>
          </p:cNvPr>
          <p:cNvSpPr/>
          <p:nvPr/>
        </p:nvSpPr>
        <p:spPr>
          <a:xfrm>
            <a:off x="1885950" y="4979728"/>
            <a:ext cx="517082" cy="173248"/>
          </a:xfrm>
          <a:prstGeom prst="roundRect">
            <a:avLst/>
          </a:prstGeom>
          <a:solidFill>
            <a:schemeClr val="accent5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</a:rPr>
              <a:t>VAE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F67E1FCC-AE8A-D76E-CCE8-C56DAD198449}"/>
              </a:ext>
            </a:extLst>
          </p:cNvPr>
          <p:cNvSpPr/>
          <p:nvPr/>
        </p:nvSpPr>
        <p:spPr>
          <a:xfrm>
            <a:off x="6424129" y="1728655"/>
            <a:ext cx="2508459" cy="308267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b="1"/>
              <a:t>API</a:t>
            </a:r>
            <a:r>
              <a:rPr lang="zh-CN" altLang="en-US" sz="500" b="1"/>
              <a:t>输入层</a:t>
            </a:r>
            <a:endParaRPr lang="zh-CN" altLang="en-US" sz="500" b="1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56183119-E92A-76BA-FDE9-F0EDAE443EB0}"/>
              </a:ext>
            </a:extLst>
          </p:cNvPr>
          <p:cNvSpPr/>
          <p:nvPr/>
        </p:nvSpPr>
        <p:spPr>
          <a:xfrm>
            <a:off x="7167273" y="1817217"/>
            <a:ext cx="583363" cy="128827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边界参数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E49F61B4-C5AC-023E-70C1-F32C3DECAB21}"/>
              </a:ext>
            </a:extLst>
          </p:cNvPr>
          <p:cNvSpPr/>
          <p:nvPr/>
        </p:nvSpPr>
        <p:spPr>
          <a:xfrm>
            <a:off x="7851977" y="1817217"/>
            <a:ext cx="583363" cy="128827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主要参数</a:t>
            </a:r>
            <a:endParaRPr lang="en-US" altLang="zh-CN" sz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7A7B47BA-CCD5-C1F0-F0BB-9D3298C39E7D}"/>
              </a:ext>
            </a:extLst>
          </p:cNvPr>
          <p:cNvSpPr/>
          <p:nvPr/>
        </p:nvSpPr>
        <p:spPr>
          <a:xfrm>
            <a:off x="6424129" y="2036922"/>
            <a:ext cx="2508459" cy="308267"/>
          </a:xfrm>
          <a:prstGeom prst="rect">
            <a:avLst/>
          </a:prstGeom>
          <a:gradFill flip="none" rotWithShape="1">
            <a:gsLst>
              <a:gs pos="21000">
                <a:schemeClr val="accent1">
                  <a:lumMod val="50000"/>
                  <a:alpha val="24000"/>
                </a:schemeClr>
              </a:gs>
              <a:gs pos="100000">
                <a:schemeClr val="accent5">
                  <a:lumMod val="30000"/>
                  <a:lumOff val="70000"/>
                  <a:alpha val="21000"/>
                </a:schemeClr>
              </a:gs>
            </a:gsLst>
            <a:lin ang="24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预处理层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901AEB6-124C-7365-5EAA-DCC2DE29D03F}"/>
              </a:ext>
            </a:extLst>
          </p:cNvPr>
          <p:cNvSpPr/>
          <p:nvPr/>
        </p:nvSpPr>
        <p:spPr>
          <a:xfrm>
            <a:off x="6979919" y="2345189"/>
            <a:ext cx="1952669" cy="14200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    输入嵌入层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ED4E70C6-0811-7115-B6AB-D285EA6353A5}"/>
              </a:ext>
            </a:extLst>
          </p:cNvPr>
          <p:cNvSpPr/>
          <p:nvPr/>
        </p:nvSpPr>
        <p:spPr>
          <a:xfrm>
            <a:off x="6979919" y="2487190"/>
            <a:ext cx="1952669" cy="14200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    时空注意力层层</a:t>
            </a: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0A5F3DAE-AA41-C494-BF4B-710801D5144F}"/>
              </a:ext>
            </a:extLst>
          </p:cNvPr>
          <p:cNvSpPr/>
          <p:nvPr/>
        </p:nvSpPr>
        <p:spPr>
          <a:xfrm>
            <a:off x="6979919" y="2629192"/>
            <a:ext cx="1952669" cy="14200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​    动态卷积模块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F546933-7328-A221-1550-08D69B94C1F1}"/>
              </a:ext>
            </a:extLst>
          </p:cNvPr>
          <p:cNvSpPr/>
          <p:nvPr/>
        </p:nvSpPr>
        <p:spPr>
          <a:xfrm>
            <a:off x="6979919" y="2771193"/>
            <a:ext cx="1952669" cy="14200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​​    多尺度预测头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820C8834-2DC8-27A6-2EF6-75BAB0456DA2}"/>
              </a:ext>
            </a:extLst>
          </p:cNvPr>
          <p:cNvSpPr/>
          <p:nvPr/>
        </p:nvSpPr>
        <p:spPr>
          <a:xfrm>
            <a:off x="6424128" y="2345189"/>
            <a:ext cx="555791" cy="568006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6">
                  <a:lumMod val="60000"/>
                  <a:alpha val="37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/>
              <a:t>时空融合</a:t>
            </a:r>
            <a:r>
              <a:rPr lang="en-US" altLang="zh-CN" sz="500" b="1"/>
              <a:t>Transformer</a:t>
            </a:r>
            <a:r>
              <a:rPr lang="zh-CN" altLang="en-US" sz="500" b="1"/>
              <a:t>架构</a:t>
            </a:r>
            <a:endParaRPr lang="zh-CN" altLang="en-US" sz="500" b="1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62FE10D1-B5C0-FC0B-127D-6D96E66CBF03}"/>
              </a:ext>
            </a:extLst>
          </p:cNvPr>
          <p:cNvSpPr/>
          <p:nvPr/>
        </p:nvSpPr>
        <p:spPr>
          <a:xfrm>
            <a:off x="6424129" y="2913195"/>
            <a:ext cx="2508459" cy="308267"/>
          </a:xfrm>
          <a:prstGeom prst="rect">
            <a:avLst/>
          </a:prstGeom>
          <a:gradFill flip="none" rotWithShape="1">
            <a:gsLst>
              <a:gs pos="21000">
                <a:schemeClr val="accent1">
                  <a:lumMod val="50000"/>
                  <a:alpha val="24000"/>
                </a:schemeClr>
              </a:gs>
              <a:gs pos="100000">
                <a:schemeClr val="accent5">
                  <a:lumMod val="30000"/>
                  <a:lumOff val="70000"/>
                  <a:alpha val="21000"/>
                </a:schemeClr>
              </a:gs>
            </a:gsLst>
            <a:lin ang="24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业务逻辑优化层</a:t>
            </a: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04D63AB9-C564-55F7-E620-3C97671F770A}"/>
              </a:ext>
            </a:extLst>
          </p:cNvPr>
          <p:cNvSpPr/>
          <p:nvPr/>
        </p:nvSpPr>
        <p:spPr>
          <a:xfrm>
            <a:off x="7071360" y="2125484"/>
            <a:ext cx="619925" cy="142617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缺失值填充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DB7D56F3-544A-258A-D01D-071CA69FCD9B}"/>
              </a:ext>
            </a:extLst>
          </p:cNvPr>
          <p:cNvSpPr/>
          <p:nvPr/>
        </p:nvSpPr>
        <p:spPr>
          <a:xfrm>
            <a:off x="7691286" y="2125485"/>
            <a:ext cx="448684" cy="142616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标准化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198EDFD5-7F89-9A18-A928-D350A847103A}"/>
              </a:ext>
            </a:extLst>
          </p:cNvPr>
          <p:cNvSpPr/>
          <p:nvPr/>
        </p:nvSpPr>
        <p:spPr>
          <a:xfrm>
            <a:off x="7100691" y="2993750"/>
            <a:ext cx="383585" cy="13114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逆标准化</a:t>
            </a:r>
            <a:endParaRPr lang="en-US" altLang="zh-CN" sz="3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9D2580A-02F9-B853-43D8-60A0AE1EFAEC}"/>
              </a:ext>
            </a:extLst>
          </p:cNvPr>
          <p:cNvSpPr/>
          <p:nvPr/>
        </p:nvSpPr>
        <p:spPr>
          <a:xfrm>
            <a:off x="7505159" y="2993750"/>
            <a:ext cx="665250" cy="13114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经验公式矫正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5" name="矩形: 圆角 184">
            <a:extLst>
              <a:ext uri="{FF2B5EF4-FFF2-40B4-BE49-F238E27FC236}">
                <a16:creationId xmlns:a16="http://schemas.microsoft.com/office/drawing/2014/main" id="{F6C55F0A-7C2E-79CE-51FA-2B0762B1E82B}"/>
              </a:ext>
            </a:extLst>
          </p:cNvPr>
          <p:cNvSpPr/>
          <p:nvPr/>
        </p:nvSpPr>
        <p:spPr>
          <a:xfrm>
            <a:off x="8199617" y="2993750"/>
            <a:ext cx="654275" cy="13114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专家经验矫正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41BCE7C0-4767-F4FE-D5F0-15ABE5B7A817}"/>
              </a:ext>
            </a:extLst>
          </p:cNvPr>
          <p:cNvSpPr/>
          <p:nvPr/>
        </p:nvSpPr>
        <p:spPr>
          <a:xfrm>
            <a:off x="8168957" y="2133865"/>
            <a:ext cx="692447" cy="13114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滑动窗口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5F234F6-8F45-1939-5688-68CA29C6E65C}"/>
              </a:ext>
            </a:extLst>
          </p:cNvPr>
          <p:cNvSpPr/>
          <p:nvPr/>
        </p:nvSpPr>
        <p:spPr>
          <a:xfrm>
            <a:off x="6424129" y="3221462"/>
            <a:ext cx="2508459" cy="176153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b="1"/>
              <a:t>API</a:t>
            </a:r>
            <a:r>
              <a:rPr lang="zh-CN" altLang="en-US" sz="500" b="1"/>
              <a:t>输出层</a:t>
            </a:r>
            <a:endParaRPr lang="zh-CN" altLang="en-US" sz="500" b="1" dirty="0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327E2A48-D7E2-BBF1-7878-3026392748CB}"/>
              </a:ext>
            </a:extLst>
          </p:cNvPr>
          <p:cNvSpPr/>
          <p:nvPr/>
        </p:nvSpPr>
        <p:spPr>
          <a:xfrm>
            <a:off x="9182140" y="1723092"/>
            <a:ext cx="2530208" cy="206917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b="1"/>
              <a:t>API</a:t>
            </a:r>
            <a:r>
              <a:rPr lang="zh-CN" altLang="en-US" sz="500" b="1"/>
              <a:t>输入层</a:t>
            </a:r>
            <a:endParaRPr lang="zh-CN" altLang="en-US" sz="500" b="1" dirty="0"/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D3CC1FD9-987B-A4A8-72CB-048CFDBC83E8}"/>
              </a:ext>
            </a:extLst>
          </p:cNvPr>
          <p:cNvSpPr/>
          <p:nvPr/>
        </p:nvSpPr>
        <p:spPr>
          <a:xfrm>
            <a:off x="9883513" y="1765215"/>
            <a:ext cx="854979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全量关键控制参数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59961C69-B592-2C7D-14D7-AA8579B2A865}"/>
              </a:ext>
            </a:extLst>
          </p:cNvPr>
          <p:cNvSpPr/>
          <p:nvPr/>
        </p:nvSpPr>
        <p:spPr>
          <a:xfrm>
            <a:off x="9182140" y="1930009"/>
            <a:ext cx="2530208" cy="227768"/>
          </a:xfrm>
          <a:prstGeom prst="rect">
            <a:avLst/>
          </a:prstGeom>
          <a:gradFill flip="none" rotWithShape="1">
            <a:gsLst>
              <a:gs pos="21000">
                <a:schemeClr val="accent1">
                  <a:lumMod val="50000"/>
                  <a:alpha val="24000"/>
                </a:schemeClr>
              </a:gs>
              <a:gs pos="100000">
                <a:schemeClr val="accent5">
                  <a:lumMod val="30000"/>
                  <a:lumOff val="70000"/>
                  <a:alpha val="21000"/>
                </a:schemeClr>
              </a:gs>
            </a:gsLst>
            <a:lin ang="24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预处理层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B2F88DD0-E64A-027B-EF67-881C36B0A777}"/>
              </a:ext>
            </a:extLst>
          </p:cNvPr>
          <p:cNvSpPr/>
          <p:nvPr/>
        </p:nvSpPr>
        <p:spPr>
          <a:xfrm>
            <a:off x="9738360" y="2364694"/>
            <a:ext cx="1973988" cy="13937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    带投影头的特征编码器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2B539088-82E0-86D9-C05B-9EFAD542854D}"/>
              </a:ext>
            </a:extLst>
          </p:cNvPr>
          <p:cNvSpPr/>
          <p:nvPr/>
        </p:nvSpPr>
        <p:spPr>
          <a:xfrm>
            <a:off x="9738360" y="2504064"/>
            <a:ext cx="1973988" cy="13937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    对比约束计算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EEF5331C-9B6F-D319-BF19-78D27E8556C3}"/>
              </a:ext>
            </a:extLst>
          </p:cNvPr>
          <p:cNvSpPr/>
          <p:nvPr/>
        </p:nvSpPr>
        <p:spPr>
          <a:xfrm>
            <a:off x="9738360" y="2643433"/>
            <a:ext cx="1973988" cy="13937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    多尺度对比特征提取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15A2DB9E-AFEC-6387-2CC3-A1A40A1A3BB0}"/>
              </a:ext>
            </a:extLst>
          </p:cNvPr>
          <p:cNvSpPr/>
          <p:nvPr/>
        </p:nvSpPr>
        <p:spPr>
          <a:xfrm>
            <a:off x="9738360" y="2782803"/>
            <a:ext cx="1973988" cy="13937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22000"/>
                </a:schemeClr>
              </a:gs>
              <a:gs pos="71000">
                <a:schemeClr val="accent3">
                  <a:alpha val="23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    ​​多尺度有监督输出</a:t>
            </a: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4C8B80D4-9BB0-7B9D-B63C-BA3188B62ED4}"/>
              </a:ext>
            </a:extLst>
          </p:cNvPr>
          <p:cNvSpPr/>
          <p:nvPr/>
        </p:nvSpPr>
        <p:spPr>
          <a:xfrm>
            <a:off x="9182140" y="2364694"/>
            <a:ext cx="556220" cy="55747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6">
                  <a:lumMod val="60000"/>
                  <a:alpha val="37000"/>
                </a:scheme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b="1" dirty="0"/>
              <a:t>Transformer</a:t>
            </a:r>
            <a:r>
              <a:rPr lang="zh-CN" altLang="en-US" sz="500" b="1" dirty="0"/>
              <a:t>对比学习架构</a:t>
            </a: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6D301FE7-BC59-AD05-A862-EF87E90ACE65}"/>
              </a:ext>
            </a:extLst>
          </p:cNvPr>
          <p:cNvSpPr/>
          <p:nvPr/>
        </p:nvSpPr>
        <p:spPr>
          <a:xfrm>
            <a:off x="9182140" y="2922173"/>
            <a:ext cx="2530208" cy="302554"/>
          </a:xfrm>
          <a:prstGeom prst="rect">
            <a:avLst/>
          </a:prstGeom>
          <a:gradFill flip="none" rotWithShape="1">
            <a:gsLst>
              <a:gs pos="21000">
                <a:schemeClr val="accent1">
                  <a:lumMod val="50000"/>
                  <a:alpha val="24000"/>
                </a:schemeClr>
              </a:gs>
              <a:gs pos="100000">
                <a:schemeClr val="accent5">
                  <a:lumMod val="30000"/>
                  <a:lumOff val="70000"/>
                  <a:alpha val="21000"/>
                </a:schemeClr>
              </a:gs>
            </a:gsLst>
            <a:lin ang="24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业务逻辑优化层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59BD0684-3B81-7C04-A67F-2E187B3FE523}"/>
              </a:ext>
            </a:extLst>
          </p:cNvPr>
          <p:cNvSpPr/>
          <p:nvPr/>
        </p:nvSpPr>
        <p:spPr>
          <a:xfrm>
            <a:off x="9883513" y="1973817"/>
            <a:ext cx="576769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缺失值填充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31639F24-92F0-427E-6EC8-9481D575E1F9}"/>
              </a:ext>
            </a:extLst>
          </p:cNvPr>
          <p:cNvSpPr/>
          <p:nvPr/>
        </p:nvSpPr>
        <p:spPr>
          <a:xfrm>
            <a:off x="10526385" y="1973817"/>
            <a:ext cx="473717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标准化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3808FC06-66E4-46FA-E521-66A2EC4B632D}"/>
              </a:ext>
            </a:extLst>
          </p:cNvPr>
          <p:cNvSpPr/>
          <p:nvPr/>
        </p:nvSpPr>
        <p:spPr>
          <a:xfrm>
            <a:off x="9883513" y="3001235"/>
            <a:ext cx="540647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逆标准化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AE2298D1-F1A7-674A-0D41-8FEAE2D59D68}"/>
              </a:ext>
            </a:extLst>
          </p:cNvPr>
          <p:cNvSpPr/>
          <p:nvPr/>
        </p:nvSpPr>
        <p:spPr>
          <a:xfrm>
            <a:off x="10460283" y="3001235"/>
            <a:ext cx="1172279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带物理约束的</a:t>
            </a:r>
            <a:r>
              <a:rPr lang="zh-CN" altLang="en-US" sz="6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专家经验矫正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C6370259-BC94-1FFF-2E52-C52A08B14B80}"/>
              </a:ext>
            </a:extLst>
          </p:cNvPr>
          <p:cNvSpPr/>
          <p:nvPr/>
        </p:nvSpPr>
        <p:spPr>
          <a:xfrm>
            <a:off x="11079480" y="1973817"/>
            <a:ext cx="553491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滑动窗口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AF0F953F-D86A-6804-B24B-67E1A1E964A7}"/>
              </a:ext>
            </a:extLst>
          </p:cNvPr>
          <p:cNvSpPr/>
          <p:nvPr/>
        </p:nvSpPr>
        <p:spPr>
          <a:xfrm>
            <a:off x="9182140" y="3224727"/>
            <a:ext cx="2530208" cy="172888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chemeClr val="accent4">
                  <a:alpha val="16000"/>
                  <a:lumMod val="59000"/>
                </a:schemeClr>
              </a:gs>
            </a:gsLst>
            <a:lin ang="15000000" scaled="0"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b="1" dirty="0"/>
              <a:t>API</a:t>
            </a:r>
            <a:r>
              <a:rPr lang="zh-CN" altLang="en-US" sz="500" b="1" dirty="0"/>
              <a:t>输出层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9E7812FA-EA59-F652-0277-E62ED8397C61}"/>
              </a:ext>
            </a:extLst>
          </p:cNvPr>
          <p:cNvSpPr/>
          <p:nvPr/>
        </p:nvSpPr>
        <p:spPr>
          <a:xfrm>
            <a:off x="9182140" y="2157776"/>
            <a:ext cx="2530208" cy="20691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12000"/>
                </a:schemeClr>
              </a:gs>
              <a:gs pos="71000">
                <a:srgbClr val="4D3767">
                  <a:alpha val="37000"/>
                </a:srgbClr>
              </a:gs>
            </a:gsLst>
            <a:lin ang="15000000" scaled="0"/>
            <a:tileRect/>
          </a:gradFill>
          <a:ln w="9525">
            <a:gradFill>
              <a:gsLst>
                <a:gs pos="0">
                  <a:srgbClr val="DFE1E1">
                    <a:alpha val="0"/>
                  </a:srgbClr>
                </a:gs>
                <a:gs pos="100000">
                  <a:srgbClr val="E0E2E3">
                    <a:alpha val="0"/>
                  </a:srgbClr>
                </a:gs>
                <a:gs pos="52000">
                  <a:schemeClr val="bg1">
                    <a:lumMod val="85000"/>
                    <a:alpha val="53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500" b="1" dirty="0"/>
              <a:t>数据对比层</a:t>
            </a: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B7FDEF5F-713E-A87C-D43D-2B02CE18C170}"/>
              </a:ext>
            </a:extLst>
          </p:cNvPr>
          <p:cNvSpPr/>
          <p:nvPr/>
        </p:nvSpPr>
        <p:spPr>
          <a:xfrm>
            <a:off x="9883513" y="2202464"/>
            <a:ext cx="854979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时序数据增强模块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308880B9-4A75-53F6-0FFF-4A74BB3F138F}"/>
              </a:ext>
            </a:extLst>
          </p:cNvPr>
          <p:cNvSpPr/>
          <p:nvPr/>
        </p:nvSpPr>
        <p:spPr>
          <a:xfrm>
            <a:off x="10818277" y="2202464"/>
            <a:ext cx="814285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</a:t>
            </a:r>
            <a:r>
              <a:rPr lang="en-US" altLang="zh-CN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负样本</a:t>
            </a:r>
            <a:r>
              <a:rPr lang="zh-CN" altLang="en-US" sz="6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对生成</a:t>
            </a:r>
            <a:endParaRPr lang="en-US" altLang="zh-CN" sz="600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7" name="矩形: 圆角 206">
            <a:extLst>
              <a:ext uri="{FF2B5EF4-FFF2-40B4-BE49-F238E27FC236}">
                <a16:creationId xmlns:a16="http://schemas.microsoft.com/office/drawing/2014/main" id="{5F9A67C3-1D7B-E917-CF3E-AA12551B8A66}"/>
              </a:ext>
            </a:extLst>
          </p:cNvPr>
          <p:cNvSpPr/>
          <p:nvPr/>
        </p:nvSpPr>
        <p:spPr>
          <a:xfrm>
            <a:off x="10775284" y="1765215"/>
            <a:ext cx="857278" cy="128712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0000"/>
                  <a:lumOff val="80000"/>
                  <a:alpha val="19000"/>
                </a:schemeClr>
              </a:gs>
              <a:gs pos="4895">
                <a:schemeClr val="tx2">
                  <a:lumMod val="20000"/>
                  <a:lumOff val="80000"/>
                  <a:alpha val="19000"/>
                </a:schemeClr>
              </a:gs>
              <a:gs pos="100000">
                <a:schemeClr val="tx2">
                  <a:lumMod val="40000"/>
                  <a:lumOff val="60000"/>
                  <a:alpha val="37000"/>
                </a:schemeClr>
              </a:gs>
            </a:gsLst>
            <a:lin ang="2400000" scaled="0"/>
            <a:tileRect/>
          </a:gra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历史测量参数</a:t>
            </a:r>
          </a:p>
        </p:txBody>
      </p:sp>
      <p:sp>
        <p:nvSpPr>
          <p:cNvPr id="209" name="Text 91">
            <a:extLst>
              <a:ext uri="{FF2B5EF4-FFF2-40B4-BE49-F238E27FC236}">
                <a16:creationId xmlns:a16="http://schemas.microsoft.com/office/drawing/2014/main" id="{04E5B960-44F0-A086-40BC-959AAB09017B}"/>
              </a:ext>
            </a:extLst>
          </p:cNvPr>
          <p:cNvSpPr/>
          <p:nvPr/>
        </p:nvSpPr>
        <p:spPr>
          <a:xfrm>
            <a:off x="6564073" y="3561253"/>
            <a:ext cx="2181225" cy="272903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100" b="1" dirty="0">
                <a:solidFill>
                  <a:schemeClr val="bg1">
                    <a:lumMod val="75000"/>
                  </a:schemeClr>
                </a:solidFill>
              </a:rPr>
              <a:t>电池健康架构</a:t>
            </a:r>
            <a:endParaRPr lang="en-US" sz="11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1" name="Text 91">
            <a:extLst>
              <a:ext uri="{FF2B5EF4-FFF2-40B4-BE49-F238E27FC236}">
                <a16:creationId xmlns:a16="http://schemas.microsoft.com/office/drawing/2014/main" id="{844EAB25-B5B3-FEFA-35C9-67F3CA2BC86E}"/>
              </a:ext>
            </a:extLst>
          </p:cNvPr>
          <p:cNvSpPr/>
          <p:nvPr/>
        </p:nvSpPr>
        <p:spPr>
          <a:xfrm>
            <a:off x="9302392" y="3561253"/>
            <a:ext cx="2181225" cy="272903"/>
          </a:xfrm>
          <a:prstGeom prst="roundRect">
            <a:avLst/>
          </a:pr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100" b="1" dirty="0">
                <a:solidFill>
                  <a:schemeClr val="bg1">
                    <a:lumMod val="75000"/>
                  </a:schemeClr>
                </a:solidFill>
              </a:rPr>
              <a:t>电池安全架构</a:t>
            </a:r>
            <a:endParaRPr lang="en-US" sz="11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390650" cy="304800"/>
          </a:xfrm>
          <a:custGeom>
            <a:avLst/>
            <a:gdLst/>
            <a:ahLst/>
            <a:cxnLst/>
            <a:rect l="l" t="t" r="r" b="b"/>
            <a:pathLst>
              <a:path w="1390650" h="304800">
                <a:moveTo>
                  <a:pt x="38100" y="0"/>
                </a:moveTo>
                <a:lnTo>
                  <a:pt x="1352550" y="0"/>
                </a:lnTo>
                <a:cubicBezTo>
                  <a:pt x="1373578" y="0"/>
                  <a:pt x="1390650" y="17072"/>
                  <a:pt x="1390650" y="38100"/>
                </a:cubicBezTo>
                <a:lnTo>
                  <a:pt x="1390650" y="266700"/>
                </a:lnTo>
                <a:cubicBezTo>
                  <a:pt x="1390650" y="287728"/>
                  <a:pt x="1373578" y="304800"/>
                  <a:pt x="13525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95300" y="472441"/>
            <a:ext cx="12234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FUTURE-READY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新型电池前沿算法储备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4810" y="1489710"/>
            <a:ext cx="3703320" cy="4065270"/>
          </a:xfrm>
          <a:custGeom>
            <a:avLst/>
            <a:gdLst/>
            <a:ahLst/>
            <a:cxnLst/>
            <a:rect l="l" t="t" r="r" b="b"/>
            <a:pathLst>
              <a:path w="3703320" h="40652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50986"/>
                </a:lnTo>
                <a:cubicBezTo>
                  <a:pt x="3703320" y="4014103"/>
                  <a:pt x="3652153" y="4065270"/>
                  <a:pt x="3589036" y="4065270"/>
                </a:cubicBezTo>
                <a:lnTo>
                  <a:pt x="114284" y="4065270"/>
                </a:lnTo>
                <a:cubicBezTo>
                  <a:pt x="51167" y="4065270"/>
                  <a:pt x="0" y="4014103"/>
                  <a:pt x="0" y="39509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1020" y="16459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15553" y="1741168"/>
            <a:ext cx="39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2520" y="1664968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钠离子电池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2520" y="1931668"/>
            <a:ext cx="1076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Sodium-ion Battery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020" y="2217418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5320" y="2331718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特性挑战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20" y="2560202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硬碳负极存在明显的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「高电位斜坡区」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「低电位平台区」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，且自放电率较高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1020" y="3222189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5320" y="3336489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算法对策1：分段式滤波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320" y="3564968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</a:t>
            </a:r>
            <a:r>
              <a:rPr lang="en-US" sz="105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斜坡区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高权重利用OCV，在</a:t>
            </a:r>
            <a:r>
              <a:rPr lang="en-US" sz="105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平台区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高权重利用安时积分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1020" y="4226956"/>
            <a:ext cx="3390900" cy="676275"/>
          </a:xfrm>
          <a:custGeom>
            <a:avLst/>
            <a:gdLst/>
            <a:ahLst/>
            <a:cxnLst/>
            <a:rect l="l" t="t" r="r" b="b"/>
            <a:pathLst>
              <a:path w="3390900" h="676275">
                <a:moveTo>
                  <a:pt x="76203" y="0"/>
                </a:moveTo>
                <a:lnTo>
                  <a:pt x="3314697" y="0"/>
                </a:lnTo>
                <a:cubicBezTo>
                  <a:pt x="3356783" y="0"/>
                  <a:pt x="3390900" y="34117"/>
                  <a:pt x="3390900" y="76203"/>
                </a:cubicBezTo>
                <a:lnTo>
                  <a:pt x="3390900" y="600072"/>
                </a:lnTo>
                <a:cubicBezTo>
                  <a:pt x="3390900" y="642158"/>
                  <a:pt x="3356783" y="676275"/>
                  <a:pt x="33146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5320" y="4341256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算法对策2：自放电补偿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5320" y="4569735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针对钠电特性建立专门的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自放电观测器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489710"/>
            <a:ext cx="3703320" cy="4065270"/>
          </a:xfrm>
          <a:custGeom>
            <a:avLst/>
            <a:gdLst/>
            <a:ahLst/>
            <a:cxnLst/>
            <a:rect l="l" t="t" r="r" b="b"/>
            <a:pathLst>
              <a:path w="3703320" h="40652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50986"/>
                </a:lnTo>
                <a:cubicBezTo>
                  <a:pt x="3703320" y="4014103"/>
                  <a:pt x="3652153" y="4065270"/>
                  <a:pt x="3589036" y="4065270"/>
                </a:cubicBezTo>
                <a:lnTo>
                  <a:pt x="114284" y="4065270"/>
                </a:lnTo>
                <a:cubicBezTo>
                  <a:pt x="51167" y="4065270"/>
                  <a:pt x="0" y="4014103"/>
                  <a:pt x="0" y="39509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401741" y="16459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35091" y="17792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973241" y="1664968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固态电池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73241" y="1931668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Solid-State Battery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1741" y="2217418"/>
            <a:ext cx="3390900" cy="676275"/>
          </a:xfrm>
          <a:custGeom>
            <a:avLst/>
            <a:gdLst/>
            <a:ahLst/>
            <a:cxnLst/>
            <a:rect l="l" t="t" r="r" b="b"/>
            <a:pathLst>
              <a:path w="3390900" h="676275">
                <a:moveTo>
                  <a:pt x="76203" y="0"/>
                </a:moveTo>
                <a:lnTo>
                  <a:pt x="3314697" y="0"/>
                </a:lnTo>
                <a:cubicBezTo>
                  <a:pt x="3356783" y="0"/>
                  <a:pt x="3390900" y="34117"/>
                  <a:pt x="3390900" y="76203"/>
                </a:cubicBezTo>
                <a:lnTo>
                  <a:pt x="3390900" y="600072"/>
                </a:lnTo>
                <a:cubicBezTo>
                  <a:pt x="3390900" y="642158"/>
                  <a:pt x="3356783" y="676275"/>
                  <a:pt x="33146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16041" y="2331718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特性挑战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16041" y="2560202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固-固界面接触失效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是主要死因，对压力极其敏感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1741" y="3005496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16041" y="3119796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算法对策1：原位EIS监测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16041" y="3348275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高频注入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检测界面阻抗的变化，评估固态电解质的接触状态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1741" y="4010262"/>
            <a:ext cx="3390900" cy="885825"/>
          </a:xfrm>
          <a:custGeom>
            <a:avLst/>
            <a:gdLst/>
            <a:ahLst/>
            <a:cxnLst/>
            <a:rect l="l" t="t" r="r" b="b"/>
            <a:pathLst>
              <a:path w="3390900" h="88582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809626"/>
                </a:lnTo>
                <a:cubicBezTo>
                  <a:pt x="3390900" y="851710"/>
                  <a:pt x="3356785" y="885825"/>
                  <a:pt x="3314701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516041" y="4124562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算法对策2：压力-电化学耦合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16041" y="4353041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结合压力传感器，监测电池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呼吸效应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的异常波动，预警机械失效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6371" y="1489710"/>
            <a:ext cx="3703320" cy="4065270"/>
          </a:xfrm>
          <a:custGeom>
            <a:avLst/>
            <a:gdLst/>
            <a:ahLst/>
            <a:cxnLst/>
            <a:rect l="l" t="t" r="r" b="b"/>
            <a:pathLst>
              <a:path w="3703320" h="406527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50986"/>
                </a:lnTo>
                <a:cubicBezTo>
                  <a:pt x="3703320" y="4014103"/>
                  <a:pt x="3652153" y="4065270"/>
                  <a:pt x="3589036" y="4065270"/>
                </a:cubicBezTo>
                <a:lnTo>
                  <a:pt x="114284" y="4065270"/>
                </a:lnTo>
                <a:cubicBezTo>
                  <a:pt x="51167" y="4065270"/>
                  <a:pt x="0" y="4014103"/>
                  <a:pt x="0" y="395098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62581" y="16459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407837" y="17792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34081" y="1664968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超大储能电芯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34081" y="1931668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300Ah+ Large Format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2581" y="2217418"/>
            <a:ext cx="3390900" cy="676275"/>
          </a:xfrm>
          <a:custGeom>
            <a:avLst/>
            <a:gdLst/>
            <a:ahLst/>
            <a:cxnLst/>
            <a:rect l="l" t="t" r="r" b="b"/>
            <a:pathLst>
              <a:path w="3390900" h="676275">
                <a:moveTo>
                  <a:pt x="76203" y="0"/>
                </a:moveTo>
                <a:lnTo>
                  <a:pt x="3314697" y="0"/>
                </a:lnTo>
                <a:cubicBezTo>
                  <a:pt x="3356783" y="0"/>
                  <a:pt x="3390900" y="34117"/>
                  <a:pt x="3390900" y="76203"/>
                </a:cubicBezTo>
                <a:lnTo>
                  <a:pt x="3390900" y="600072"/>
                </a:lnTo>
                <a:cubicBezTo>
                  <a:pt x="3390900" y="642158"/>
                  <a:pt x="3356783" y="676275"/>
                  <a:pt x="33146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376881" y="2331718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特性挑战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76881" y="2560202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大电芯内部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电流密度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温度分布</a:t>
            </a: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极不均匀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2581" y="3005496"/>
            <a:ext cx="3390900" cy="676275"/>
          </a:xfrm>
          <a:custGeom>
            <a:avLst/>
            <a:gdLst/>
            <a:ahLst/>
            <a:cxnLst/>
            <a:rect l="l" t="t" r="r" b="b"/>
            <a:pathLst>
              <a:path w="3390900" h="676275">
                <a:moveTo>
                  <a:pt x="76203" y="0"/>
                </a:moveTo>
                <a:lnTo>
                  <a:pt x="3314697" y="0"/>
                </a:lnTo>
                <a:cubicBezTo>
                  <a:pt x="3356783" y="0"/>
                  <a:pt x="3390900" y="34117"/>
                  <a:pt x="3390900" y="76203"/>
                </a:cubicBezTo>
                <a:lnTo>
                  <a:pt x="3390900" y="600072"/>
                </a:lnTo>
                <a:cubicBezTo>
                  <a:pt x="3390900" y="642158"/>
                  <a:pt x="3356783" y="676275"/>
                  <a:pt x="33146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376881" y="3119796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算法对策1：多节点热模型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76881" y="3348275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不再将电池看作一个质点，而是建立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3D热网络模型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62581" y="3793568"/>
            <a:ext cx="3390900" cy="676275"/>
          </a:xfrm>
          <a:custGeom>
            <a:avLst/>
            <a:gdLst/>
            <a:ahLst/>
            <a:cxnLst/>
            <a:rect l="l" t="t" r="r" b="b"/>
            <a:pathLst>
              <a:path w="3390900" h="676275">
                <a:moveTo>
                  <a:pt x="76203" y="0"/>
                </a:moveTo>
                <a:lnTo>
                  <a:pt x="3314697" y="0"/>
                </a:lnTo>
                <a:cubicBezTo>
                  <a:pt x="3356783" y="0"/>
                  <a:pt x="3390900" y="34117"/>
                  <a:pt x="3390900" y="76203"/>
                </a:cubicBezTo>
                <a:lnTo>
                  <a:pt x="3390900" y="600072"/>
                </a:lnTo>
                <a:cubicBezTo>
                  <a:pt x="3390900" y="642158"/>
                  <a:pt x="3356783" y="676275"/>
                  <a:pt x="33146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376881" y="3907868"/>
            <a:ext cx="321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算法对策2：并联支路观测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6881" y="4136348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针对多极耳结构，估算内部并联支路的</a:t>
            </a: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不均流现象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10210" y="5721069"/>
            <a:ext cx="11410950" cy="762000"/>
          </a:xfrm>
          <a:custGeom>
            <a:avLst/>
            <a:gdLst/>
            <a:ahLst/>
            <a:cxnLst/>
            <a:rect l="l" t="t" r="r" b="b"/>
            <a:pathLst>
              <a:path w="11410950" h="76200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685800"/>
                </a:lnTo>
                <a:cubicBezTo>
                  <a:pt x="11410950" y="727856"/>
                  <a:pt x="11376806" y="762000"/>
                  <a:pt x="11334750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400050" y="5715237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09600" y="595324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57288" y="5873469"/>
            <a:ext cx="897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前瞻性布局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57288" y="6102069"/>
            <a:ext cx="8972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加入生成式AI（Diffusion/LLM）在运维中的应用，以及对新型电池的前瞻性布局，这在目前市场上极为罕见，体现了技术的领先性与战略眼光。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29850" y="5867637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3+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258425" y="6172316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新型电池类型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144250" y="5867637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6+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72825" y="6172316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专属算法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111250" cy="254000"/>
          </a:xfrm>
          <a:custGeom>
            <a:avLst/>
            <a:gdLst/>
            <a:ahLst/>
            <a:cxnLst/>
            <a:rect l="l" t="t" r="r" b="b"/>
            <a:pathLst>
              <a:path w="1111250" h="254000">
                <a:moveTo>
                  <a:pt x="31750" y="0"/>
                </a:moveTo>
                <a:lnTo>
                  <a:pt x="1079500" y="0"/>
                </a:lnTo>
                <a:cubicBezTo>
                  <a:pt x="1097023" y="0"/>
                  <a:pt x="1111250" y="14227"/>
                  <a:pt x="1111250" y="31750"/>
                </a:cubicBezTo>
                <a:lnTo>
                  <a:pt x="1111250" y="222250"/>
                </a:lnTo>
                <a:cubicBezTo>
                  <a:pt x="1111250" y="239773"/>
                  <a:pt x="1097023" y="254000"/>
                  <a:pt x="107950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2750" y="393701"/>
            <a:ext cx="971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kern="0" spc="38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CASE STUDIES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350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实战案例：内短路极早期预警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477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675" y="1241425"/>
            <a:ext cx="6864350" cy="1720850"/>
          </a:xfrm>
          <a:custGeom>
            <a:avLst/>
            <a:gdLst/>
            <a:ahLst/>
            <a:cxnLst/>
            <a:rect l="l" t="t" r="r" b="b"/>
            <a:pathLst>
              <a:path w="6864350" h="1720850">
                <a:moveTo>
                  <a:pt x="95249" y="0"/>
                </a:moveTo>
                <a:lnTo>
                  <a:pt x="6769101" y="0"/>
                </a:lnTo>
                <a:cubicBezTo>
                  <a:pt x="6821706" y="0"/>
                  <a:pt x="6864350" y="42644"/>
                  <a:pt x="6864350" y="95249"/>
                </a:cubicBezTo>
                <a:lnTo>
                  <a:pt x="6864350" y="1625601"/>
                </a:lnTo>
                <a:cubicBezTo>
                  <a:pt x="6864350" y="1678206"/>
                  <a:pt x="6821706" y="1720850"/>
                  <a:pt x="6769101" y="1720850"/>
                </a:cubicBezTo>
                <a:lnTo>
                  <a:pt x="95249" y="1720850"/>
                </a:lnTo>
                <a:cubicBezTo>
                  <a:pt x="42644" y="1720850"/>
                  <a:pt x="0" y="1678206"/>
                  <a:pt x="0" y="162560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82600" y="143509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93725" y="153034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46782"/>
                </a:moveTo>
                <a:cubicBezTo>
                  <a:pt x="0" y="20935"/>
                  <a:pt x="21332" y="0"/>
                  <a:pt x="47625" y="0"/>
                </a:cubicBezTo>
                <a:cubicBezTo>
                  <a:pt x="73918" y="0"/>
                  <a:pt x="95250" y="20935"/>
                  <a:pt x="95250" y="46782"/>
                </a:cubicBezTo>
                <a:cubicBezTo>
                  <a:pt x="95250" y="76374"/>
                  <a:pt x="65435" y="111844"/>
                  <a:pt x="52983" y="125363"/>
                </a:cubicBezTo>
                <a:cubicBezTo>
                  <a:pt x="50056" y="128538"/>
                  <a:pt x="45169" y="128538"/>
                  <a:pt x="42242" y="125363"/>
                </a:cubicBezTo>
                <a:cubicBezTo>
                  <a:pt x="29790" y="111844"/>
                  <a:pt x="-25" y="76374"/>
                  <a:pt x="-25" y="46782"/>
                </a:cubicBezTo>
                <a:close/>
                <a:moveTo>
                  <a:pt x="47625" y="63500"/>
                </a:moveTo>
                <a:cubicBezTo>
                  <a:pt x="56387" y="63500"/>
                  <a:pt x="63500" y="56387"/>
                  <a:pt x="63500" y="47625"/>
                </a:cubicBezTo>
                <a:cubicBezTo>
                  <a:pt x="63500" y="38863"/>
                  <a:pt x="56387" y="31750"/>
                  <a:pt x="47625" y="31750"/>
                </a:cubicBezTo>
                <a:cubicBezTo>
                  <a:pt x="38863" y="31750"/>
                  <a:pt x="31750" y="38863"/>
                  <a:pt x="31750" y="47625"/>
                </a:cubicBezTo>
                <a:cubicBezTo>
                  <a:pt x="31750" y="56387"/>
                  <a:pt x="38863" y="63500"/>
                  <a:pt x="47625" y="63500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5350" y="1403348"/>
            <a:ext cx="124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5350" y="1625598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某200MWh大型储能电站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2600" y="1911348"/>
            <a:ext cx="3206750" cy="889000"/>
          </a:xfrm>
          <a:custGeom>
            <a:avLst/>
            <a:gdLst/>
            <a:ahLst/>
            <a:cxnLst/>
            <a:rect l="l" t="t" r="r" b="b"/>
            <a:pathLst>
              <a:path w="3206750" h="889000">
                <a:moveTo>
                  <a:pt x="63501" y="0"/>
                </a:moveTo>
                <a:lnTo>
                  <a:pt x="3143249" y="0"/>
                </a:lnTo>
                <a:cubicBezTo>
                  <a:pt x="3178320" y="0"/>
                  <a:pt x="3206750" y="28430"/>
                  <a:pt x="3206750" y="63501"/>
                </a:cubicBezTo>
                <a:lnTo>
                  <a:pt x="3206750" y="825499"/>
                </a:lnTo>
                <a:cubicBezTo>
                  <a:pt x="3206750" y="860570"/>
                  <a:pt x="3178320" y="889000"/>
                  <a:pt x="314324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09600" y="2038348"/>
            <a:ext cx="3000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电站规模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228748"/>
            <a:ext cx="3071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20MWh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2514498"/>
            <a:ext cx="300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大型储能电站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6350" y="1911348"/>
            <a:ext cx="3206750" cy="889000"/>
          </a:xfrm>
          <a:custGeom>
            <a:avLst/>
            <a:gdLst/>
            <a:ahLst/>
            <a:cxnLst/>
            <a:rect l="l" t="t" r="r" b="b"/>
            <a:pathLst>
              <a:path w="3206750" h="889000">
                <a:moveTo>
                  <a:pt x="63501" y="0"/>
                </a:moveTo>
                <a:lnTo>
                  <a:pt x="3143249" y="0"/>
                </a:lnTo>
                <a:cubicBezTo>
                  <a:pt x="3178320" y="0"/>
                  <a:pt x="3206750" y="28430"/>
                  <a:pt x="3206750" y="63501"/>
                </a:cubicBezTo>
                <a:lnTo>
                  <a:pt x="3206750" y="825499"/>
                </a:lnTo>
                <a:cubicBezTo>
                  <a:pt x="3206750" y="860570"/>
                  <a:pt x="3178320" y="889000"/>
                  <a:pt x="314324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943350" y="2038348"/>
            <a:ext cx="3000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电芯数量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43350" y="2228748"/>
            <a:ext cx="3071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43350" y="2514498"/>
            <a:ext cx="300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磷酸铁锂电芯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675" y="3095529"/>
            <a:ext cx="6864350" cy="3025871"/>
          </a:xfrm>
          <a:custGeom>
            <a:avLst/>
            <a:gdLst/>
            <a:ahLst/>
            <a:cxnLst/>
            <a:rect l="l" t="t" r="r" b="b"/>
            <a:pathLst>
              <a:path w="6864350" h="4935538">
                <a:moveTo>
                  <a:pt x="95256" y="0"/>
                </a:moveTo>
                <a:lnTo>
                  <a:pt x="6769094" y="0"/>
                </a:lnTo>
                <a:cubicBezTo>
                  <a:pt x="6821702" y="0"/>
                  <a:pt x="6864350" y="42648"/>
                  <a:pt x="6864350" y="95256"/>
                </a:cubicBezTo>
                <a:lnTo>
                  <a:pt x="6864350" y="4840282"/>
                </a:lnTo>
                <a:cubicBezTo>
                  <a:pt x="6864350" y="4892890"/>
                  <a:pt x="6821702" y="4935538"/>
                  <a:pt x="6769094" y="4935538"/>
                </a:cubicBezTo>
                <a:lnTo>
                  <a:pt x="95256" y="4935538"/>
                </a:lnTo>
                <a:cubicBezTo>
                  <a:pt x="42648" y="4935538"/>
                  <a:pt x="0" y="4892890"/>
                  <a:pt x="0" y="4840282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82600" y="32574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77850" y="33527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5350" y="3305077"/>
            <a:ext cx="35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2600" y="3701952"/>
            <a:ext cx="6540500" cy="650875"/>
          </a:xfrm>
          <a:custGeom>
            <a:avLst/>
            <a:gdLst/>
            <a:ahLst/>
            <a:cxnLst/>
            <a:rect l="l" t="t" r="r" b="b"/>
            <a:pathLst>
              <a:path w="6540500" h="650875">
                <a:moveTo>
                  <a:pt x="63499" y="0"/>
                </a:moveTo>
                <a:lnTo>
                  <a:pt x="6477001" y="0"/>
                </a:lnTo>
                <a:cubicBezTo>
                  <a:pt x="6512070" y="0"/>
                  <a:pt x="6540500" y="28430"/>
                  <a:pt x="6540500" y="63499"/>
                </a:cubicBezTo>
                <a:lnTo>
                  <a:pt x="6540500" y="587376"/>
                </a:lnTo>
                <a:cubicBezTo>
                  <a:pt x="6540500" y="622445"/>
                  <a:pt x="6512070" y="650875"/>
                  <a:pt x="6477001" y="650875"/>
                </a:cubicBezTo>
                <a:lnTo>
                  <a:pt x="63499" y="650875"/>
                </a:lnTo>
                <a:cubicBezTo>
                  <a:pt x="28430" y="650875"/>
                  <a:pt x="0" y="622445"/>
                  <a:pt x="0" y="5873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9600" y="3828952"/>
            <a:ext cx="6334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传统BMS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" y="4019352"/>
            <a:ext cx="6350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无报警</a:t>
            </a:r>
            <a:r>
              <a:rPr lang="en-US" sz="100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未检测到任何异常信号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5775" y="4482902"/>
            <a:ext cx="6530975" cy="1482725"/>
          </a:xfrm>
          <a:custGeom>
            <a:avLst/>
            <a:gdLst/>
            <a:ahLst/>
            <a:cxnLst/>
            <a:rect l="l" t="t" r="r" b="b"/>
            <a:pathLst>
              <a:path w="6530975" h="1482725">
                <a:moveTo>
                  <a:pt x="63505" y="0"/>
                </a:moveTo>
                <a:lnTo>
                  <a:pt x="6467470" y="0"/>
                </a:lnTo>
                <a:cubicBezTo>
                  <a:pt x="6502543" y="0"/>
                  <a:pt x="6530975" y="28432"/>
                  <a:pt x="6530975" y="63505"/>
                </a:cubicBezTo>
                <a:lnTo>
                  <a:pt x="6530975" y="1419220"/>
                </a:lnTo>
                <a:cubicBezTo>
                  <a:pt x="6530975" y="1454293"/>
                  <a:pt x="6502543" y="1482725"/>
                  <a:pt x="6467470" y="1482725"/>
                </a:cubicBezTo>
                <a:lnTo>
                  <a:pt x="63505" y="1482725"/>
                </a:lnTo>
                <a:cubicBezTo>
                  <a:pt x="28432" y="1482725"/>
                  <a:pt x="0" y="1454293"/>
                  <a:pt x="0" y="141922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5950" y="4613075"/>
            <a:ext cx="6318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SOS算法捕捉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5950" y="4803474"/>
            <a:ext cx="6334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某电芯</a:t>
            </a:r>
            <a:r>
              <a:rPr lang="en-US" sz="100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自放电速率微弱增加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5950" y="5105099"/>
            <a:ext cx="6270625" cy="730250"/>
          </a:xfrm>
          <a:custGeom>
            <a:avLst/>
            <a:gdLst/>
            <a:ahLst/>
            <a:cxnLst/>
            <a:rect l="l" t="t" r="r" b="b"/>
            <a:pathLst>
              <a:path w="6270625" h="730250">
                <a:moveTo>
                  <a:pt x="31751" y="0"/>
                </a:moveTo>
                <a:lnTo>
                  <a:pt x="6238874" y="0"/>
                </a:lnTo>
                <a:cubicBezTo>
                  <a:pt x="6256409" y="0"/>
                  <a:pt x="6270625" y="14216"/>
                  <a:pt x="6270625" y="31751"/>
                </a:cubicBezTo>
                <a:lnTo>
                  <a:pt x="6270625" y="698499"/>
                </a:lnTo>
                <a:cubicBezTo>
                  <a:pt x="6270625" y="716034"/>
                  <a:pt x="6256409" y="730250"/>
                  <a:pt x="6238874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7387" y="5200349"/>
            <a:ext cx="84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异常增量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3575" y="5359006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+0.05mV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387" y="5612905"/>
            <a:ext cx="84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每天多掉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94438" y="5200349"/>
            <a:ext cx="523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检测灵敏度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70625" y="5359006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9A8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μV级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94438" y="5612905"/>
            <a:ext cx="523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8EAE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超高精度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50125" y="1241425"/>
            <a:ext cx="4522788" cy="2459037"/>
          </a:xfrm>
          <a:custGeom>
            <a:avLst/>
            <a:gdLst/>
            <a:ahLst/>
            <a:cxnLst/>
            <a:rect l="l" t="t" r="r" b="b"/>
            <a:pathLst>
              <a:path w="4522788" h="2459037">
                <a:moveTo>
                  <a:pt x="95239" y="0"/>
                </a:moveTo>
                <a:lnTo>
                  <a:pt x="4427549" y="0"/>
                </a:lnTo>
                <a:cubicBezTo>
                  <a:pt x="4480148" y="0"/>
                  <a:pt x="4522788" y="42640"/>
                  <a:pt x="4522788" y="95239"/>
                </a:cubicBezTo>
                <a:lnTo>
                  <a:pt x="4522788" y="2363799"/>
                </a:lnTo>
                <a:cubicBezTo>
                  <a:pt x="4522788" y="2416398"/>
                  <a:pt x="4480148" y="2459037"/>
                  <a:pt x="4427549" y="2459037"/>
                </a:cubicBezTo>
                <a:lnTo>
                  <a:pt x="95239" y="2459037"/>
                </a:lnTo>
                <a:cubicBezTo>
                  <a:pt x="42640" y="2459037"/>
                  <a:pt x="0" y="2416398"/>
                  <a:pt x="0" y="2363799"/>
                </a:cubicBezTo>
                <a:lnTo>
                  <a:pt x="0" y="95239"/>
                </a:lnTo>
                <a:cubicBezTo>
                  <a:pt x="0" y="42675"/>
                  <a:pt x="42675" y="0"/>
                  <a:pt x="9523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512050" y="140334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7599363" y="149859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5587" y="24085"/>
                </a:moveTo>
                <a:lnTo>
                  <a:pt x="55587" y="36388"/>
                </a:lnTo>
                <a:lnTo>
                  <a:pt x="55711" y="36513"/>
                </a:lnTo>
                <a:cubicBezTo>
                  <a:pt x="57324" y="16073"/>
                  <a:pt x="74414" y="0"/>
                  <a:pt x="95275" y="0"/>
                </a:cubicBezTo>
                <a:cubicBezTo>
                  <a:pt x="100261" y="0"/>
                  <a:pt x="105048" y="918"/>
                  <a:pt x="109438" y="2604"/>
                </a:cubicBezTo>
                <a:cubicBezTo>
                  <a:pt x="111919" y="3547"/>
                  <a:pt x="112365" y="6697"/>
                  <a:pt x="110505" y="8582"/>
                </a:cubicBezTo>
                <a:lnTo>
                  <a:pt x="88503" y="30584"/>
                </a:lnTo>
                <a:cubicBezTo>
                  <a:pt x="87759" y="31328"/>
                  <a:pt x="87337" y="32345"/>
                  <a:pt x="87337" y="33387"/>
                </a:cubicBezTo>
                <a:lnTo>
                  <a:pt x="87337" y="43656"/>
                </a:lnTo>
                <a:cubicBezTo>
                  <a:pt x="87337" y="45839"/>
                  <a:pt x="89123" y="47625"/>
                  <a:pt x="91306" y="47625"/>
                </a:cubicBezTo>
                <a:lnTo>
                  <a:pt x="101575" y="47625"/>
                </a:lnTo>
                <a:cubicBezTo>
                  <a:pt x="102617" y="47625"/>
                  <a:pt x="103634" y="47203"/>
                  <a:pt x="104378" y="46459"/>
                </a:cubicBezTo>
                <a:lnTo>
                  <a:pt x="126380" y="24457"/>
                </a:lnTo>
                <a:cubicBezTo>
                  <a:pt x="128265" y="22572"/>
                  <a:pt x="131415" y="23044"/>
                  <a:pt x="132358" y="25524"/>
                </a:cubicBezTo>
                <a:cubicBezTo>
                  <a:pt x="134045" y="29914"/>
                  <a:pt x="134962" y="34702"/>
                  <a:pt x="134962" y="39688"/>
                </a:cubicBezTo>
                <a:cubicBezTo>
                  <a:pt x="134962" y="54719"/>
                  <a:pt x="126603" y="67816"/>
                  <a:pt x="114250" y="74538"/>
                </a:cubicBezTo>
                <a:lnTo>
                  <a:pt x="134466" y="94754"/>
                </a:lnTo>
                <a:cubicBezTo>
                  <a:pt x="139105" y="99392"/>
                  <a:pt x="139105" y="106933"/>
                  <a:pt x="134466" y="111596"/>
                </a:cubicBezTo>
                <a:lnTo>
                  <a:pt x="119559" y="126504"/>
                </a:lnTo>
                <a:cubicBezTo>
                  <a:pt x="114920" y="131142"/>
                  <a:pt x="107379" y="131142"/>
                  <a:pt x="102716" y="126504"/>
                </a:cubicBezTo>
                <a:lnTo>
                  <a:pt x="71462" y="95250"/>
                </a:lnTo>
                <a:cubicBezTo>
                  <a:pt x="64666" y="88454"/>
                  <a:pt x="63128" y="78408"/>
                  <a:pt x="66873" y="70123"/>
                </a:cubicBezTo>
                <a:lnTo>
                  <a:pt x="44376" y="47625"/>
                </a:lnTo>
                <a:lnTo>
                  <a:pt x="32072" y="47625"/>
                </a:lnTo>
                <a:cubicBezTo>
                  <a:pt x="29418" y="47625"/>
                  <a:pt x="26938" y="46310"/>
                  <a:pt x="25474" y="44103"/>
                </a:cubicBezTo>
                <a:lnTo>
                  <a:pt x="5804" y="14610"/>
                </a:lnTo>
                <a:cubicBezTo>
                  <a:pt x="4763" y="13047"/>
                  <a:pt x="4961" y="10939"/>
                  <a:pt x="6300" y="9599"/>
                </a:cubicBezTo>
                <a:lnTo>
                  <a:pt x="17562" y="-1662"/>
                </a:lnTo>
                <a:cubicBezTo>
                  <a:pt x="18901" y="-3001"/>
                  <a:pt x="20985" y="-3200"/>
                  <a:pt x="22572" y="-2158"/>
                </a:cubicBezTo>
                <a:lnTo>
                  <a:pt x="52065" y="17487"/>
                </a:lnTo>
                <a:cubicBezTo>
                  <a:pt x="54273" y="18951"/>
                  <a:pt x="55587" y="21431"/>
                  <a:pt x="55587" y="24085"/>
                </a:cubicBezTo>
                <a:close/>
                <a:moveTo>
                  <a:pt x="53479" y="73571"/>
                </a:moveTo>
                <a:cubicBezTo>
                  <a:pt x="51916" y="82748"/>
                  <a:pt x="54074" y="92447"/>
                  <a:pt x="60027" y="100211"/>
                </a:cubicBezTo>
                <a:lnTo>
                  <a:pt x="36463" y="123751"/>
                </a:lnTo>
                <a:cubicBezTo>
                  <a:pt x="29493" y="130721"/>
                  <a:pt x="18182" y="130721"/>
                  <a:pt x="11212" y="123751"/>
                </a:cubicBezTo>
                <a:cubicBezTo>
                  <a:pt x="4242" y="116780"/>
                  <a:pt x="4242" y="105470"/>
                  <a:pt x="11212" y="98499"/>
                </a:cubicBezTo>
                <a:lnTo>
                  <a:pt x="44797" y="64914"/>
                </a:lnTo>
                <a:lnTo>
                  <a:pt x="53479" y="73596"/>
                </a:lnTo>
                <a:close/>
              </a:path>
            </a:pathLst>
          </a:custGeom>
          <a:solidFill>
            <a:srgbClr val="6B7D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924800" y="1450973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处置与结果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12050" y="1847848"/>
            <a:ext cx="4198938" cy="444500"/>
          </a:xfrm>
          <a:custGeom>
            <a:avLst/>
            <a:gdLst/>
            <a:ahLst/>
            <a:cxnLst/>
            <a:rect l="l" t="t" r="r" b="b"/>
            <a:pathLst>
              <a:path w="4198938" h="444500">
                <a:moveTo>
                  <a:pt x="63501" y="0"/>
                </a:moveTo>
                <a:lnTo>
                  <a:pt x="4135436" y="0"/>
                </a:lnTo>
                <a:cubicBezTo>
                  <a:pt x="4170507" y="0"/>
                  <a:pt x="4198938" y="28430"/>
                  <a:pt x="4198938" y="63501"/>
                </a:cubicBezTo>
                <a:lnTo>
                  <a:pt x="4198938" y="380999"/>
                </a:lnTo>
                <a:cubicBezTo>
                  <a:pt x="4198938" y="416070"/>
                  <a:pt x="4170507" y="444500"/>
                  <a:pt x="41354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607300" y="194309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583488" y="1943098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61300" y="1958973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系统发出二级预警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12050" y="2387598"/>
            <a:ext cx="4198938" cy="603250"/>
          </a:xfrm>
          <a:custGeom>
            <a:avLst/>
            <a:gdLst/>
            <a:ahLst/>
            <a:cxnLst/>
            <a:rect l="l" t="t" r="r" b="b"/>
            <a:pathLst>
              <a:path w="4198938" h="603250">
                <a:moveTo>
                  <a:pt x="63498" y="0"/>
                </a:moveTo>
                <a:lnTo>
                  <a:pt x="4135439" y="0"/>
                </a:lnTo>
                <a:cubicBezTo>
                  <a:pt x="4170508" y="0"/>
                  <a:pt x="4198938" y="28429"/>
                  <a:pt x="4198938" y="63498"/>
                </a:cubicBezTo>
                <a:lnTo>
                  <a:pt x="4198938" y="539752"/>
                </a:lnTo>
                <a:cubicBezTo>
                  <a:pt x="4198938" y="574821"/>
                  <a:pt x="4170508" y="603250"/>
                  <a:pt x="41354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07300" y="24828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583488" y="2482848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61300" y="249872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运维拆解检查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61300" y="2736848"/>
            <a:ext cx="380206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发现</a:t>
            </a:r>
            <a:r>
              <a:rPr lang="en-US" sz="750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微金属颗粒刺穿隔膜</a:t>
            </a:r>
            <a:r>
              <a:rPr lang="en-US" sz="75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的前兆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15225" y="3085305"/>
            <a:ext cx="4189412" cy="450850"/>
          </a:xfrm>
          <a:custGeom>
            <a:avLst/>
            <a:gdLst/>
            <a:ahLst/>
            <a:cxnLst/>
            <a:rect l="l" t="t" r="r" b="b"/>
            <a:pathLst>
              <a:path w="4189412" h="450850">
                <a:moveTo>
                  <a:pt x="63502" y="0"/>
                </a:moveTo>
                <a:lnTo>
                  <a:pt x="4125910" y="0"/>
                </a:lnTo>
                <a:cubicBezTo>
                  <a:pt x="4160982" y="0"/>
                  <a:pt x="4189412" y="28431"/>
                  <a:pt x="4189412" y="63502"/>
                </a:cubicBezTo>
                <a:lnTo>
                  <a:pt x="4189412" y="387348"/>
                </a:lnTo>
                <a:cubicBezTo>
                  <a:pt x="4189412" y="422419"/>
                  <a:pt x="4160982" y="450850"/>
                  <a:pt x="4125910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613650" y="31837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589838" y="3183728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67650" y="3199603"/>
            <a:ext cx="833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成功避免热失控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50125" y="3834608"/>
            <a:ext cx="4522788" cy="1506138"/>
          </a:xfrm>
          <a:custGeom>
            <a:avLst/>
            <a:gdLst/>
            <a:ahLst/>
            <a:cxnLst/>
            <a:rect l="l" t="t" r="r" b="b"/>
            <a:pathLst>
              <a:path w="4522788" h="3403600">
                <a:moveTo>
                  <a:pt x="95267" y="0"/>
                </a:moveTo>
                <a:lnTo>
                  <a:pt x="4427521" y="0"/>
                </a:lnTo>
                <a:cubicBezTo>
                  <a:pt x="4480135" y="0"/>
                  <a:pt x="4522788" y="42652"/>
                  <a:pt x="4522788" y="95267"/>
                </a:cubicBezTo>
                <a:lnTo>
                  <a:pt x="4522788" y="3308333"/>
                </a:lnTo>
                <a:cubicBezTo>
                  <a:pt x="4522788" y="3360948"/>
                  <a:pt x="4480135" y="3403600"/>
                  <a:pt x="4427521" y="3403600"/>
                </a:cubicBezTo>
                <a:lnTo>
                  <a:pt x="95267" y="3403600"/>
                </a:lnTo>
                <a:cubicBezTo>
                  <a:pt x="42652" y="3403600"/>
                  <a:pt x="0" y="3360948"/>
                  <a:pt x="0" y="3308333"/>
                </a:cubicBezTo>
                <a:lnTo>
                  <a:pt x="0" y="95267"/>
                </a:lnTo>
                <a:cubicBezTo>
                  <a:pt x="0" y="42652"/>
                  <a:pt x="42652" y="0"/>
                  <a:pt x="95267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86A">
                  <a:alpha val="15000"/>
                </a:srgbClr>
              </a:gs>
              <a:gs pos="100000">
                <a:srgbClr val="C9A86A">
                  <a:alpha val="5000"/>
                </a:srgbClr>
              </a:gs>
            </a:gsLst>
            <a:lin ang="2700000" scaled="1"/>
          </a:gradFill>
          <a:ln w="10160">
            <a:solidFill>
              <a:srgbClr val="C9A8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484269" y="3916365"/>
            <a:ext cx="831692" cy="190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关键价值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64425" y="4138616"/>
            <a:ext cx="15627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提前预警时间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613985" y="4015127"/>
            <a:ext cx="12713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2000" b="1" dirty="0">
                <a:solidFill>
                  <a:srgbClr val="C9A8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2个月</a:t>
            </a:r>
            <a:endParaRPr lang="en-US" sz="1000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DCAE312-144E-9662-895E-C771B1E859ED}"/>
              </a:ext>
            </a:extLst>
          </p:cNvPr>
          <p:cNvGrpSpPr/>
          <p:nvPr/>
        </p:nvGrpSpPr>
        <p:grpSpPr>
          <a:xfrm>
            <a:off x="7512050" y="4511699"/>
            <a:ext cx="4194175" cy="571500"/>
            <a:chOff x="7512050" y="4511699"/>
            <a:chExt cx="4194175" cy="571500"/>
          </a:xfrm>
        </p:grpSpPr>
        <p:sp>
          <p:nvSpPr>
            <p:cNvPr id="58" name="Shape 56"/>
            <p:cNvSpPr/>
            <p:nvPr/>
          </p:nvSpPr>
          <p:spPr>
            <a:xfrm>
              <a:off x="7512050" y="4511699"/>
              <a:ext cx="2047875" cy="571500"/>
            </a:xfrm>
            <a:custGeom>
              <a:avLst/>
              <a:gdLst/>
              <a:ahLst/>
              <a:cxnLst/>
              <a:rect l="l" t="t" r="r" b="b"/>
              <a:pathLst>
                <a:path w="2047875" h="571500">
                  <a:moveTo>
                    <a:pt x="63499" y="0"/>
                  </a:moveTo>
                  <a:lnTo>
                    <a:pt x="1984376" y="0"/>
                  </a:lnTo>
                  <a:cubicBezTo>
                    <a:pt x="2019445" y="0"/>
                    <a:pt x="2047875" y="28430"/>
                    <a:pt x="2047875" y="63499"/>
                  </a:cubicBezTo>
                  <a:lnTo>
                    <a:pt x="2047875" y="508001"/>
                  </a:lnTo>
                  <a:cubicBezTo>
                    <a:pt x="2047875" y="543070"/>
                    <a:pt x="2019445" y="571500"/>
                    <a:pt x="1984376" y="571500"/>
                  </a:cubicBezTo>
                  <a:lnTo>
                    <a:pt x="63499" y="571500"/>
                  </a:lnTo>
                  <a:cubicBezTo>
                    <a:pt x="28430" y="571500"/>
                    <a:pt x="0" y="543070"/>
                    <a:pt x="0" y="508001"/>
                  </a:cubicBezTo>
                  <a:lnTo>
                    <a:pt x="0" y="63499"/>
                  </a:lnTo>
                  <a:cubicBezTo>
                    <a:pt x="0" y="28453"/>
                    <a:pt x="28453" y="0"/>
                    <a:pt x="63499" y="0"/>
                  </a:cubicBezTo>
                  <a:close/>
                </a:path>
              </a:pathLst>
            </a:custGeom>
            <a:solidFill>
              <a:srgbClr val="2D3136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57"/>
            <p:cNvSpPr/>
            <p:nvPr/>
          </p:nvSpPr>
          <p:spPr>
            <a:xfrm>
              <a:off x="7583488" y="4606949"/>
              <a:ext cx="1905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750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避免损失</a:t>
              </a:r>
              <a:endParaRPr lang="en-US" sz="16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7567613" y="4765598"/>
              <a:ext cx="1936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dirty="0">
                  <a:solidFill>
                    <a:srgbClr val="C9A86A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¥500万+</a:t>
              </a:r>
              <a:endParaRPr lang="en-US" sz="16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9658350" y="4511699"/>
              <a:ext cx="2047875" cy="571500"/>
            </a:xfrm>
            <a:custGeom>
              <a:avLst/>
              <a:gdLst/>
              <a:ahLst/>
              <a:cxnLst/>
              <a:rect l="l" t="t" r="r" b="b"/>
              <a:pathLst>
                <a:path w="2047875" h="571500">
                  <a:moveTo>
                    <a:pt x="63499" y="0"/>
                  </a:moveTo>
                  <a:lnTo>
                    <a:pt x="1984376" y="0"/>
                  </a:lnTo>
                  <a:cubicBezTo>
                    <a:pt x="2019445" y="0"/>
                    <a:pt x="2047875" y="28430"/>
                    <a:pt x="2047875" y="63499"/>
                  </a:cubicBezTo>
                  <a:lnTo>
                    <a:pt x="2047875" y="508001"/>
                  </a:lnTo>
                  <a:cubicBezTo>
                    <a:pt x="2047875" y="543070"/>
                    <a:pt x="2019445" y="571500"/>
                    <a:pt x="1984376" y="571500"/>
                  </a:cubicBezTo>
                  <a:lnTo>
                    <a:pt x="63499" y="571500"/>
                  </a:lnTo>
                  <a:cubicBezTo>
                    <a:pt x="28430" y="571500"/>
                    <a:pt x="0" y="543070"/>
                    <a:pt x="0" y="508001"/>
                  </a:cubicBezTo>
                  <a:lnTo>
                    <a:pt x="0" y="63499"/>
                  </a:lnTo>
                  <a:cubicBezTo>
                    <a:pt x="0" y="28453"/>
                    <a:pt x="28453" y="0"/>
                    <a:pt x="63499" y="0"/>
                  </a:cubicBezTo>
                  <a:close/>
                </a:path>
              </a:pathLst>
            </a:custGeom>
            <a:solidFill>
              <a:srgbClr val="2D3136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9729788" y="4606949"/>
              <a:ext cx="1905000" cy="12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750" dirty="0">
                  <a:solidFill>
                    <a:srgbClr val="6B7D8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安全等级</a:t>
              </a:r>
              <a:endParaRPr lang="en-US" sz="16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9713913" y="4765598"/>
              <a:ext cx="19367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dirty="0">
                  <a:solidFill>
                    <a:srgbClr val="C9A86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A级</a:t>
              </a:r>
              <a:endParaRPr lang="en-US" sz="1600" dirty="0"/>
            </a:p>
          </p:txBody>
        </p:sp>
      </p:grpSp>
      <p:sp>
        <p:nvSpPr>
          <p:cNvPr id="64" name="Shape 62"/>
          <p:cNvSpPr/>
          <p:nvPr/>
        </p:nvSpPr>
        <p:spPr>
          <a:xfrm>
            <a:off x="7350125" y="5470922"/>
            <a:ext cx="4522788" cy="665163"/>
          </a:xfrm>
          <a:custGeom>
            <a:avLst/>
            <a:gdLst/>
            <a:ahLst/>
            <a:cxnLst/>
            <a:rect l="l" t="t" r="r" b="b"/>
            <a:pathLst>
              <a:path w="4522788" h="665163">
                <a:moveTo>
                  <a:pt x="95251" y="0"/>
                </a:moveTo>
                <a:lnTo>
                  <a:pt x="4427536" y="0"/>
                </a:lnTo>
                <a:cubicBezTo>
                  <a:pt x="4480142" y="0"/>
                  <a:pt x="4522788" y="42645"/>
                  <a:pt x="4522788" y="95251"/>
                </a:cubicBezTo>
                <a:lnTo>
                  <a:pt x="4522788" y="569911"/>
                </a:lnTo>
                <a:cubicBezTo>
                  <a:pt x="4522788" y="622517"/>
                  <a:pt x="4480142" y="665162"/>
                  <a:pt x="4427536" y="665163"/>
                </a:cubicBezTo>
                <a:lnTo>
                  <a:pt x="95251" y="665163"/>
                </a:lnTo>
                <a:cubicBezTo>
                  <a:pt x="42645" y="665163"/>
                  <a:pt x="0" y="622517"/>
                  <a:pt x="0" y="569911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7496175" y="561697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3656" y="0"/>
                </a:moveTo>
                <a:cubicBezTo>
                  <a:pt x="37083" y="0"/>
                  <a:pt x="31750" y="5333"/>
                  <a:pt x="31750" y="11906"/>
                </a:cubicBezTo>
                <a:lnTo>
                  <a:pt x="31750" y="63500"/>
                </a:lnTo>
                <a:cubicBezTo>
                  <a:pt x="31750" y="70073"/>
                  <a:pt x="37083" y="75406"/>
                  <a:pt x="43656" y="75406"/>
                </a:cubicBezTo>
                <a:lnTo>
                  <a:pt x="59531" y="75406"/>
                </a:lnTo>
                <a:cubicBezTo>
                  <a:pt x="66104" y="75406"/>
                  <a:pt x="71438" y="70073"/>
                  <a:pt x="71438" y="63500"/>
                </a:cubicBezTo>
                <a:lnTo>
                  <a:pt x="71438" y="47625"/>
                </a:lnTo>
                <a:lnTo>
                  <a:pt x="79375" y="47625"/>
                </a:lnTo>
                <a:cubicBezTo>
                  <a:pt x="96912" y="47625"/>
                  <a:pt x="111125" y="61838"/>
                  <a:pt x="111125" y="79375"/>
                </a:cubicBezTo>
                <a:cubicBezTo>
                  <a:pt x="111125" y="96912"/>
                  <a:pt x="96912" y="111125"/>
                  <a:pt x="79375" y="111125"/>
                </a:cubicBezTo>
                <a:lnTo>
                  <a:pt x="7938" y="111125"/>
                </a:lnTo>
                <a:cubicBezTo>
                  <a:pt x="3547" y="111125"/>
                  <a:pt x="0" y="114672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4672"/>
                  <a:pt x="123453" y="111125"/>
                  <a:pt x="119063" y="111125"/>
                </a:cubicBezTo>
                <a:lnTo>
                  <a:pt x="114871" y="111125"/>
                </a:lnTo>
                <a:cubicBezTo>
                  <a:pt x="122411" y="102691"/>
                  <a:pt x="127000" y="91579"/>
                  <a:pt x="127000" y="79375"/>
                </a:cubicBezTo>
                <a:cubicBezTo>
                  <a:pt x="127000" y="53082"/>
                  <a:pt x="105668" y="31750"/>
                  <a:pt x="79375" y="31750"/>
                </a:cubicBezTo>
                <a:lnTo>
                  <a:pt x="71438" y="31750"/>
                </a:lnTo>
                <a:lnTo>
                  <a:pt x="71438" y="11906"/>
                </a:lnTo>
                <a:cubicBezTo>
                  <a:pt x="71438" y="5333"/>
                  <a:pt x="66104" y="0"/>
                  <a:pt x="59531" y="0"/>
                </a:cubicBezTo>
                <a:lnTo>
                  <a:pt x="43656" y="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73422" y="99219"/>
                </a:lnTo>
                <a:cubicBezTo>
                  <a:pt x="76721" y="99219"/>
                  <a:pt x="79375" y="96565"/>
                  <a:pt x="79375" y="93266"/>
                </a:cubicBezTo>
                <a:cubicBezTo>
                  <a:pt x="79375" y="89967"/>
                  <a:pt x="76721" y="87313"/>
                  <a:pt x="73422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7702550" y="5601096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拆解发现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480300" y="5823346"/>
            <a:ext cx="43180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隔膜微观照片清晰可见</a:t>
            </a:r>
            <a:r>
              <a:rPr lang="en-US" sz="875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金属熔融点</a:t>
            </a:r>
            <a:r>
              <a:rPr lang="en-US" sz="875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，证实了内短路的早期征兆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856" y="346856"/>
            <a:ext cx="1213997" cy="277485"/>
          </a:xfrm>
          <a:custGeom>
            <a:avLst/>
            <a:gdLst/>
            <a:ahLst/>
            <a:cxnLst/>
            <a:rect l="l" t="t" r="r" b="b"/>
            <a:pathLst>
              <a:path w="1213997" h="277485">
                <a:moveTo>
                  <a:pt x="34686" y="0"/>
                </a:moveTo>
                <a:lnTo>
                  <a:pt x="1179312" y="0"/>
                </a:lnTo>
                <a:cubicBezTo>
                  <a:pt x="1198468" y="0"/>
                  <a:pt x="1213997" y="15529"/>
                  <a:pt x="1213997" y="34686"/>
                </a:cubicBezTo>
                <a:lnTo>
                  <a:pt x="1213997" y="242799"/>
                </a:lnTo>
                <a:cubicBezTo>
                  <a:pt x="1213997" y="261956"/>
                  <a:pt x="1198468" y="277485"/>
                  <a:pt x="1179312" y="277485"/>
                </a:cubicBezTo>
                <a:lnTo>
                  <a:pt x="34686" y="277485"/>
                </a:lnTo>
                <a:cubicBezTo>
                  <a:pt x="15529" y="277485"/>
                  <a:pt x="0" y="261956"/>
                  <a:pt x="0" y="242799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0913" y="430098"/>
            <a:ext cx="1061164" cy="14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kern="0" spc="4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CASE STUDIES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6856" y="693713"/>
            <a:ext cx="11654373" cy="34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8" b="1" dirty="0" err="1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实战案例：析锂延寿</a:t>
            </a:r>
            <a:r>
              <a:rPr lang="en-US" sz="2458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 &amp; 热失控拦截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856" y="1144626"/>
            <a:ext cx="693713" cy="34686"/>
          </a:xfrm>
          <a:custGeom>
            <a:avLst/>
            <a:gdLst/>
            <a:ahLst/>
            <a:cxnLst/>
            <a:rect l="l" t="t" r="r" b="b"/>
            <a:pathLst>
              <a:path w="693713" h="34686">
                <a:moveTo>
                  <a:pt x="0" y="0"/>
                </a:moveTo>
                <a:lnTo>
                  <a:pt x="693713" y="0"/>
                </a:lnTo>
                <a:lnTo>
                  <a:pt x="693713" y="34686"/>
                </a:lnTo>
                <a:lnTo>
                  <a:pt x="0" y="3468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50325" y="1321524"/>
            <a:ext cx="5660695" cy="4038058"/>
          </a:xfrm>
          <a:custGeom>
            <a:avLst/>
            <a:gdLst/>
            <a:ahLst/>
            <a:cxnLst/>
            <a:rect l="l" t="t" r="r" b="b"/>
            <a:pathLst>
              <a:path w="5660695" h="5019011">
                <a:moveTo>
                  <a:pt x="104044" y="0"/>
                </a:moveTo>
                <a:lnTo>
                  <a:pt x="5556651" y="0"/>
                </a:lnTo>
                <a:cubicBezTo>
                  <a:pt x="5614113" y="0"/>
                  <a:pt x="5660695" y="46582"/>
                  <a:pt x="5660695" y="104044"/>
                </a:cubicBezTo>
                <a:lnTo>
                  <a:pt x="5660695" y="4914967"/>
                </a:lnTo>
                <a:cubicBezTo>
                  <a:pt x="5660695" y="4972429"/>
                  <a:pt x="5614113" y="5019011"/>
                  <a:pt x="5556651" y="5019011"/>
                </a:cubicBezTo>
                <a:lnTo>
                  <a:pt x="104044" y="5019011"/>
                </a:lnTo>
                <a:cubicBezTo>
                  <a:pt x="46582" y="5019011"/>
                  <a:pt x="0" y="4972429"/>
                  <a:pt x="0" y="4914967"/>
                </a:cubicBezTo>
                <a:lnTo>
                  <a:pt x="0" y="104044"/>
                </a:lnTo>
                <a:cubicBezTo>
                  <a:pt x="0" y="46582"/>
                  <a:pt x="46582" y="0"/>
                  <a:pt x="10404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7222" y="1498418"/>
            <a:ext cx="416228" cy="416228"/>
          </a:xfrm>
          <a:custGeom>
            <a:avLst/>
            <a:gdLst/>
            <a:ahLst/>
            <a:cxnLst/>
            <a:rect l="l" t="t" r="r" b="b"/>
            <a:pathLst>
              <a:path w="416228" h="416228">
                <a:moveTo>
                  <a:pt x="104057" y="0"/>
                </a:moveTo>
                <a:lnTo>
                  <a:pt x="312171" y="0"/>
                </a:lnTo>
                <a:cubicBezTo>
                  <a:pt x="369640" y="0"/>
                  <a:pt x="416228" y="46588"/>
                  <a:pt x="416228" y="104057"/>
                </a:cubicBezTo>
                <a:lnTo>
                  <a:pt x="416228" y="312171"/>
                </a:lnTo>
                <a:cubicBezTo>
                  <a:pt x="416228" y="369640"/>
                  <a:pt x="369640" y="416228"/>
                  <a:pt x="312171" y="416228"/>
                </a:cubicBezTo>
                <a:lnTo>
                  <a:pt x="104057" y="416228"/>
                </a:lnTo>
                <a:cubicBezTo>
                  <a:pt x="46588" y="416228"/>
                  <a:pt x="0" y="369640"/>
                  <a:pt x="0" y="312171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32146" y="1585132"/>
            <a:ext cx="294828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7506" y="1498418"/>
            <a:ext cx="243666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析锂检测与主动延寿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506" y="1741217"/>
            <a:ext cx="241065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Lithium Plating Detection &amp; Life Extension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7222" y="2053388"/>
            <a:ext cx="5306902" cy="615670"/>
          </a:xfrm>
          <a:custGeom>
            <a:avLst/>
            <a:gdLst/>
            <a:ahLst/>
            <a:cxnLst/>
            <a:rect l="l" t="t" r="r" b="b"/>
            <a:pathLst>
              <a:path w="5306902" h="615670">
                <a:moveTo>
                  <a:pt x="69374" y="0"/>
                </a:moveTo>
                <a:lnTo>
                  <a:pt x="5237528" y="0"/>
                </a:lnTo>
                <a:cubicBezTo>
                  <a:pt x="5275842" y="0"/>
                  <a:pt x="5306902" y="31060"/>
                  <a:pt x="5306902" y="69374"/>
                </a:cubicBezTo>
                <a:lnTo>
                  <a:pt x="5306902" y="546296"/>
                </a:lnTo>
                <a:cubicBezTo>
                  <a:pt x="5306902" y="584610"/>
                  <a:pt x="5275842" y="615670"/>
                  <a:pt x="5237528" y="615670"/>
                </a:cubicBezTo>
                <a:lnTo>
                  <a:pt x="69374" y="615670"/>
                </a:lnTo>
                <a:cubicBezTo>
                  <a:pt x="31060" y="615670"/>
                  <a:pt x="0" y="584610"/>
                  <a:pt x="0" y="546296"/>
                </a:cubicBezTo>
                <a:lnTo>
                  <a:pt x="0" y="69374"/>
                </a:lnTo>
                <a:cubicBezTo>
                  <a:pt x="0" y="31085"/>
                  <a:pt x="31085" y="0"/>
                  <a:pt x="6937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1279" y="2157445"/>
            <a:ext cx="5150817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279" y="2365448"/>
            <a:ext cx="5159488" cy="19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极寒地区电动车队，冬季低温充电环境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7222" y="2770837"/>
            <a:ext cx="5306902" cy="615670"/>
          </a:xfrm>
          <a:custGeom>
            <a:avLst/>
            <a:gdLst/>
            <a:ahLst/>
            <a:cxnLst/>
            <a:rect l="l" t="t" r="r" b="b"/>
            <a:pathLst>
              <a:path w="5306902" h="615670">
                <a:moveTo>
                  <a:pt x="69374" y="0"/>
                </a:moveTo>
                <a:lnTo>
                  <a:pt x="5237528" y="0"/>
                </a:lnTo>
                <a:cubicBezTo>
                  <a:pt x="5275842" y="0"/>
                  <a:pt x="5306902" y="31060"/>
                  <a:pt x="5306902" y="69374"/>
                </a:cubicBezTo>
                <a:lnTo>
                  <a:pt x="5306902" y="546296"/>
                </a:lnTo>
                <a:cubicBezTo>
                  <a:pt x="5306902" y="584610"/>
                  <a:pt x="5275842" y="615670"/>
                  <a:pt x="5237528" y="615670"/>
                </a:cubicBezTo>
                <a:lnTo>
                  <a:pt x="69374" y="615670"/>
                </a:lnTo>
                <a:cubicBezTo>
                  <a:pt x="31060" y="615670"/>
                  <a:pt x="0" y="584610"/>
                  <a:pt x="0" y="546296"/>
                </a:cubicBezTo>
                <a:lnTo>
                  <a:pt x="0" y="69374"/>
                </a:lnTo>
                <a:cubicBezTo>
                  <a:pt x="0" y="31085"/>
                  <a:pt x="31085" y="0"/>
                  <a:pt x="6937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1279" y="2874894"/>
            <a:ext cx="5150817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1279" y="3082897"/>
            <a:ext cx="5159488" cy="19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冬季充电后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ICA曲线主峰左移50mV</a:t>
            </a: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，提示析锂风险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7222" y="3488286"/>
            <a:ext cx="5306902" cy="797770"/>
          </a:xfrm>
          <a:custGeom>
            <a:avLst/>
            <a:gdLst/>
            <a:ahLst/>
            <a:cxnLst/>
            <a:rect l="l" t="t" r="r" b="b"/>
            <a:pathLst>
              <a:path w="5306902" h="797770">
                <a:moveTo>
                  <a:pt x="69374" y="0"/>
                </a:moveTo>
                <a:lnTo>
                  <a:pt x="5237528" y="0"/>
                </a:lnTo>
                <a:cubicBezTo>
                  <a:pt x="5275842" y="0"/>
                  <a:pt x="5306902" y="31060"/>
                  <a:pt x="5306902" y="69374"/>
                </a:cubicBezTo>
                <a:lnTo>
                  <a:pt x="5306902" y="728396"/>
                </a:lnTo>
                <a:cubicBezTo>
                  <a:pt x="5306902" y="766710"/>
                  <a:pt x="5275842" y="797770"/>
                  <a:pt x="5237528" y="797770"/>
                </a:cubicBezTo>
                <a:lnTo>
                  <a:pt x="69374" y="797770"/>
                </a:lnTo>
                <a:cubicBezTo>
                  <a:pt x="31060" y="797770"/>
                  <a:pt x="0" y="766710"/>
                  <a:pt x="0" y="728396"/>
                </a:cubicBezTo>
                <a:lnTo>
                  <a:pt x="0" y="69374"/>
                </a:lnTo>
                <a:cubicBezTo>
                  <a:pt x="0" y="31085"/>
                  <a:pt x="31085" y="0"/>
                  <a:pt x="6937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1279" y="3592343"/>
            <a:ext cx="5150817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1279" y="3800346"/>
            <a:ext cx="515948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自动下发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MCC充电策略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1279" y="4008460"/>
            <a:ext cx="515948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启用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小电流脉冲修复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690" y="4393471"/>
            <a:ext cx="5296496" cy="731653"/>
          </a:xfrm>
          <a:custGeom>
            <a:avLst/>
            <a:gdLst/>
            <a:ahLst/>
            <a:cxnLst/>
            <a:rect l="l" t="t" r="r" b="b"/>
            <a:pathLst>
              <a:path w="5296496" h="1437719">
                <a:moveTo>
                  <a:pt x="69370" y="0"/>
                </a:moveTo>
                <a:lnTo>
                  <a:pt x="5227126" y="0"/>
                </a:lnTo>
                <a:cubicBezTo>
                  <a:pt x="5265438" y="0"/>
                  <a:pt x="5296496" y="31058"/>
                  <a:pt x="5296496" y="69370"/>
                </a:cubicBezTo>
                <a:lnTo>
                  <a:pt x="5296496" y="1368350"/>
                </a:lnTo>
                <a:cubicBezTo>
                  <a:pt x="5296496" y="1406661"/>
                  <a:pt x="5265438" y="1437719"/>
                  <a:pt x="5227126" y="1437719"/>
                </a:cubicBezTo>
                <a:lnTo>
                  <a:pt x="69370" y="1437719"/>
                </a:lnTo>
                <a:cubicBezTo>
                  <a:pt x="31058" y="1437719"/>
                  <a:pt x="0" y="1406661"/>
                  <a:pt x="0" y="1368350"/>
                </a:cubicBezTo>
                <a:lnTo>
                  <a:pt x="0" y="69370"/>
                </a:lnTo>
                <a:cubicBezTo>
                  <a:pt x="0" y="31058"/>
                  <a:pt x="31058" y="0"/>
                  <a:pt x="69370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38216" y="4501003"/>
            <a:ext cx="5133474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201" y="4505554"/>
            <a:ext cx="2540723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析锂特征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9194" y="4678872"/>
            <a:ext cx="2566737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4519" y="4505554"/>
            <a:ext cx="2540723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衰减率降低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91512" y="4678872"/>
            <a:ext cx="2566737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216" y="5001322"/>
            <a:ext cx="5081445" cy="6937"/>
          </a:xfrm>
          <a:custGeom>
            <a:avLst/>
            <a:gdLst/>
            <a:ahLst/>
            <a:cxnLst/>
            <a:rect l="l" t="t" r="r" b="b"/>
            <a:pathLst>
              <a:path w="5081445" h="6937">
                <a:moveTo>
                  <a:pt x="0" y="0"/>
                </a:moveTo>
                <a:lnTo>
                  <a:pt x="5081445" y="0"/>
                </a:lnTo>
                <a:lnTo>
                  <a:pt x="5081445" y="6937"/>
                </a:lnTo>
                <a:lnTo>
                  <a:pt x="0" y="6937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187050" y="1321524"/>
            <a:ext cx="5660695" cy="4038058"/>
          </a:xfrm>
          <a:custGeom>
            <a:avLst/>
            <a:gdLst/>
            <a:ahLst/>
            <a:cxnLst/>
            <a:rect l="l" t="t" r="r" b="b"/>
            <a:pathLst>
              <a:path w="5660695" h="5019011">
                <a:moveTo>
                  <a:pt x="104044" y="0"/>
                </a:moveTo>
                <a:lnTo>
                  <a:pt x="5556651" y="0"/>
                </a:lnTo>
                <a:cubicBezTo>
                  <a:pt x="5614113" y="0"/>
                  <a:pt x="5660695" y="46582"/>
                  <a:pt x="5660695" y="104044"/>
                </a:cubicBezTo>
                <a:lnTo>
                  <a:pt x="5660695" y="4914967"/>
                </a:lnTo>
                <a:cubicBezTo>
                  <a:pt x="5660695" y="4972429"/>
                  <a:pt x="5614113" y="5019011"/>
                  <a:pt x="5556651" y="5019011"/>
                </a:cubicBezTo>
                <a:lnTo>
                  <a:pt x="104044" y="5019011"/>
                </a:lnTo>
                <a:cubicBezTo>
                  <a:pt x="46582" y="5019011"/>
                  <a:pt x="0" y="4972429"/>
                  <a:pt x="0" y="4914967"/>
                </a:cubicBezTo>
                <a:lnTo>
                  <a:pt x="0" y="104044"/>
                </a:lnTo>
                <a:cubicBezTo>
                  <a:pt x="0" y="46582"/>
                  <a:pt x="46582" y="0"/>
                  <a:pt x="10404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63947" y="1498418"/>
            <a:ext cx="416228" cy="416228"/>
          </a:xfrm>
          <a:custGeom>
            <a:avLst/>
            <a:gdLst/>
            <a:ahLst/>
            <a:cxnLst/>
            <a:rect l="l" t="t" r="r" b="b"/>
            <a:pathLst>
              <a:path w="416228" h="416228">
                <a:moveTo>
                  <a:pt x="104057" y="0"/>
                </a:moveTo>
                <a:lnTo>
                  <a:pt x="312171" y="0"/>
                </a:lnTo>
                <a:cubicBezTo>
                  <a:pt x="369640" y="0"/>
                  <a:pt x="416228" y="46588"/>
                  <a:pt x="416228" y="104057"/>
                </a:cubicBezTo>
                <a:lnTo>
                  <a:pt x="416228" y="312171"/>
                </a:lnTo>
                <a:cubicBezTo>
                  <a:pt x="416228" y="369640"/>
                  <a:pt x="369640" y="416228"/>
                  <a:pt x="312171" y="416228"/>
                </a:cubicBezTo>
                <a:lnTo>
                  <a:pt x="104057" y="416228"/>
                </a:lnTo>
                <a:cubicBezTo>
                  <a:pt x="46588" y="416228"/>
                  <a:pt x="0" y="369640"/>
                  <a:pt x="0" y="312171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6B7D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66703" y="1585132"/>
            <a:ext cx="294828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84231" y="1498418"/>
            <a:ext cx="2228552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热失控精准拦截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84231" y="1741217"/>
            <a:ext cx="220253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Thermal Runaway Precise Interception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3947" y="2053388"/>
            <a:ext cx="5306902" cy="615670"/>
          </a:xfrm>
          <a:custGeom>
            <a:avLst/>
            <a:gdLst/>
            <a:ahLst/>
            <a:cxnLst/>
            <a:rect l="l" t="t" r="r" b="b"/>
            <a:pathLst>
              <a:path w="5306902" h="615670">
                <a:moveTo>
                  <a:pt x="69374" y="0"/>
                </a:moveTo>
                <a:lnTo>
                  <a:pt x="5237528" y="0"/>
                </a:lnTo>
                <a:cubicBezTo>
                  <a:pt x="5275842" y="0"/>
                  <a:pt x="5306902" y="31060"/>
                  <a:pt x="5306902" y="69374"/>
                </a:cubicBezTo>
                <a:lnTo>
                  <a:pt x="5306902" y="546296"/>
                </a:lnTo>
                <a:cubicBezTo>
                  <a:pt x="5306902" y="584610"/>
                  <a:pt x="5275842" y="615670"/>
                  <a:pt x="5237528" y="615670"/>
                </a:cubicBezTo>
                <a:lnTo>
                  <a:pt x="69374" y="615670"/>
                </a:lnTo>
                <a:cubicBezTo>
                  <a:pt x="31060" y="615670"/>
                  <a:pt x="0" y="584610"/>
                  <a:pt x="0" y="546296"/>
                </a:cubicBezTo>
                <a:lnTo>
                  <a:pt x="0" y="69374"/>
                </a:lnTo>
                <a:cubicBezTo>
                  <a:pt x="0" y="31085"/>
                  <a:pt x="31085" y="0"/>
                  <a:pt x="6937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68004" y="2157445"/>
            <a:ext cx="5150817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68004" y="2365448"/>
            <a:ext cx="5159488" cy="19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实验室滥用测试，模拟极端故障条件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3947" y="2770837"/>
            <a:ext cx="5306902" cy="615670"/>
          </a:xfrm>
          <a:custGeom>
            <a:avLst/>
            <a:gdLst/>
            <a:ahLst/>
            <a:cxnLst/>
            <a:rect l="l" t="t" r="r" b="b"/>
            <a:pathLst>
              <a:path w="5306902" h="615670">
                <a:moveTo>
                  <a:pt x="69374" y="0"/>
                </a:moveTo>
                <a:lnTo>
                  <a:pt x="5237528" y="0"/>
                </a:lnTo>
                <a:cubicBezTo>
                  <a:pt x="5275842" y="0"/>
                  <a:pt x="5306902" y="31060"/>
                  <a:pt x="5306902" y="69374"/>
                </a:cubicBezTo>
                <a:lnTo>
                  <a:pt x="5306902" y="546296"/>
                </a:lnTo>
                <a:cubicBezTo>
                  <a:pt x="5306902" y="584610"/>
                  <a:pt x="5275842" y="615670"/>
                  <a:pt x="5237528" y="615670"/>
                </a:cubicBezTo>
                <a:lnTo>
                  <a:pt x="69374" y="615670"/>
                </a:lnTo>
                <a:cubicBezTo>
                  <a:pt x="31060" y="615670"/>
                  <a:pt x="0" y="584610"/>
                  <a:pt x="0" y="546296"/>
                </a:cubicBezTo>
                <a:lnTo>
                  <a:pt x="0" y="69374"/>
                </a:lnTo>
                <a:cubicBezTo>
                  <a:pt x="0" y="31085"/>
                  <a:pt x="31085" y="0"/>
                  <a:pt x="6937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68004" y="2874894"/>
            <a:ext cx="5150817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68004" y="3082897"/>
            <a:ext cx="5159488" cy="19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电压温度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尚未剧烈变化</a:t>
            </a: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时，MEMS传感器检测到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H₂浓度突升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3947" y="3488286"/>
            <a:ext cx="5306902" cy="615670"/>
          </a:xfrm>
          <a:custGeom>
            <a:avLst/>
            <a:gdLst/>
            <a:ahLst/>
            <a:cxnLst/>
            <a:rect l="l" t="t" r="r" b="b"/>
            <a:pathLst>
              <a:path w="5306902" h="615670">
                <a:moveTo>
                  <a:pt x="69374" y="0"/>
                </a:moveTo>
                <a:lnTo>
                  <a:pt x="5237528" y="0"/>
                </a:lnTo>
                <a:cubicBezTo>
                  <a:pt x="5275842" y="0"/>
                  <a:pt x="5306902" y="31060"/>
                  <a:pt x="5306902" y="69374"/>
                </a:cubicBezTo>
                <a:lnTo>
                  <a:pt x="5306902" y="546296"/>
                </a:lnTo>
                <a:cubicBezTo>
                  <a:pt x="5306902" y="584610"/>
                  <a:pt x="5275842" y="615670"/>
                  <a:pt x="5237528" y="615670"/>
                </a:cubicBezTo>
                <a:lnTo>
                  <a:pt x="69374" y="615670"/>
                </a:lnTo>
                <a:cubicBezTo>
                  <a:pt x="31060" y="615670"/>
                  <a:pt x="0" y="584610"/>
                  <a:pt x="0" y="546296"/>
                </a:cubicBezTo>
                <a:lnTo>
                  <a:pt x="0" y="69374"/>
                </a:lnTo>
                <a:cubicBezTo>
                  <a:pt x="0" y="31085"/>
                  <a:pt x="31085" y="0"/>
                  <a:pt x="69374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468004" y="3592343"/>
            <a:ext cx="5150817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68004" y="3800346"/>
            <a:ext cx="5159488" cy="19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联动消防系统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精准喷淋</a:t>
            </a:r>
            <a:r>
              <a:rPr lang="en-US" sz="956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，成功抑制火灾扩散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67415" y="4209203"/>
            <a:ext cx="5296496" cy="915921"/>
          </a:xfrm>
          <a:custGeom>
            <a:avLst/>
            <a:gdLst/>
            <a:ahLst/>
            <a:cxnLst/>
            <a:rect l="l" t="t" r="r" b="b"/>
            <a:pathLst>
              <a:path w="5296496" h="1437719">
                <a:moveTo>
                  <a:pt x="69370" y="0"/>
                </a:moveTo>
                <a:lnTo>
                  <a:pt x="5227126" y="0"/>
                </a:lnTo>
                <a:cubicBezTo>
                  <a:pt x="5265438" y="0"/>
                  <a:pt x="5296496" y="31058"/>
                  <a:pt x="5296496" y="69370"/>
                </a:cubicBezTo>
                <a:lnTo>
                  <a:pt x="5296496" y="1368350"/>
                </a:lnTo>
                <a:cubicBezTo>
                  <a:pt x="5296496" y="1406661"/>
                  <a:pt x="5265438" y="1437719"/>
                  <a:pt x="5227126" y="1437719"/>
                </a:cubicBezTo>
                <a:lnTo>
                  <a:pt x="69370" y="1437719"/>
                </a:lnTo>
                <a:cubicBezTo>
                  <a:pt x="31058" y="1437719"/>
                  <a:pt x="0" y="1406661"/>
                  <a:pt x="0" y="1368350"/>
                </a:cubicBezTo>
                <a:lnTo>
                  <a:pt x="0" y="69370"/>
                </a:lnTo>
                <a:cubicBezTo>
                  <a:pt x="0" y="31058"/>
                  <a:pt x="31058" y="0"/>
                  <a:pt x="69370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474941" y="4316735"/>
            <a:ext cx="5133474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关键时效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48926" y="4524739"/>
            <a:ext cx="468256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气体预警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35919" y="4698057"/>
            <a:ext cx="494270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17133" y="4524739"/>
            <a:ext cx="563642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温度报警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04126" y="4698057"/>
            <a:ext cx="58965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+13min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74941" y="5013696"/>
            <a:ext cx="5081445" cy="6937"/>
          </a:xfrm>
          <a:custGeom>
            <a:avLst/>
            <a:gdLst/>
            <a:ahLst/>
            <a:cxnLst/>
            <a:rect l="l" t="t" r="r" b="b"/>
            <a:pathLst>
              <a:path w="5081445" h="6937">
                <a:moveTo>
                  <a:pt x="0" y="0"/>
                </a:moveTo>
                <a:lnTo>
                  <a:pt x="5081445" y="0"/>
                </a:lnTo>
                <a:lnTo>
                  <a:pt x="5081445" y="6937"/>
                </a:lnTo>
                <a:lnTo>
                  <a:pt x="0" y="6937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448926" y="4485414"/>
            <a:ext cx="5133474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预警提前量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22912" y="4658732"/>
            <a:ext cx="5185502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C9A8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13分钟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46856" y="5536476"/>
            <a:ext cx="11496553" cy="700650"/>
          </a:xfrm>
          <a:custGeom>
            <a:avLst/>
            <a:gdLst/>
            <a:ahLst/>
            <a:cxnLst/>
            <a:rect l="l" t="t" r="r" b="b"/>
            <a:pathLst>
              <a:path w="11496553" h="700650">
                <a:moveTo>
                  <a:pt x="104053" y="0"/>
                </a:moveTo>
                <a:lnTo>
                  <a:pt x="11392500" y="0"/>
                </a:lnTo>
                <a:cubicBezTo>
                  <a:pt x="11449967" y="0"/>
                  <a:pt x="11496553" y="46586"/>
                  <a:pt x="11496553" y="104053"/>
                </a:cubicBezTo>
                <a:lnTo>
                  <a:pt x="11496553" y="596596"/>
                </a:lnTo>
                <a:cubicBezTo>
                  <a:pt x="11496553" y="654063"/>
                  <a:pt x="11449967" y="700650"/>
                  <a:pt x="11392500" y="700650"/>
                </a:cubicBezTo>
                <a:lnTo>
                  <a:pt x="104053" y="700650"/>
                </a:lnTo>
                <a:cubicBezTo>
                  <a:pt x="46586" y="700650"/>
                  <a:pt x="0" y="654063"/>
                  <a:pt x="0" y="596596"/>
                </a:cubicBezTo>
                <a:lnTo>
                  <a:pt x="0" y="104053"/>
                </a:lnTo>
                <a:cubicBezTo>
                  <a:pt x="0" y="46625"/>
                  <a:pt x="46625" y="0"/>
                  <a:pt x="104053" y="0"/>
                </a:cubicBezTo>
                <a:close/>
              </a:path>
            </a:pathLst>
          </a:custGeom>
          <a:gradFill flip="none" rotWithShape="1">
            <a:gsLst>
              <a:gs pos="0">
                <a:srgbClr val="2D3136">
                  <a:alpha val="80000"/>
                </a:srgbClr>
              </a:gs>
              <a:gs pos="100000">
                <a:srgbClr val="1A1D21">
                  <a:alpha val="60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40012" y="5756618"/>
            <a:ext cx="227624" cy="260142"/>
          </a:xfrm>
          <a:custGeom>
            <a:avLst/>
            <a:gdLst/>
            <a:ahLst/>
            <a:cxnLst/>
            <a:rect l="l" t="t" r="r" b="b"/>
            <a:pathLst>
              <a:path w="227624" h="260142">
                <a:moveTo>
                  <a:pt x="124939" y="-13160"/>
                </a:moveTo>
                <a:cubicBezTo>
                  <a:pt x="118131" y="-17326"/>
                  <a:pt x="109544" y="-17326"/>
                  <a:pt x="102736" y="-13160"/>
                </a:cubicBezTo>
                <a:cubicBezTo>
                  <a:pt x="90338" y="-5589"/>
                  <a:pt x="82666" y="-3557"/>
                  <a:pt x="68135" y="-3861"/>
                </a:cubicBezTo>
                <a:cubicBezTo>
                  <a:pt x="60158" y="-4065"/>
                  <a:pt x="52740" y="254"/>
                  <a:pt x="48878" y="7266"/>
                </a:cubicBezTo>
                <a:cubicBezTo>
                  <a:pt x="41917" y="20019"/>
                  <a:pt x="36278" y="25659"/>
                  <a:pt x="23525" y="32619"/>
                </a:cubicBezTo>
                <a:cubicBezTo>
                  <a:pt x="16513" y="36430"/>
                  <a:pt x="12245" y="43899"/>
                  <a:pt x="12397" y="51876"/>
                </a:cubicBezTo>
                <a:cubicBezTo>
                  <a:pt x="12753" y="66407"/>
                  <a:pt x="10670" y="74080"/>
                  <a:pt x="3099" y="86477"/>
                </a:cubicBezTo>
                <a:cubicBezTo>
                  <a:pt x="-1067" y="93285"/>
                  <a:pt x="-1067" y="101872"/>
                  <a:pt x="3099" y="108681"/>
                </a:cubicBezTo>
                <a:cubicBezTo>
                  <a:pt x="10670" y="121078"/>
                  <a:pt x="12702" y="128750"/>
                  <a:pt x="12397" y="143281"/>
                </a:cubicBezTo>
                <a:cubicBezTo>
                  <a:pt x="12194" y="151258"/>
                  <a:pt x="16513" y="158677"/>
                  <a:pt x="23525" y="162538"/>
                </a:cubicBezTo>
                <a:cubicBezTo>
                  <a:pt x="34753" y="168686"/>
                  <a:pt x="40444" y="173767"/>
                  <a:pt x="46439" y="183624"/>
                </a:cubicBezTo>
                <a:lnTo>
                  <a:pt x="21695" y="232959"/>
                </a:lnTo>
                <a:cubicBezTo>
                  <a:pt x="18698" y="239006"/>
                  <a:pt x="21137" y="246322"/>
                  <a:pt x="27132" y="249320"/>
                </a:cubicBezTo>
                <a:lnTo>
                  <a:pt x="70828" y="271168"/>
                </a:lnTo>
                <a:cubicBezTo>
                  <a:pt x="76671" y="274064"/>
                  <a:pt x="83784" y="271879"/>
                  <a:pt x="86934" y="266189"/>
                </a:cubicBezTo>
                <a:lnTo>
                  <a:pt x="113761" y="217869"/>
                </a:lnTo>
                <a:lnTo>
                  <a:pt x="140589" y="266189"/>
                </a:lnTo>
                <a:cubicBezTo>
                  <a:pt x="143739" y="271879"/>
                  <a:pt x="150852" y="274115"/>
                  <a:pt x="156695" y="271168"/>
                </a:cubicBezTo>
                <a:lnTo>
                  <a:pt x="200391" y="249320"/>
                </a:lnTo>
                <a:cubicBezTo>
                  <a:pt x="206437" y="246322"/>
                  <a:pt x="208876" y="239006"/>
                  <a:pt x="205827" y="232959"/>
                </a:cubicBezTo>
                <a:lnTo>
                  <a:pt x="181134" y="183573"/>
                </a:lnTo>
                <a:cubicBezTo>
                  <a:pt x="187079" y="173716"/>
                  <a:pt x="192820" y="168635"/>
                  <a:pt x="204049" y="162487"/>
                </a:cubicBezTo>
                <a:cubicBezTo>
                  <a:pt x="211061" y="158677"/>
                  <a:pt x="215329" y="151208"/>
                  <a:pt x="215176" y="143231"/>
                </a:cubicBezTo>
                <a:cubicBezTo>
                  <a:pt x="214821" y="128699"/>
                  <a:pt x="216904" y="121027"/>
                  <a:pt x="224474" y="108630"/>
                </a:cubicBezTo>
                <a:cubicBezTo>
                  <a:pt x="228641" y="101821"/>
                  <a:pt x="228641" y="93235"/>
                  <a:pt x="224474" y="86426"/>
                </a:cubicBezTo>
                <a:cubicBezTo>
                  <a:pt x="216904" y="74029"/>
                  <a:pt x="214871" y="66357"/>
                  <a:pt x="215176" y="51825"/>
                </a:cubicBezTo>
                <a:cubicBezTo>
                  <a:pt x="215379" y="43848"/>
                  <a:pt x="211061" y="36430"/>
                  <a:pt x="204049" y="32569"/>
                </a:cubicBezTo>
                <a:cubicBezTo>
                  <a:pt x="191296" y="25608"/>
                  <a:pt x="185656" y="19968"/>
                  <a:pt x="178695" y="7215"/>
                </a:cubicBezTo>
                <a:cubicBezTo>
                  <a:pt x="174885" y="203"/>
                  <a:pt x="167416" y="-4065"/>
                  <a:pt x="159439" y="-3912"/>
                </a:cubicBezTo>
                <a:cubicBezTo>
                  <a:pt x="144907" y="-3557"/>
                  <a:pt x="137235" y="-5640"/>
                  <a:pt x="124838" y="-13210"/>
                </a:cubicBezTo>
                <a:close/>
                <a:moveTo>
                  <a:pt x="113812" y="48777"/>
                </a:moveTo>
                <a:cubicBezTo>
                  <a:pt x="140733" y="48777"/>
                  <a:pt x="162589" y="70633"/>
                  <a:pt x="162589" y="97553"/>
                </a:cubicBezTo>
                <a:cubicBezTo>
                  <a:pt x="162589" y="124474"/>
                  <a:pt x="140733" y="146330"/>
                  <a:pt x="113812" y="146330"/>
                </a:cubicBezTo>
                <a:cubicBezTo>
                  <a:pt x="86892" y="146330"/>
                  <a:pt x="65036" y="124474"/>
                  <a:pt x="65036" y="97553"/>
                </a:cubicBezTo>
                <a:cubicBezTo>
                  <a:pt x="65036" y="70633"/>
                  <a:pt x="86892" y="48777"/>
                  <a:pt x="113812" y="48777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22359" y="5683995"/>
            <a:ext cx="9382464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案例总结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22359" y="5892109"/>
            <a:ext cx="9382464" cy="19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6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三大案例验证了系统的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极早期预警能力</a:t>
            </a:r>
            <a:r>
              <a:rPr lang="en-US" sz="956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主动延寿效果</a:t>
            </a:r>
            <a:r>
              <a:rPr lang="en-US" sz="956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956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热失控精准拦截</a:t>
            </a:r>
            <a:r>
              <a:rPr lang="en-US" sz="956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能力，从预防、延寿到应急，形成完整的电池安全守护闭环。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501183" y="5678686"/>
            <a:ext cx="520284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527197" y="5956061"/>
            <a:ext cx="468256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成功案例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25525" y="5678686"/>
            <a:ext cx="624341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151539" y="5956061"/>
            <a:ext cx="572313" cy="1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9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拦截成功率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0330" y="21544"/>
            <a:ext cx="12192000" cy="6836456"/>
          </a:xfrm>
          <a:custGeom>
            <a:avLst/>
            <a:gdLst/>
            <a:ahLst/>
            <a:cxnLst/>
            <a:rect l="l" t="t" r="r" b="b"/>
            <a:pathLst>
              <a:path w="12192000" h="7357854">
                <a:moveTo>
                  <a:pt x="0" y="0"/>
                </a:moveTo>
                <a:lnTo>
                  <a:pt x="12192000" y="0"/>
                </a:lnTo>
                <a:lnTo>
                  <a:pt x="12192000" y="7357854"/>
                </a:lnTo>
                <a:lnTo>
                  <a:pt x="0" y="7357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D8C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0882D89-4CB9-9030-2B72-84DC633CA125}"/>
              </a:ext>
            </a:extLst>
          </p:cNvPr>
          <p:cNvGrpSpPr/>
          <p:nvPr/>
        </p:nvGrpSpPr>
        <p:grpSpPr>
          <a:xfrm>
            <a:off x="5489066" y="898656"/>
            <a:ext cx="1215645" cy="362561"/>
            <a:chOff x="5489066" y="345900"/>
            <a:chExt cx="1215645" cy="362561"/>
          </a:xfrm>
        </p:grpSpPr>
        <p:sp>
          <p:nvSpPr>
            <p:cNvPr id="4" name="Shape 1"/>
            <p:cNvSpPr/>
            <p:nvPr/>
          </p:nvSpPr>
          <p:spPr>
            <a:xfrm>
              <a:off x="5489066" y="345900"/>
              <a:ext cx="1215645" cy="362561"/>
            </a:xfrm>
            <a:custGeom>
              <a:avLst/>
              <a:gdLst/>
              <a:ahLst/>
              <a:cxnLst/>
              <a:rect l="l" t="t" r="r" b="b"/>
              <a:pathLst>
                <a:path w="1215645" h="362561">
                  <a:moveTo>
                    <a:pt x="71091" y="0"/>
                  </a:moveTo>
                  <a:lnTo>
                    <a:pt x="1144555" y="0"/>
                  </a:lnTo>
                  <a:cubicBezTo>
                    <a:pt x="1183791" y="0"/>
                    <a:pt x="1215645" y="31855"/>
                    <a:pt x="1215645" y="71091"/>
                  </a:cubicBezTo>
                  <a:lnTo>
                    <a:pt x="1215645" y="291470"/>
                  </a:lnTo>
                  <a:cubicBezTo>
                    <a:pt x="1215645" y="330706"/>
                    <a:pt x="1183791" y="362561"/>
                    <a:pt x="1144555" y="362561"/>
                  </a:cubicBezTo>
                  <a:lnTo>
                    <a:pt x="71091" y="362561"/>
                  </a:lnTo>
                  <a:cubicBezTo>
                    <a:pt x="31855" y="362561"/>
                    <a:pt x="0" y="330706"/>
                    <a:pt x="0" y="291470"/>
                  </a:cubicBezTo>
                  <a:lnTo>
                    <a:pt x="0" y="71091"/>
                  </a:lnTo>
                  <a:cubicBezTo>
                    <a:pt x="0" y="31829"/>
                    <a:pt x="31829" y="0"/>
                    <a:pt x="71091" y="0"/>
                  </a:cubicBezTo>
                  <a:close/>
                </a:path>
              </a:pathLst>
            </a:custGeom>
            <a:solidFill>
              <a:srgbClr val="C9A86A">
                <a:alpha val="20000"/>
              </a:srgbClr>
            </a:solidFill>
            <a:ln w="10160">
              <a:solidFill>
                <a:srgbClr val="C9A86A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2"/>
            <p:cNvSpPr/>
            <p:nvPr/>
          </p:nvSpPr>
          <p:spPr>
            <a:xfrm>
              <a:off x="5603699" y="426140"/>
              <a:ext cx="988378" cy="1777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80" kern="0" spc="98" dirty="0">
                  <a:solidFill>
                    <a:srgbClr val="C9A86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CONCLUSION</a:t>
              </a:r>
              <a:endParaRPr lang="en-US" sz="1600" dirty="0"/>
            </a:p>
          </p:txBody>
        </p:sp>
      </p:grpSp>
      <p:sp>
        <p:nvSpPr>
          <p:cNvPr id="6" name="Text 3"/>
          <p:cNvSpPr/>
          <p:nvPr/>
        </p:nvSpPr>
        <p:spPr>
          <a:xfrm>
            <a:off x="4924897" y="1441053"/>
            <a:ext cx="2345983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59" b="1" dirty="0">
                <a:solidFill>
                  <a:srgbClr val="E8EAE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技术的温度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29166" y="1830951"/>
            <a:ext cx="1137446" cy="0"/>
          </a:xfrm>
          <a:custGeom>
            <a:avLst/>
            <a:gdLst/>
            <a:ahLst/>
            <a:cxnLst/>
            <a:rect l="l" t="t" r="r" b="b"/>
            <a:pathLst>
              <a:path w="1137446">
                <a:moveTo>
                  <a:pt x="0" y="0"/>
                </a:moveTo>
                <a:lnTo>
                  <a:pt x="1137446" y="0"/>
                </a:lnTo>
                <a:lnTo>
                  <a:pt x="11374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0"/>
                </a:srgbClr>
              </a:gs>
              <a:gs pos="50000">
                <a:srgbClr val="C9A86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4851" y="2010787"/>
            <a:ext cx="2026076" cy="346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79" dirty="0">
                <a:solidFill>
                  <a:srgbClr val="E8EAE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我们不制造电池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4851" y="2352689"/>
            <a:ext cx="2026076" cy="346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7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但我们赋予电池智慧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71346" y="2942217"/>
            <a:ext cx="853085" cy="8886"/>
          </a:xfrm>
          <a:custGeom>
            <a:avLst/>
            <a:gdLst/>
            <a:ahLst/>
            <a:cxnLst/>
            <a:rect l="l" t="t" r="r" b="b"/>
            <a:pathLst>
              <a:path w="853085" h="8886">
                <a:moveTo>
                  <a:pt x="0" y="0"/>
                </a:moveTo>
                <a:lnTo>
                  <a:pt x="853085" y="0"/>
                </a:lnTo>
                <a:lnTo>
                  <a:pt x="853085" y="8886"/>
                </a:lnTo>
                <a:lnTo>
                  <a:pt x="0" y="888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093737" y="3130939"/>
            <a:ext cx="2008303" cy="29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99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在每一次电流的脉动中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93737" y="3499497"/>
            <a:ext cx="2008303" cy="29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99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我们用</a:t>
            </a:r>
            <a:r>
              <a:rPr lang="en-US" sz="139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</a:t>
            </a:r>
            <a:r>
              <a:rPr lang="en-US" sz="1399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守护安全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93737" y="3867269"/>
            <a:ext cx="2008303" cy="29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99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</a:t>
            </a:r>
            <a:r>
              <a:rPr lang="en-US" sz="1399" b="1" dirty="0">
                <a:solidFill>
                  <a:srgbClr val="C9A8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</a:t>
            </a:r>
            <a:r>
              <a:rPr lang="en-US" sz="1399" dirty="0">
                <a:solidFill>
                  <a:srgbClr val="E8EAE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延续生命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14507" y="4303709"/>
            <a:ext cx="1731051" cy="1571097"/>
          </a:xfrm>
          <a:custGeom>
            <a:avLst/>
            <a:gdLst/>
            <a:ahLst/>
            <a:cxnLst/>
            <a:rect l="l" t="t" r="r" b="b"/>
            <a:pathLst>
              <a:path w="1731051" h="1571097">
                <a:moveTo>
                  <a:pt x="106630" y="0"/>
                </a:moveTo>
                <a:lnTo>
                  <a:pt x="1624420" y="0"/>
                </a:lnTo>
                <a:cubicBezTo>
                  <a:pt x="1683311" y="0"/>
                  <a:pt x="1731051" y="47740"/>
                  <a:pt x="1731051" y="106630"/>
                </a:cubicBezTo>
                <a:lnTo>
                  <a:pt x="1731051" y="1464467"/>
                </a:lnTo>
                <a:cubicBezTo>
                  <a:pt x="1731051" y="1523357"/>
                  <a:pt x="1683311" y="1571097"/>
                  <a:pt x="1624420" y="1571097"/>
                </a:cubicBezTo>
                <a:lnTo>
                  <a:pt x="106630" y="1571097"/>
                </a:lnTo>
                <a:cubicBezTo>
                  <a:pt x="47740" y="1571097"/>
                  <a:pt x="0" y="1523357"/>
                  <a:pt x="0" y="1464467"/>
                </a:cubicBezTo>
                <a:lnTo>
                  <a:pt x="0" y="106630"/>
                </a:lnTo>
                <a:cubicBezTo>
                  <a:pt x="0" y="47740"/>
                  <a:pt x="47740" y="0"/>
                  <a:pt x="1066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3829661" y="4520533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971842" y="4662714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49985" y="23327"/>
                </a:moveTo>
                <a:cubicBezTo>
                  <a:pt x="49985" y="10455"/>
                  <a:pt x="60441" y="0"/>
                  <a:pt x="73312" y="0"/>
                </a:cubicBezTo>
                <a:lnTo>
                  <a:pt x="83309" y="0"/>
                </a:lnTo>
                <a:cubicBezTo>
                  <a:pt x="90682" y="0"/>
                  <a:pt x="96638" y="5957"/>
                  <a:pt x="96638" y="13329"/>
                </a:cubicBezTo>
                <a:lnTo>
                  <a:pt x="96638" y="199942"/>
                </a:lnTo>
                <a:cubicBezTo>
                  <a:pt x="96638" y="207315"/>
                  <a:pt x="90682" y="213271"/>
                  <a:pt x="83309" y="213271"/>
                </a:cubicBezTo>
                <a:lnTo>
                  <a:pt x="69980" y="213271"/>
                </a:lnTo>
                <a:cubicBezTo>
                  <a:pt x="57567" y="213271"/>
                  <a:pt x="47111" y="204774"/>
                  <a:pt x="44154" y="193277"/>
                </a:cubicBezTo>
                <a:cubicBezTo>
                  <a:pt x="43862" y="193277"/>
                  <a:pt x="43612" y="193277"/>
                  <a:pt x="43321" y="193277"/>
                </a:cubicBezTo>
                <a:cubicBezTo>
                  <a:pt x="24909" y="193277"/>
                  <a:pt x="9997" y="178365"/>
                  <a:pt x="9997" y="159953"/>
                </a:cubicBezTo>
                <a:cubicBezTo>
                  <a:pt x="9997" y="152456"/>
                  <a:pt x="12496" y="145541"/>
                  <a:pt x="16662" y="139959"/>
                </a:cubicBezTo>
                <a:cubicBezTo>
                  <a:pt x="8581" y="133878"/>
                  <a:pt x="3332" y="124214"/>
                  <a:pt x="3332" y="113300"/>
                </a:cubicBezTo>
                <a:cubicBezTo>
                  <a:pt x="3332" y="100429"/>
                  <a:pt x="10664" y="89224"/>
                  <a:pt x="21327" y="83684"/>
                </a:cubicBezTo>
                <a:cubicBezTo>
                  <a:pt x="18370" y="78685"/>
                  <a:pt x="16662" y="72854"/>
                  <a:pt x="16662" y="66647"/>
                </a:cubicBezTo>
                <a:cubicBezTo>
                  <a:pt x="16662" y="48236"/>
                  <a:pt x="31574" y="33324"/>
                  <a:pt x="49985" y="33324"/>
                </a:cubicBezTo>
                <a:lnTo>
                  <a:pt x="49985" y="23327"/>
                </a:lnTo>
                <a:close/>
                <a:moveTo>
                  <a:pt x="163286" y="23327"/>
                </a:moveTo>
                <a:lnTo>
                  <a:pt x="163286" y="33324"/>
                </a:lnTo>
                <a:cubicBezTo>
                  <a:pt x="181697" y="33324"/>
                  <a:pt x="196609" y="48236"/>
                  <a:pt x="196609" y="66647"/>
                </a:cubicBezTo>
                <a:cubicBezTo>
                  <a:pt x="196609" y="72895"/>
                  <a:pt x="194901" y="78727"/>
                  <a:pt x="191944" y="83684"/>
                </a:cubicBezTo>
                <a:cubicBezTo>
                  <a:pt x="202649" y="89224"/>
                  <a:pt x="209939" y="100387"/>
                  <a:pt x="209939" y="113300"/>
                </a:cubicBezTo>
                <a:cubicBezTo>
                  <a:pt x="209939" y="124214"/>
                  <a:pt x="204690" y="133878"/>
                  <a:pt x="196609" y="139959"/>
                </a:cubicBezTo>
                <a:cubicBezTo>
                  <a:pt x="200775" y="145541"/>
                  <a:pt x="203274" y="152456"/>
                  <a:pt x="203274" y="159953"/>
                </a:cubicBezTo>
                <a:cubicBezTo>
                  <a:pt x="203274" y="178365"/>
                  <a:pt x="188362" y="193277"/>
                  <a:pt x="169950" y="193277"/>
                </a:cubicBezTo>
                <a:cubicBezTo>
                  <a:pt x="169659" y="193277"/>
                  <a:pt x="169409" y="193277"/>
                  <a:pt x="169117" y="193277"/>
                </a:cubicBezTo>
                <a:cubicBezTo>
                  <a:pt x="166160" y="204774"/>
                  <a:pt x="155705" y="213271"/>
                  <a:pt x="143292" y="213271"/>
                </a:cubicBezTo>
                <a:lnTo>
                  <a:pt x="129962" y="213271"/>
                </a:lnTo>
                <a:cubicBezTo>
                  <a:pt x="122589" y="213271"/>
                  <a:pt x="116633" y="207315"/>
                  <a:pt x="116633" y="199942"/>
                </a:cubicBezTo>
                <a:lnTo>
                  <a:pt x="116633" y="13329"/>
                </a:lnTo>
                <a:cubicBezTo>
                  <a:pt x="116633" y="5957"/>
                  <a:pt x="122589" y="0"/>
                  <a:pt x="129962" y="0"/>
                </a:cubicBezTo>
                <a:lnTo>
                  <a:pt x="139959" y="0"/>
                </a:lnTo>
                <a:cubicBezTo>
                  <a:pt x="152830" y="0"/>
                  <a:pt x="163286" y="10455"/>
                  <a:pt x="163286" y="23327"/>
                </a:cubicBez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3391344" y="5160347"/>
            <a:ext cx="137737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9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机理与数据共生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00231" y="5480253"/>
            <a:ext cx="135960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Physics-AI Symbiosis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33918" y="4303709"/>
            <a:ext cx="1731051" cy="1571097"/>
          </a:xfrm>
          <a:custGeom>
            <a:avLst/>
            <a:gdLst/>
            <a:ahLst/>
            <a:cxnLst/>
            <a:rect l="l" t="t" r="r" b="b"/>
            <a:pathLst>
              <a:path w="1731051" h="1571097">
                <a:moveTo>
                  <a:pt x="106630" y="0"/>
                </a:moveTo>
                <a:lnTo>
                  <a:pt x="1624420" y="0"/>
                </a:lnTo>
                <a:cubicBezTo>
                  <a:pt x="1683311" y="0"/>
                  <a:pt x="1731051" y="47740"/>
                  <a:pt x="1731051" y="106630"/>
                </a:cubicBezTo>
                <a:lnTo>
                  <a:pt x="1731051" y="1464467"/>
                </a:lnTo>
                <a:cubicBezTo>
                  <a:pt x="1731051" y="1523357"/>
                  <a:pt x="1683311" y="1571097"/>
                  <a:pt x="1624420" y="1571097"/>
                </a:cubicBezTo>
                <a:lnTo>
                  <a:pt x="106630" y="1571097"/>
                </a:lnTo>
                <a:cubicBezTo>
                  <a:pt x="47740" y="1571097"/>
                  <a:pt x="0" y="1523357"/>
                  <a:pt x="0" y="1464467"/>
                </a:cubicBezTo>
                <a:lnTo>
                  <a:pt x="0" y="106630"/>
                </a:lnTo>
                <a:cubicBezTo>
                  <a:pt x="0" y="47740"/>
                  <a:pt x="47740" y="0"/>
                  <a:pt x="1066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5849072" y="4520533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5991253" y="4662714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106636" y="0"/>
                </a:moveTo>
                <a:cubicBezTo>
                  <a:pt x="108552" y="0"/>
                  <a:pt x="110468" y="417"/>
                  <a:pt x="112217" y="1208"/>
                </a:cubicBezTo>
                <a:lnTo>
                  <a:pt x="190694" y="34490"/>
                </a:lnTo>
                <a:cubicBezTo>
                  <a:pt x="199858" y="38364"/>
                  <a:pt x="206690" y="47403"/>
                  <a:pt x="206648" y="58316"/>
                </a:cubicBezTo>
                <a:cubicBezTo>
                  <a:pt x="206440" y="99638"/>
                  <a:pt x="189445" y="175241"/>
                  <a:pt x="117674" y="209606"/>
                </a:cubicBezTo>
                <a:cubicBezTo>
                  <a:pt x="110718" y="212938"/>
                  <a:pt x="102637" y="212938"/>
                  <a:pt x="95680" y="209606"/>
                </a:cubicBezTo>
                <a:cubicBezTo>
                  <a:pt x="23868" y="175241"/>
                  <a:pt x="6915" y="99638"/>
                  <a:pt x="6706" y="58316"/>
                </a:cubicBezTo>
                <a:cubicBezTo>
                  <a:pt x="6665" y="47403"/>
                  <a:pt x="13496" y="38364"/>
                  <a:pt x="22660" y="34490"/>
                </a:cubicBezTo>
                <a:lnTo>
                  <a:pt x="101096" y="1208"/>
                </a:lnTo>
                <a:cubicBezTo>
                  <a:pt x="102845" y="417"/>
                  <a:pt x="104719" y="0"/>
                  <a:pt x="106636" y="0"/>
                </a:cubicBezTo>
                <a:close/>
                <a:moveTo>
                  <a:pt x="106636" y="27825"/>
                </a:moveTo>
                <a:lnTo>
                  <a:pt x="106636" y="185321"/>
                </a:lnTo>
                <a:cubicBezTo>
                  <a:pt x="164119" y="157496"/>
                  <a:pt x="179573" y="95847"/>
                  <a:pt x="179948" y="58941"/>
                </a:cubicBezTo>
                <a:lnTo>
                  <a:pt x="106636" y="27867"/>
                </a:lnTo>
                <a:lnTo>
                  <a:pt x="106636" y="27867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410756" y="5160347"/>
            <a:ext cx="137737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9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数字免疫系统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19642" y="5480253"/>
            <a:ext cx="135960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Immunity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253329" y="4303709"/>
            <a:ext cx="1731051" cy="1571097"/>
          </a:xfrm>
          <a:custGeom>
            <a:avLst/>
            <a:gdLst/>
            <a:ahLst/>
            <a:cxnLst/>
            <a:rect l="l" t="t" r="r" b="b"/>
            <a:pathLst>
              <a:path w="1731051" h="1571097">
                <a:moveTo>
                  <a:pt x="106630" y="0"/>
                </a:moveTo>
                <a:lnTo>
                  <a:pt x="1624420" y="0"/>
                </a:lnTo>
                <a:cubicBezTo>
                  <a:pt x="1683311" y="0"/>
                  <a:pt x="1731051" y="47740"/>
                  <a:pt x="1731051" y="106630"/>
                </a:cubicBezTo>
                <a:lnTo>
                  <a:pt x="1731051" y="1464467"/>
                </a:lnTo>
                <a:cubicBezTo>
                  <a:pt x="1731051" y="1523357"/>
                  <a:pt x="1683311" y="1571097"/>
                  <a:pt x="1624420" y="1571097"/>
                </a:cubicBezTo>
                <a:lnTo>
                  <a:pt x="106630" y="1571097"/>
                </a:lnTo>
                <a:cubicBezTo>
                  <a:pt x="47740" y="1571097"/>
                  <a:pt x="0" y="1523357"/>
                  <a:pt x="0" y="1464467"/>
                </a:cubicBezTo>
                <a:lnTo>
                  <a:pt x="0" y="106630"/>
                </a:lnTo>
                <a:cubicBezTo>
                  <a:pt x="0" y="47740"/>
                  <a:pt x="47740" y="0"/>
                  <a:pt x="1066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7868483" y="4520533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7984005" y="4662714"/>
            <a:ext cx="266589" cy="213271"/>
          </a:xfrm>
          <a:custGeom>
            <a:avLst/>
            <a:gdLst/>
            <a:ahLst/>
            <a:cxnLst/>
            <a:rect l="l" t="t" r="r" b="b"/>
            <a:pathLst>
              <a:path w="266589" h="213271">
                <a:moveTo>
                  <a:pt x="0" y="106636"/>
                </a:moveTo>
                <a:cubicBezTo>
                  <a:pt x="0" y="69813"/>
                  <a:pt x="29825" y="39988"/>
                  <a:pt x="66647" y="39988"/>
                </a:cubicBezTo>
                <a:cubicBezTo>
                  <a:pt x="87641" y="39988"/>
                  <a:pt x="107385" y="49860"/>
                  <a:pt x="119965" y="66647"/>
                </a:cubicBezTo>
                <a:lnTo>
                  <a:pt x="133294" y="84434"/>
                </a:lnTo>
                <a:lnTo>
                  <a:pt x="146624" y="66647"/>
                </a:lnTo>
                <a:cubicBezTo>
                  <a:pt x="159204" y="49860"/>
                  <a:pt x="178948" y="39988"/>
                  <a:pt x="199942" y="39988"/>
                </a:cubicBezTo>
                <a:cubicBezTo>
                  <a:pt x="236764" y="39988"/>
                  <a:pt x="266589" y="69813"/>
                  <a:pt x="266589" y="106636"/>
                </a:cubicBezTo>
                <a:cubicBezTo>
                  <a:pt x="266589" y="143458"/>
                  <a:pt x="236764" y="173283"/>
                  <a:pt x="199942" y="173283"/>
                </a:cubicBezTo>
                <a:cubicBezTo>
                  <a:pt x="178948" y="173283"/>
                  <a:pt x="159204" y="163411"/>
                  <a:pt x="146624" y="146624"/>
                </a:cubicBezTo>
                <a:lnTo>
                  <a:pt x="133294" y="128837"/>
                </a:lnTo>
                <a:lnTo>
                  <a:pt x="119965" y="146624"/>
                </a:lnTo>
                <a:cubicBezTo>
                  <a:pt x="107385" y="163411"/>
                  <a:pt x="87641" y="173283"/>
                  <a:pt x="66647" y="173283"/>
                </a:cubicBezTo>
                <a:cubicBezTo>
                  <a:pt x="29825" y="173283"/>
                  <a:pt x="0" y="143458"/>
                  <a:pt x="0" y="106636"/>
                </a:cubicBezTo>
                <a:close/>
                <a:moveTo>
                  <a:pt x="116633" y="106636"/>
                </a:moveTo>
                <a:lnTo>
                  <a:pt x="98638" y="82643"/>
                </a:lnTo>
                <a:cubicBezTo>
                  <a:pt x="91098" y="72562"/>
                  <a:pt x="79227" y="66647"/>
                  <a:pt x="66647" y="66647"/>
                </a:cubicBezTo>
                <a:cubicBezTo>
                  <a:pt x="44570" y="66647"/>
                  <a:pt x="26659" y="84559"/>
                  <a:pt x="26659" y="106636"/>
                </a:cubicBezTo>
                <a:cubicBezTo>
                  <a:pt x="26659" y="128712"/>
                  <a:pt x="44570" y="146624"/>
                  <a:pt x="66647" y="146624"/>
                </a:cubicBezTo>
                <a:cubicBezTo>
                  <a:pt x="79227" y="146624"/>
                  <a:pt x="91098" y="140709"/>
                  <a:pt x="98638" y="130629"/>
                </a:cubicBezTo>
                <a:lnTo>
                  <a:pt x="116633" y="106636"/>
                </a:lnTo>
                <a:close/>
                <a:moveTo>
                  <a:pt x="149956" y="106636"/>
                </a:moveTo>
                <a:lnTo>
                  <a:pt x="167951" y="130629"/>
                </a:lnTo>
                <a:cubicBezTo>
                  <a:pt x="175490" y="140709"/>
                  <a:pt x="187362" y="146624"/>
                  <a:pt x="199942" y="146624"/>
                </a:cubicBezTo>
                <a:cubicBezTo>
                  <a:pt x="222019" y="146624"/>
                  <a:pt x="239930" y="128712"/>
                  <a:pt x="239930" y="106636"/>
                </a:cubicBezTo>
                <a:cubicBezTo>
                  <a:pt x="239930" y="84559"/>
                  <a:pt x="222019" y="66647"/>
                  <a:pt x="199942" y="66647"/>
                </a:cubicBezTo>
                <a:cubicBezTo>
                  <a:pt x="187362" y="66647"/>
                  <a:pt x="175490" y="72562"/>
                  <a:pt x="167951" y="82643"/>
                </a:cubicBezTo>
                <a:lnTo>
                  <a:pt x="149956" y="106636"/>
                </a:lnTo>
                <a:close/>
              </a:path>
            </a:pathLst>
          </a:custGeom>
          <a:solidFill>
            <a:srgbClr val="C9A8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7430167" y="5160347"/>
            <a:ext cx="137737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9" b="1" dirty="0">
                <a:solidFill>
                  <a:srgbClr val="E8EAE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全生命周期守护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39053" y="5480253"/>
            <a:ext cx="1359603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Lifecycle Management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067078" y="6002964"/>
            <a:ext cx="20616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感谢这个时代赋予技术的可能性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345774" y="6287325"/>
            <a:ext cx="53317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2026.02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61262" y="6287325"/>
            <a:ext cx="124408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165647" y="6287325"/>
            <a:ext cx="684245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6B7D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灵韵与智慧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2974</Words>
  <Application>Microsoft Office PowerPoint</Application>
  <PresentationFormat>宽屏</PresentationFormat>
  <Paragraphs>852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Alimama ShuHeiTi</vt:lpstr>
      <vt:lpstr>Liter</vt:lpstr>
      <vt:lpstr>MiSans</vt:lpstr>
      <vt:lpstr>Noto Sans SC</vt:lpstr>
      <vt:lpstr>得意黑</vt:lpstr>
      <vt:lpstr>微软雅黑</vt:lpstr>
      <vt:lpstr>Arial</vt:lpstr>
      <vt:lpstr>Cambria Math</vt:lpstr>
      <vt:lpstr>Copperplate Gothic Bold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灵韵与智慧 —— 下一代电池全生命周期智慧管理系统</dc:title>
  <dc:subject>灵韵与智慧 —— 下一代电池全生命周期智慧管理系统</dc:subject>
  <dc:creator>Kimi</dc:creator>
  <cp:lastModifiedBy>Wang Junbin</cp:lastModifiedBy>
  <cp:revision>62</cp:revision>
  <dcterms:created xsi:type="dcterms:W3CDTF">2026-02-01T13:23:51Z</dcterms:created>
  <dcterms:modified xsi:type="dcterms:W3CDTF">2026-02-07T11:54:52Z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{"Label":"灵韵与智慧 —— 下一代电池全生命周期智慧管理系统","ContentProducer":"001191110108MACG2KBH8F10000","ProduceID":"19c17524-0882-82e6-8000-0000b893e748","ReservedCode1":"","ContentPropagator":"001191110108MACG2KBH8F20000","PropagateID":"19c17524-0882-82e6-8000-0000b893e748","ReservedCode2":""}</vt:lpwstr>
  </property>
</Properties>
</file>